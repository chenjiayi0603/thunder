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61" r:id="rId2"/>
    <p:sldId id="460" r:id="rId3"/>
    <p:sldId id="410" r:id="rId4"/>
    <p:sldId id="451" r:id="rId5"/>
    <p:sldId id="453" r:id="rId6"/>
    <p:sldId id="457" r:id="rId7"/>
    <p:sldId id="467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C0C0C0"/>
    <a:srgbClr val="EAEAEA"/>
    <a:srgbClr val="000000"/>
    <a:srgbClr val="CC0000"/>
    <a:srgbClr val="46ACAE"/>
    <a:srgbClr val="7EA5D0"/>
    <a:srgbClr val="6E815B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5" autoAdjust="0"/>
    <p:restoredTop sz="94660" autoAdjust="0"/>
  </p:normalViewPr>
  <p:slideViewPr>
    <p:cSldViewPr>
      <p:cViewPr varScale="1">
        <p:scale>
          <a:sx n="105" d="100"/>
          <a:sy n="105" d="100"/>
        </p:scale>
        <p:origin x="-1260" y="-78"/>
      </p:cViewPr>
      <p:guideLst>
        <p:guide orient="horz" pos="210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2019/5/11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/>
          <p:cNvSpPr txBox="1">
            <a:spLocks noChangeArrowheads="1"/>
          </p:cNvSpPr>
          <p:nvPr/>
        </p:nvSpPr>
        <p:spPr bwMode="gray">
          <a:xfrm>
            <a:off x="7239000" y="0"/>
            <a:ext cx="15367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400" b="1" i="1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LOGO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3365500"/>
            <a:ext cx="6019800" cy="59690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19400" y="2743200"/>
            <a:ext cx="5715000" cy="533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 algn="ct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FCB280-7005-497F-B81A-B59AE3149F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F44B8-1FC0-4706-AD5A-1D5255F799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1558A-7E40-4009-B079-D4B4B20F0D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A1818-28E0-4FD8-9FE0-5A591BFC5A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088C5-9CB2-4573-9CF7-2F150BF9DB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3B053-0F89-4E30-ADE7-B5B58FDB89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BDB47-4C7C-4067-8DEC-3B70C7CD60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7BEEB4-11D7-4D75-B217-F6C5CDCE60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6B90B-AD67-43F2-91D0-CB546C2250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F9CE2-48B3-4EBA-BF83-3DE5720586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458A3-560A-48E3-A527-79D4EF87F5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96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4BB93-6E81-4D79-AB49-7FFCB23580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478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56375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7162800" y="152400"/>
            <a:ext cx="17526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smtClean="0">
                <a:solidFill>
                  <a:schemeClr val="bg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429000" y="6556375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smtClean="0">
                <a:solidFill>
                  <a:schemeClr val="bg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25DCE4-DDCA-41BE-B7FD-C9C7FF476F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533400"/>
            <a:ext cx="7696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grpSp>
        <p:nvGrpSpPr>
          <p:cNvPr id="1031" name="Group 35"/>
          <p:cNvGrpSpPr/>
          <p:nvPr/>
        </p:nvGrpSpPr>
        <p:grpSpPr bwMode="auto">
          <a:xfrm>
            <a:off x="0" y="1143000"/>
            <a:ext cx="7086600" cy="22225"/>
            <a:chOff x="0" y="720"/>
            <a:chExt cx="4464" cy="14"/>
          </a:xfrm>
        </p:grpSpPr>
        <p:sp>
          <p:nvSpPr>
            <p:cNvPr id="1055" name="Line 31"/>
            <p:cNvSpPr>
              <a:spLocks noChangeShapeType="1"/>
            </p:cNvSpPr>
            <p:nvPr/>
          </p:nvSpPr>
          <p:spPr bwMode="auto">
            <a:xfrm flipH="1">
              <a:off x="0" y="720"/>
              <a:ext cx="44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58" name="Line 34"/>
            <p:cNvSpPr>
              <a:spLocks noChangeShapeType="1"/>
            </p:cNvSpPr>
            <p:nvPr/>
          </p:nvSpPr>
          <p:spPr bwMode="auto">
            <a:xfrm>
              <a:off x="0" y="734"/>
              <a:ext cx="19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数据分析项目总结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3680" y="1445260"/>
            <a:ext cx="828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埋点数据服务功能详情</a:t>
            </a:r>
            <a:endParaRPr lang="en-US" altLang="zh-CN" smtClean="0">
              <a:solidFill>
                <a:srgbClr val="000000"/>
              </a:solidFill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04855" y="1566560"/>
          <a:ext cx="8121015" cy="507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610"/>
                <a:gridCol w="2966085"/>
                <a:gridCol w="3830320"/>
              </a:tblGrid>
              <a:tr h="403225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服务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埋点</a:t>
                      </a:r>
                      <a:r>
                        <a:rPr lang="en-US" altLang="zh-CN" sz="1200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ym typeface="+mn-ea"/>
                        </a:rPr>
                        <a:t>埋点</a:t>
                      </a:r>
                      <a:r>
                        <a:rPr lang="en-US" altLang="zh-CN" sz="1200" dirty="0">
                          <a:sym typeface="+mn-ea"/>
                        </a:rPr>
                        <a:t>3.0</a:t>
                      </a:r>
                      <a:endParaRPr lang="zh-CN" altLang="en-US" sz="1200" dirty="0"/>
                    </a:p>
                  </a:txBody>
                  <a:tcPr/>
                </a:tc>
              </a:tr>
              <a:tr h="39179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后台架构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）采集服务，数据接收、校验和预处理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）统计服务，用户会话计算与实时流计算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）采集服务，数据接收、校验和预处理</a:t>
                      </a:r>
                      <a:endParaRPr lang="en-US" altLang="zh-CN" sz="1200"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）用户服务，支持具体用户属性缓存、读写。支持用户引流渠道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utm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的补全。</a:t>
                      </a: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）会话服务，用户会话实时流计算</a:t>
                      </a:r>
                      <a:endParaRPr lang="zh-CN" altLang="en-US" sz="1200" dirty="0"/>
                    </a:p>
                  </a:txBody>
                  <a:tcPr/>
                </a:tc>
              </a:tr>
              <a:tr h="4502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实时流业务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）实时概览、页面统计、漏斗统计、路径统计</a:t>
                      </a: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）会话时长和事件数量统计</a:t>
                      </a: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）实时概览、页面统计、漏斗统计、路径统计</a:t>
                      </a:r>
                      <a:endParaRPr lang="en-US" altLang="zh-CN" sz="1200" dirty="0"/>
                    </a:p>
                  </a:txBody>
                  <a:tcPr/>
                </a:tc>
              </a:tr>
              <a:tr h="1126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a typeface="宋体" panose="02010600030101010101" pitchFamily="2" charset="-122"/>
                        </a:rPr>
                        <a:t>离线业务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）事件日度离线统计（支持活跃用户、新增用户、新增用户留存、活跃用户留存、版本活跃度对比）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）事件属性统计（投资金额等）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）会话日度离线统计（会话时长统计）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）用户标签系统（用户标签自定义可视化设置、筛选用户群、筛选用户群以及事件和引流渠道维度）</a:t>
                      </a:r>
                      <a:endParaRPr lang="zh-CN" altLang="en-US" sz="1200" dirty="0"/>
                    </a:p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</a:tr>
              <a:tr h="4667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a typeface="宋体" panose="02010600030101010101" pitchFamily="2" charset="-122"/>
                        </a:rPr>
                        <a:t>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用户属性详情和用户会话事件轨迹（及其事件详情）</a:t>
                      </a:r>
                    </a:p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存储及其代理</a:t>
                      </a:r>
                    </a:p>
                    <a:p>
                      <a:pPr algn="l"/>
                      <a:endParaRPr lang="zh-CN" altLang="en-US" sz="120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）接入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mariadb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集群，可支持高可用副本集。</a:t>
                      </a: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）支持代理异步写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mariadb</a:t>
                      </a:r>
                      <a:endParaRPr lang="zh-CN" altLang="en-US" sz="1200"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）文件存档持久化服务，保存数据文档到本地文件，支持文档划分，支持并发写多文件。文件支持工具重导数据。</a:t>
                      </a:r>
                      <a:endParaRPr lang="zh-CN" altLang="en-US" sz="1200" dirty="0"/>
                    </a:p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pg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代理支持属性数据读写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\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周期任务执行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\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实时流统计数据批量存储（支持管道）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\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事实数据批量存储（支持管道和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sql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合并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\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数据流速控制和缓存）</a:t>
                      </a: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）接入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pg</a:t>
                      </a:r>
                      <a:r>
                        <a:rPr lang="zh-CN" altLang="zh-CN" sz="1200">
                          <a:ea typeface="宋体" panose="02010600030101010101" pitchFamily="2" charset="-122"/>
                          <a:sym typeface="+mn-ea"/>
                        </a:rPr>
                        <a:t>集群，支持多维度离线统计、可视化开发调试自定义计算函数（支持周期计算任务和自定义标签）</a:t>
                      </a:r>
                    </a:p>
                    <a:p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）接入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ssdb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集群，支持高可用和减少内存</a:t>
                      </a:r>
                      <a:endParaRPr lang="zh-CN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4775" y="1198245"/>
            <a:ext cx="8933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埋点</a:t>
            </a:r>
            <a:r>
              <a:rPr lang="en-US" altLang="zh-CN"/>
              <a:t>1.0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3.0</a:t>
            </a:r>
            <a:r>
              <a:rPr lang="zh-CN" altLang="zh-CN">
                <a:ea typeface="宋体" panose="02010600030101010101" pitchFamily="2" charset="-122"/>
              </a:rPr>
              <a:t>功能详情</a:t>
            </a:r>
            <a:r>
              <a:rPr lang="zh-CN" altLang="en-US">
                <a:ea typeface="宋体" panose="02010600030101010101" pitchFamily="2" charset="-122"/>
              </a:rPr>
              <a:t>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+mn-ea"/>
              </a:rPr>
              <a:t>埋点版本后台功能开发和对比</a:t>
            </a:r>
            <a:endParaRPr lang="zh-CN" altLang="en-US" smtClean="0">
              <a:solidFill>
                <a:srgbClr val="000000"/>
              </a:solidFill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14685" y="1464960"/>
          <a:ext cx="8583933" cy="5244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745"/>
                <a:gridCol w="767715"/>
                <a:gridCol w="1039183"/>
                <a:gridCol w="1123950"/>
                <a:gridCol w="1343340"/>
              </a:tblGrid>
              <a:tr h="428625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服务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埋点</a:t>
                      </a:r>
                      <a:r>
                        <a:rPr lang="en-US" altLang="zh-CN" sz="1200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ym typeface="+mn-ea"/>
                        </a:rPr>
                        <a:t>埋点</a:t>
                      </a:r>
                      <a:r>
                        <a:rPr lang="en-US" altLang="zh-CN" sz="1200" dirty="0">
                          <a:sym typeface="+mn-ea"/>
                        </a:rPr>
                        <a:t>3.0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talking data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（竞品）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诸葛</a:t>
                      </a:r>
                      <a:r>
                        <a:rPr lang="en-US" altLang="zh-CN" sz="1200" dirty="0"/>
                        <a:t>io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（竞品）</a:t>
                      </a:r>
                      <a:endParaRPr lang="en-US" altLang="zh-CN" sz="1200" dirty="0"/>
                    </a:p>
                  </a:txBody>
                  <a:tcPr/>
                </a:tc>
              </a:tr>
              <a:tr h="39179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实时流业务（实时概览、页面统计、漏斗统计、路径统计、会话时长与事件数量）</a:t>
                      </a:r>
                      <a:endParaRPr lang="zh-CN" altLang="en-US" sz="120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ym typeface="+mn-ea"/>
                        </a:rPr>
                        <a:t>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ym typeface="+mn-ea"/>
                        </a:rPr>
                        <a:t>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ym typeface="+mn-ea"/>
                        </a:rPr>
                        <a:t>有</a:t>
                      </a:r>
                      <a:endParaRPr lang="zh-CN" altLang="en-US" sz="1200" dirty="0" smtClean="0"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450215">
                <a:tc>
                  <a:txBody>
                    <a:bodyPr/>
                    <a:lstStyle/>
                    <a:p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事件日度离线统计（支持活跃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\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新增用户列表、新增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\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活跃用户留存用户列表、版本活跃度对比用户列表）（维度为事件</a:t>
                      </a:r>
                      <a:r>
                        <a:rPr lang="en-US" altLang="zh-CN" sz="1200">
                          <a:ea typeface="宋体" panose="02010600030101010101" pitchFamily="2" charset="-122"/>
                          <a:sym typeface="+mn-ea"/>
                        </a:rPr>
                        <a:t>ID</a:t>
                      </a: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和渠道）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有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支持离线事件属性维度统计（维度事件属性，如投资金额）</a:t>
                      </a:r>
                      <a:endParaRPr lang="zh-CN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无（后台已支持功能）</a:t>
                      </a:r>
                      <a:endParaRPr lang="zh-CN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</a:p>
                    <a:p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</a:p>
                  </a:txBody>
                  <a:tcPr/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会话日度离线统计（会话时长统计）</a:t>
                      </a:r>
                      <a:endParaRPr lang="zh-CN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en-US" altLang="zh-CN" sz="1200" dirty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ea typeface="宋体" panose="02010600030101010101" pitchFamily="2" charset="-122"/>
                          <a:sym typeface="+mn-ea"/>
                        </a:rPr>
                        <a:t>用户标签系统（用户标签自定义可视化设置、筛选用户群、筛选事件和渠道维度下用户群）</a:t>
                      </a:r>
                    </a:p>
                    <a:p>
                      <a:pPr>
                        <a:buNone/>
                      </a:pP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zh-CN" altLang="en-US" sz="1200" dirty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用户属性和用户会话事件轨迹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zh-CN" altLang="en-US" sz="1200" dirty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渠道分析（下载渠道和平台、引流渠道）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无（后台已支持功能）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</a:p>
                  </a:txBody>
                  <a:tcPr/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用户画像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无（后台已支持功能）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</a:p>
                  </a:txBody>
                  <a:tcPr/>
                </a:tc>
              </a:tr>
              <a:tr h="433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自定义推送活动（设置推送规则，定时检索该用户群，在指定时间推送）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有</a:t>
                      </a:r>
                      <a:endParaRPr lang="zh-CN" altLang="en-US" sz="1200" dirty="0"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 dirty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  <a:tr h="433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服务器埋点（可支撑业务统计，如渠道结算等）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无（可支持）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无</a:t>
                      </a:r>
                      <a:endParaRPr lang="zh-CN" altLang="en-US" sz="1200" dirty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5410" y="1169035"/>
            <a:ext cx="8933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总体综合功能对比如下：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架构服务拓展与优化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80725" y="1920890"/>
          <a:ext cx="8583933" cy="491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90955"/>
                <a:gridCol w="837387"/>
                <a:gridCol w="768531"/>
                <a:gridCol w="3583940"/>
              </a:tblGrid>
              <a:tr h="560462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服务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功能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并发连接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每连接的请求数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高峰平均并发</a:t>
                      </a:r>
                      <a:r>
                        <a:rPr lang="en-US" altLang="zh-CN" sz="1200" dirty="0" smtClean="0"/>
                        <a:t>(</a:t>
                      </a:r>
                      <a:r>
                        <a:rPr lang="zh-CN" altLang="zh-CN" sz="1200" dirty="0" smtClean="0">
                          <a:ea typeface="宋体" panose="02010600030101010101" pitchFamily="2" charset="-122"/>
                          <a:sym typeface="+mn-ea"/>
                        </a:rPr>
                        <a:t>trans/sec</a:t>
                      </a:r>
                      <a:r>
                        <a:rPr lang="en-US" altLang="zh-CN" sz="1200" dirty="0" smtClean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</a:tr>
              <a:tr h="392324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网络收发（</a:t>
                      </a:r>
                      <a:r>
                        <a:rPr lang="en-US" altLang="zh-CN" sz="1200" dirty="0" smtClean="0">
                          <a:sym typeface="+mn-ea"/>
                        </a:rPr>
                        <a:t>http Web</a:t>
                      </a:r>
                      <a:r>
                        <a:rPr lang="zh-CN" altLang="en-US" sz="1200" dirty="0" smtClean="0">
                          <a:sym typeface="+mn-ea"/>
                        </a:rPr>
                        <a:t>服务器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返回默认响应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300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ea typeface="宋体" panose="02010600030101010101" pitchFamily="2" charset="-122"/>
                        </a:rPr>
                        <a:t>300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单进程8973.08</a:t>
                      </a:r>
                      <a:r>
                        <a:rPr lang="en-US" altLang="zh-CN" sz="1200" dirty="0" smtClean="0"/>
                        <a:t>qps=&gt;</a:t>
                      </a:r>
                      <a:r>
                        <a:rPr lang="zh-CN" altLang="en-US" sz="1200" dirty="0" smtClean="0">
                          <a:sym typeface="+mn-ea"/>
                        </a:rPr>
                        <a:t>单进程</a:t>
                      </a:r>
                      <a:r>
                        <a:rPr lang="en-US" altLang="zh-CN" sz="1200" dirty="0" smtClean="0"/>
                        <a:t>23255.81</a:t>
                      </a:r>
                      <a:r>
                        <a:rPr lang="en-US" altLang="zh-CN" sz="1200" dirty="0" smtClean="0">
                          <a:sym typeface="+mn-ea"/>
                        </a:rPr>
                        <a:t>qps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，提升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  <a:sym typeface="+mn-ea"/>
                        </a:rPr>
                        <a:t>159%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约为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</a:rPr>
                        <a:t>nginx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倍</a:t>
                      </a:r>
                    </a:p>
                  </a:txBody>
                  <a:tcPr/>
                </a:tc>
              </a:tr>
              <a:tr h="378460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ym typeface="+mn-ea"/>
                        </a:rPr>
                        <a:t>数据代理（web服务器到数据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代理，再到</a:t>
                      </a:r>
                      <a:r>
                        <a:rPr lang="zh-CN" altLang="en-US" sz="1200" dirty="0" smtClean="0">
                          <a:sym typeface="+mn-ea"/>
                        </a:rPr>
                        <a:t>redis</a:t>
                      </a:r>
                      <a:r>
                        <a:rPr lang="en-US" altLang="zh-CN" sz="1200" dirty="0" smtClean="0">
                          <a:sym typeface="+mn-ea"/>
                        </a:rPr>
                        <a:t>/ssdb</a:t>
                      </a:r>
                      <a:r>
                        <a:rPr lang="zh-CN" altLang="en-US" sz="1200" dirty="0" smtClean="0">
                          <a:sym typeface="+mn-ea"/>
                        </a:rPr>
                        <a:t>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ym typeface="+mn-ea"/>
                        </a:rPr>
                        <a:t>发送数据请求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300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300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约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</a:rPr>
                        <a:t>6000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</a:rPr>
                        <a:t>string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类型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读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200" dirty="0"/>
                        <a:t>=&gt;</a:t>
                      </a:r>
                    </a:p>
                    <a:p>
                      <a:r>
                        <a:rPr lang="zh-CN" altLang="en-US" sz="1200" dirty="0"/>
                        <a:t>14657.98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  <a:sym typeface="+mn-ea"/>
                        </a:rPr>
                        <a:t>string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类型读） 提升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  <a:sym typeface="+mn-ea"/>
                        </a:rPr>
                        <a:t>144%</a:t>
                      </a:r>
                    </a:p>
                    <a:p>
                      <a:r>
                        <a:rPr lang="en-US" altLang="zh-CN" sz="1200" dirty="0" smtClean="0">
                          <a:ea typeface="宋体" panose="02010600030101010101" pitchFamily="2" charset="-122"/>
                          <a:sym typeface="+mn-ea"/>
                        </a:rPr>
                        <a:t>12228.26 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 smtClean="0">
                          <a:ea typeface="宋体" panose="02010600030101010101" pitchFamily="2" charset="-122"/>
                          <a:sym typeface="+mn-ea"/>
                        </a:rPr>
                        <a:t>string</a:t>
                      </a:r>
                      <a:r>
                        <a:rPr lang="zh-CN" altLang="en-US" sz="1200" dirty="0" smtClean="0">
                          <a:ea typeface="宋体" panose="02010600030101010101" pitchFamily="2" charset="-122"/>
                          <a:sym typeface="+mn-ea"/>
                        </a:rPr>
                        <a:t>类型写）</a:t>
                      </a:r>
                      <a:endParaRPr lang="en-US" altLang="zh-CN" sz="1200" dirty="0" smtClean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logqueue</a:t>
                      </a: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文件写入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sym typeface="+mn-ea"/>
                        </a:rPr>
                        <a:t>批量数据写入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1/5/10</a:t>
                      </a:r>
                      <a:r>
                        <a:rPr lang="zh-CN" altLang="zh-CN" sz="1200" dirty="0">
                          <a:ea typeface="宋体" panose="02010600030101010101" pitchFamily="2" charset="-122"/>
                          <a:sym typeface="+mn-ea"/>
                        </a:rPr>
                        <a:t>进程写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100w/500w/1000w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日志，</a:t>
                      </a: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每次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1w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，吞吐量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19/87/97(MB/s),</a:t>
                      </a:r>
                    </a:p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24514/111485/124052qps(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日志体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696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字节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</a:p>
                  </a:txBody>
                  <a:tcPr/>
                </a:tc>
              </a:tr>
              <a:tr h="662305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pg</a:t>
                      </a: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管道数据写入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批量数据插入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(1/5/10)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连接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）发送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100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次，每次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1000sql/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52000字节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，耗时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4248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4576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/10484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)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毫秒，约</a:t>
                      </a:r>
                      <a:r>
                        <a:rPr lang="en-US" altLang="zh-CN" sz="1200" dirty="0"/>
                        <a:t> (</a:t>
                      </a:r>
                      <a:r>
                        <a:rPr lang="zh-CN" altLang="en-US" sz="1200" dirty="0">
                          <a:sym typeface="+mn-ea"/>
                        </a:rPr>
                        <a:t>23809</a:t>
                      </a:r>
                      <a:r>
                        <a:rPr lang="en-US" altLang="zh-CN" sz="1200" dirty="0"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109265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/95383</a:t>
                      </a:r>
                      <a:r>
                        <a:rPr lang="en-US" altLang="zh-CN" sz="1200" dirty="0"/>
                        <a:t>)qps 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约为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mysql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插入的十几倍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200" dirty="0"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</a:tr>
              <a:tr h="356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</a:rPr>
                        <a:t>pg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实时流计算</a:t>
                      </a: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连接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)3000qps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左右 （含流控） </a:t>
                      </a:r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pg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任务计算能力</a:t>
                      </a:r>
                      <a:endParaRPr lang="zh-CN" altLang="en-US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单进程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千万事件归纳用户事件列表轨迹约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10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分钟</a:t>
                      </a:r>
                    </a:p>
                  </a:txBody>
                  <a:tcPr/>
                </a:tc>
              </a:tr>
              <a:tr h="728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200" dirty="0">
                          <a:ea typeface="宋体" panose="02010600030101010101" pitchFamily="2" charset="-122"/>
                        </a:rPr>
                        <a:t>计算后台综合性能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1500qps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左右：采集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进程、会话统计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进程、用户数据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进程、缓存代理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pg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代理（属性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进程、实时流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进程、离线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进程、任务</a:t>
                      </a:r>
                      <a:r>
                        <a:rPr lang="en-US" altLang="zh-CN" sz="1200" dirty="0"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ea typeface="宋体" panose="02010600030101010101" pitchFamily="2" charset="-122"/>
                          <a:sym typeface="+mn-ea"/>
                        </a:rPr>
                        <a:t>进程。含控制流速。）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5410" y="1275715"/>
            <a:ext cx="8933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高并发：</a:t>
            </a:r>
            <a:r>
              <a:rPr lang="zh-CN" altLang="en-US" dirty="0"/>
              <a:t>以下测试为单个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物理机6核cpu，16G内存，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00.0 GB机械硬盘，1000Mb网卡和路由。压测客户端、计算集群、存储集群在一个物理机。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架构服务拓展与优化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1045" y="1444625"/>
            <a:ext cx="778319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敏捷开发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逻辑代码量显著减少（约</a:t>
            </a:r>
            <a:r>
              <a:rPr lang="en-US" altLang="zh-CN" dirty="0">
                <a:sym typeface="+mn-ea"/>
              </a:rPr>
              <a:t>50%</a:t>
            </a:r>
            <a:r>
              <a:rPr lang="zh-CN" altLang="en-US" dirty="0">
                <a:sym typeface="+mn-ea"/>
              </a:rPr>
              <a:t>）。逻辑代码，版本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（11630行）、版本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12899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行）、版本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（4251行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cpp\481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行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sql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）。</a:t>
            </a:r>
          </a:p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）简化框架接口，核心框架代码59774行，含核心服务和网络处理等（改造约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40%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）。</a:t>
            </a:r>
          </a:p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）编译速度增加几倍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4</a:t>
            </a:r>
            <a:r>
              <a:rPr lang="zh-CN" altLang="en-US" dirty="0">
                <a:ea typeface="宋体" panose="02010600030101010101" pitchFamily="2" charset="-122"/>
              </a:rPr>
              <a:t>）开发效率提升几倍：</a:t>
            </a:r>
            <a:r>
              <a:rPr lang="en-US" altLang="zh-CN" dirty="0">
                <a:ea typeface="宋体" panose="02010600030101010101" pitchFamily="2" charset="-122"/>
              </a:rPr>
              <a:t>4</a:t>
            </a:r>
            <a:r>
              <a:rPr lang="zh-CN" altLang="en-US" dirty="0">
                <a:ea typeface="宋体" panose="02010600030101010101" pitchFamily="2" charset="-122"/>
              </a:rPr>
              <a:t>人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参与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个月开发</a:t>
            </a:r>
            <a:r>
              <a:rPr lang="en-US" altLang="zh-CN" dirty="0">
                <a:ea typeface="宋体" panose="02010600030101010101" pitchFamily="2" charset="-122"/>
              </a:rPr>
              <a:t>1.0</a:t>
            </a:r>
            <a:r>
              <a:rPr lang="zh-CN" altLang="en-US" dirty="0">
                <a:ea typeface="宋体" panose="02010600030101010101" pitchFamily="2" charset="-122"/>
              </a:rPr>
              <a:t>埋点服务，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人</a:t>
            </a: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个月开发</a:t>
            </a:r>
            <a:r>
              <a:rPr lang="en-US" altLang="zh-CN" dirty="0">
                <a:ea typeface="宋体" panose="02010600030101010101" pitchFamily="2" charset="-122"/>
              </a:rPr>
              <a:t>3.0</a:t>
            </a:r>
            <a:r>
              <a:rPr lang="zh-CN" altLang="en-US" dirty="0">
                <a:ea typeface="宋体" panose="02010600030101010101" pitchFamily="2" charset="-122"/>
              </a:rPr>
              <a:t>埋点服务（包含性能、功能测试工作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dirty="0">
                <a:ea typeface="宋体" panose="02010600030101010101" pitchFamily="2" charset="-122"/>
              </a:rPr>
              <a:t>前端和后端）。（对比社交</a:t>
            </a:r>
            <a:r>
              <a:rPr lang="en-US" altLang="zh-CN" dirty="0">
                <a:ea typeface="宋体" panose="02010600030101010101" pitchFamily="2" charset="-122"/>
              </a:rPr>
              <a:t>3.0</a:t>
            </a:r>
            <a:r>
              <a:rPr lang="zh-CN" altLang="en-US" dirty="0">
                <a:ea typeface="宋体" panose="02010600030101010101" pitchFamily="2" charset="-122"/>
              </a:rPr>
              <a:t>服务，</a:t>
            </a:r>
            <a:r>
              <a:rPr lang="en-US" altLang="zh-CN" dirty="0">
                <a:ea typeface="宋体" panose="02010600030101010101" pitchFamily="2" charset="-122"/>
              </a:rPr>
              <a:t>12</a:t>
            </a:r>
            <a:r>
              <a:rPr lang="zh-CN" altLang="zh-CN" dirty="0">
                <a:ea typeface="宋体" panose="02010600030101010101" pitchFamily="2" charset="-122"/>
              </a:rPr>
              <a:t>人参与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zh-CN" altLang="en-US" dirty="0">
                <a:ea typeface="宋体" panose="02010600030101010101" pitchFamily="2" charset="-122"/>
              </a:rPr>
              <a:t>月开发）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容错</a:t>
            </a:r>
          </a:p>
          <a:p>
            <a:r>
              <a:rPr lang="zh-CN" altLang="en-US" dirty="0"/>
              <a:t>框架内支持消息超时</a:t>
            </a:r>
            <a:r>
              <a:rPr lang="zh-CN" altLang="en-US" dirty="0" smtClean="0"/>
              <a:t>重发</a:t>
            </a:r>
            <a:endParaRPr lang="en-US" altLang="zh-CN" dirty="0" smtClean="0"/>
          </a:p>
          <a:p>
            <a:r>
              <a:rPr lang="zh-CN" altLang="en-US" dirty="0" smtClean="0"/>
              <a:t>数据代理支持消息发送失败后持久化</a:t>
            </a:r>
            <a:endParaRPr lang="zh-CN" altLang="en-US" dirty="0"/>
          </a:p>
          <a:p>
            <a:r>
              <a:rPr lang="en-US" altLang="zh-CN" dirty="0"/>
              <a:t>pg</a:t>
            </a:r>
            <a:r>
              <a:rPr lang="zh-CN" altLang="en-US" dirty="0">
                <a:ea typeface="宋体" panose="02010600030101010101" pitchFamily="2" charset="-122"/>
              </a:rPr>
              <a:t>代理支持数据流写入速度控制和缓存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ssdb</a:t>
            </a:r>
            <a:r>
              <a:rPr lang="zh-CN" altLang="en-US" dirty="0">
                <a:ea typeface="宋体" panose="02010600030101010101" pitchFamily="2" charset="-122"/>
              </a:rPr>
              <a:t>代理支持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切换</a:t>
            </a:r>
            <a:r>
              <a:rPr lang="zh-CN" altLang="en-US" dirty="0">
                <a:ea typeface="宋体" panose="02010600030101010101" pitchFamily="2" charset="-122"/>
              </a:rPr>
              <a:t>连接实例</a:t>
            </a:r>
          </a:p>
          <a:p>
            <a:r>
              <a:rPr lang="zh-CN" altLang="en-US" dirty="0">
                <a:ea typeface="宋体" panose="02010600030101010101" pitchFamily="2" charset="-122"/>
                <a:sym typeface="+mn-ea"/>
              </a:rPr>
              <a:t>计算框架支持不同类型节点自动化广播路由，支持消息重发同类型不同节点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调研与规划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5425" y="1200150"/>
            <a:ext cx="828992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项目调研与分析</a:t>
            </a:r>
            <a:endParaRPr lang="zh-CN" altLang="en-US"/>
          </a:p>
          <a:p>
            <a:r>
              <a:rPr lang="zh-CN" altLang="en-US"/>
              <a:t>研发上，调研并测试开源版</a:t>
            </a:r>
            <a:r>
              <a:rPr lang="en-US" altLang="zh-CN"/>
              <a:t>Elasticsearch(</a:t>
            </a:r>
            <a:r>
              <a:rPr lang="zh-CN" altLang="zh-CN">
                <a:ea typeface="宋体" panose="02010600030101010101" pitchFamily="2" charset="-122"/>
              </a:rPr>
              <a:t>搜索引擎</a:t>
            </a:r>
            <a:r>
              <a:rPr lang="en-US" altLang="zh-CN"/>
              <a:t>)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zh-CN" altLang="en-US">
                <a:sym typeface="+mn-ea"/>
              </a:rPr>
              <a:t>PostgreSQL</a:t>
            </a:r>
            <a:r>
              <a:rPr lang="en-US" altLang="zh-CN">
                <a:sym typeface="+mn-ea"/>
              </a:rPr>
              <a:t>(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多类型存储系统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mariadb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（类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mysql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存储系统）、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ssdb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（磁盘版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nosql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存储）等的多项功能和性能。最后选择</a:t>
            </a:r>
            <a:r>
              <a:rPr lang="zh-CN" altLang="en-US">
                <a:sym typeface="+mn-ea"/>
              </a:rPr>
              <a:t>PostgreSQL和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ssdb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，支撑星型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\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雪花模型数据统计、可调式脚本化离线周期任务和多种数据类型。</a:t>
            </a:r>
            <a:endParaRPr lang="zh-CN" altLang="en-US">
              <a:ea typeface="宋体" panose="02010600030101010101" pitchFamily="2" charset="-122"/>
              <a:sym typeface="+mn-ea"/>
            </a:endParaRPr>
          </a:p>
          <a:p>
            <a:r>
              <a:rPr lang="zh-CN" altLang="en-US"/>
              <a:t>产品上，分析诸葛</a:t>
            </a:r>
            <a:r>
              <a:rPr lang="en-US" altLang="zh-CN"/>
              <a:t>io</a:t>
            </a:r>
            <a:r>
              <a:rPr lang="zh-CN" altLang="en-US">
                <a:ea typeface="宋体" panose="02010600030101010101" pitchFamily="2" charset="-122"/>
              </a:rPr>
              <a:t>、腾讯</a:t>
            </a:r>
            <a:r>
              <a:rPr lang="en-US" altLang="zh-CN">
                <a:ea typeface="宋体" panose="02010600030101010101" pitchFamily="2" charset="-122"/>
              </a:rPr>
              <a:t>talking</a:t>
            </a:r>
            <a:r>
              <a:rPr lang="zh-CN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data</a:t>
            </a:r>
            <a:r>
              <a:rPr lang="zh-CN" altLang="en-US">
                <a:ea typeface="宋体" panose="02010600030101010101" pitchFamily="2" charset="-122"/>
              </a:rPr>
              <a:t>等数据埋点分析系统功能，设计系统文档：</a:t>
            </a:r>
          </a:p>
          <a:p>
            <a:r>
              <a:rPr lang="en-US" altLang="zh-CN">
                <a:ea typeface="宋体" panose="02010600030101010101" pitchFamily="2" charset="-122"/>
              </a:rPr>
              <a:t>1.0</a:t>
            </a:r>
            <a:r>
              <a:rPr lang="zh-CN" altLang="zh-CN">
                <a:ea typeface="宋体" panose="02010600030101010101" pitchFamily="2" charset="-122"/>
              </a:rPr>
              <a:t>埋点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 客户端埋点协议设计说明书.docx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3420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字、</a:t>
            </a:r>
          </a:p>
          <a:p>
            <a:r>
              <a:rPr lang="en-US" altLang="zh-CN">
                <a:ea typeface="宋体" panose="02010600030101010101" pitchFamily="2" charset="-122"/>
                <a:sym typeface="+mn-ea"/>
              </a:rPr>
              <a:t>1.0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埋点 </a:t>
            </a:r>
            <a:r>
              <a:rPr lang="en-US" altLang="zh-CN">
                <a:ea typeface="宋体" panose="02010600030101010101" pitchFamily="2" charset="-122"/>
              </a:rPr>
              <a:t>日志分析系统后台框架设计.docx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2313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字、</a:t>
            </a:r>
          </a:p>
          <a:p>
            <a:r>
              <a:rPr lang="en-US" altLang="zh-CN">
                <a:ea typeface="宋体" panose="02010600030101010101" pitchFamily="2" charset="-122"/>
                <a:sym typeface="+mn-ea"/>
              </a:rPr>
              <a:t>1.0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埋点 </a:t>
            </a:r>
            <a:r>
              <a:rPr lang="en-US" altLang="zh-CN">
                <a:ea typeface="宋体" panose="02010600030101010101" pitchFamily="2" charset="-122"/>
              </a:rPr>
              <a:t>埋点数据分析mysql表和redis结构设计.docx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5827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字 </a:t>
            </a:r>
          </a:p>
          <a:p>
            <a:r>
              <a:rPr lang="en-US" altLang="zh-CN">
                <a:ea typeface="宋体" panose="02010600030101010101" pitchFamily="2" charset="-122"/>
                <a:sym typeface="+mn-ea"/>
              </a:rPr>
              <a:t>3.0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埋点 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大数据统计数据分析和功能分析.docx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17478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字 、</a:t>
            </a:r>
          </a:p>
          <a:p>
            <a:r>
              <a:rPr lang="en-US" altLang="zh-CN">
                <a:ea typeface="宋体" panose="02010600030101010101" pitchFamily="2" charset="-122"/>
                <a:sym typeface="+mn-ea"/>
              </a:rPr>
              <a:t>3.0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埋点 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用户行为埋点协议设计说明书.docx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2389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字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  <a:sym typeface="+mn-ea"/>
              </a:rPr>
              <a:t>3.0</a:t>
            </a:r>
            <a:r>
              <a:rPr lang="zh-CN" altLang="zh-CN">
                <a:ea typeface="宋体" panose="02010600030101010101" pitchFamily="2" charset="-122"/>
                <a:sym typeface="+mn-ea"/>
              </a:rPr>
              <a:t>埋点 安装部署脚本以及说明等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余个文件</a:t>
            </a:r>
            <a:endParaRPr lang="zh-CN" altLang="zh-CN">
              <a:ea typeface="宋体" panose="02010600030101010101" pitchFamily="2" charset="-122"/>
              <a:sym typeface="+mn-ea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solidFill>
                  <a:srgbClr val="FF0000"/>
                </a:solidFill>
                <a:ea typeface="宋体" panose="02010600030101010101" pitchFamily="2" charset="-122"/>
              </a:rPr>
              <a:t>遇到问题</a:t>
            </a:r>
          </a:p>
          <a:p>
            <a:r>
              <a:rPr lang="zh-CN" altLang="en-US">
                <a:ea typeface="宋体" panose="02010600030101010101" pitchFamily="2" charset="-122"/>
              </a:rPr>
              <a:t>产品上：</a:t>
            </a:r>
          </a:p>
          <a:p>
            <a:r>
              <a:rPr lang="zh-CN" altLang="en-US">
                <a:ea typeface="宋体" panose="02010600030101010101" pitchFamily="2" charset="-122"/>
              </a:rPr>
              <a:t>客户端发送消息部分时间不准确。</a:t>
            </a:r>
          </a:p>
          <a:p>
            <a:r>
              <a:rPr lang="zh-CN" altLang="en-US">
                <a:ea typeface="宋体" panose="02010600030101010101" pitchFamily="2" charset="-122"/>
              </a:rPr>
              <a:t>埋点前端没有用户详细属性配置表、事件</a:t>
            </a:r>
            <a:r>
              <a:rPr lang="en-US" altLang="zh-CN">
                <a:ea typeface="宋体" panose="02010600030101010101" pitchFamily="2" charset="-122"/>
              </a:rPr>
              <a:t>ID</a:t>
            </a:r>
            <a:r>
              <a:rPr lang="zh-CN" altLang="en-US">
                <a:ea typeface="宋体" panose="02010600030101010101" pitchFamily="2" charset="-122"/>
              </a:rPr>
              <a:t>和事件属性配置说明表提供给后台，那些字段是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用来形成用户画像和事件属性统计表等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  <a:p>
            <a:r>
              <a:rPr lang="en-US" altLang="zh-CN">
                <a:ea typeface="宋体" panose="02010600030101010101" pitchFamily="2" charset="-122"/>
              </a:rPr>
              <a:t>H5</a:t>
            </a:r>
            <a:r>
              <a:rPr lang="zh-CN" altLang="en-US">
                <a:ea typeface="宋体" panose="02010600030101010101" pitchFamily="2" charset="-122"/>
              </a:rPr>
              <a:t>客户端发送信息依然不带</a:t>
            </a:r>
            <a:r>
              <a:rPr lang="en-US" altLang="zh-CN">
                <a:ea typeface="宋体" panose="02010600030101010101" pitchFamily="2" charset="-122"/>
              </a:rPr>
              <a:t>utm</a:t>
            </a:r>
            <a:r>
              <a:rPr lang="zh-CN" altLang="en-US">
                <a:ea typeface="宋体" panose="02010600030101010101" pitchFamily="2" charset="-122"/>
              </a:rPr>
              <a:t>引流渠道信息。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调研与规划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5425" y="1200150"/>
            <a:ext cx="82899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项目规划</a:t>
            </a:r>
            <a:endParaRPr lang="zh-CN" altLang="en-US" dirty="0"/>
          </a:p>
          <a:p>
            <a:r>
              <a:rPr lang="zh-CN" altLang="en-US" dirty="0"/>
              <a:t>研发上，</a:t>
            </a:r>
            <a:r>
              <a:rPr lang="zh-CN" altLang="en-US" dirty="0">
                <a:sym typeface="+mn-ea"/>
              </a:rPr>
              <a:t>分布式计算</a:t>
            </a:r>
            <a:r>
              <a:rPr lang="zh-CN" altLang="en-US" dirty="0"/>
              <a:t>对标微信高并发后台设计，完善异步网络和计算处理（目前</a:t>
            </a:r>
            <a:r>
              <a:rPr lang="zh-CN" altLang="en-US" dirty="0" smtClean="0"/>
              <a:t>已支持</a:t>
            </a:r>
            <a:r>
              <a:rPr lang="zh-CN" altLang="en-US" dirty="0"/>
              <a:t>协程</a:t>
            </a:r>
            <a:r>
              <a:rPr lang="zh-CN" altLang="en-US" dirty="0" smtClean="0"/>
              <a:t>异步</a:t>
            </a:r>
            <a:r>
              <a:rPr lang="en-US" altLang="zh-CN" dirty="0" smtClean="0"/>
              <a:t>io</a:t>
            </a:r>
            <a:r>
              <a:rPr lang="zh-CN" altLang="en-US" dirty="0" smtClean="0"/>
              <a:t>和</a:t>
            </a:r>
            <a:r>
              <a:rPr lang="zh-CN" altLang="en-US" dirty="0"/>
              <a:t>远程过程回</a:t>
            </a:r>
            <a:r>
              <a:rPr lang="zh-CN" altLang="en-US" dirty="0" smtClean="0"/>
              <a:t>调</a:t>
            </a:r>
            <a:r>
              <a:rPr lang="en-US" altLang="zh-CN" dirty="0" smtClean="0"/>
              <a:t>io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测试</a:t>
            </a:r>
            <a:r>
              <a:rPr lang="en-US" altLang="zh-CN" dirty="0" smtClean="0"/>
              <a:t>libco</a:t>
            </a:r>
            <a:r>
              <a:rPr lang="zh-CN" altLang="en-US" smtClean="0"/>
              <a:t>接口</a:t>
            </a:r>
            <a:r>
              <a:rPr lang="zh-CN" altLang="en-US" smtClean="0"/>
              <a:t>。</a:t>
            </a:r>
            <a:endParaRPr lang="zh-CN" altLang="en-US" dirty="0"/>
          </a:p>
          <a:p>
            <a:r>
              <a:rPr lang="zh-CN" altLang="en-US" dirty="0"/>
              <a:t>数据存储 对标 阿里云数据库RDS PostgreSQL，完善数据容灾、备份、恢复、监控、迁移等。</a:t>
            </a:r>
          </a:p>
          <a:p>
            <a:endParaRPr lang="zh-CN" altLang="en-US" dirty="0"/>
          </a:p>
          <a:p>
            <a:r>
              <a:rPr lang="zh-CN" altLang="en-US" dirty="0"/>
              <a:t>产品上，加强分析用户增长和转化模型。增加用户画像、渠道分析。</a:t>
            </a:r>
          </a:p>
          <a:p>
            <a:r>
              <a:rPr lang="zh-CN" altLang="en-US" dirty="0"/>
              <a:t>增加用户分群活动推送。</a:t>
            </a:r>
          </a:p>
          <a:p>
            <a:endParaRPr lang="zh-CN" altLang="en-US" dirty="0"/>
          </a:p>
          <a:p>
            <a:r>
              <a:rPr lang="zh-CN" altLang="en-US" dirty="0"/>
              <a:t>待考虑</a:t>
            </a:r>
            <a:r>
              <a:rPr lang="zh-CN" altLang="en-US" dirty="0" smtClean="0"/>
              <a:t>：</a:t>
            </a:r>
            <a:r>
              <a:rPr lang="zh-CN" altLang="en-US" dirty="0" smtClean="0">
                <a:sym typeface="+mn-ea"/>
              </a:rPr>
              <a:t>优化</a:t>
            </a:r>
            <a:r>
              <a:rPr lang="zh-CN" altLang="en-US" dirty="0" smtClean="0">
                <a:sym typeface="+mn-ea"/>
              </a:rPr>
              <a:t>中文</a:t>
            </a:r>
            <a:r>
              <a:rPr lang="zh-CN" altLang="en-US" dirty="0">
                <a:sym typeface="+mn-ea"/>
              </a:rPr>
              <a:t>搜索引擎和搜索排序因子，以支撑智能化检索。用户样本训练和个性化推送。服务器埋点处理渠道结算之类业务。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4美金的ppt模板">
  <a:themeElements>
    <a:clrScheme name="01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0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24美金的ppt模板</Template>
  <TotalTime>12</TotalTime>
  <Words>1454</Words>
  <Application>Microsoft Office PowerPoint</Application>
  <PresentationFormat>全屏显示(4:3)</PresentationFormat>
  <Paragraphs>158</Paragraphs>
  <Slides>7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24美金的ppt模板</vt:lpstr>
      <vt:lpstr>数据分析项目总结</vt:lpstr>
      <vt:lpstr>埋点数据服务功能详情</vt:lpstr>
      <vt:lpstr>埋点版本后台功能开发和对比</vt:lpstr>
      <vt:lpstr>架构服务拓展与优化</vt:lpstr>
      <vt:lpstr>架构服务拓展与优化</vt:lpstr>
      <vt:lpstr>调研与规划</vt:lpstr>
      <vt:lpstr>调研与规划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jccook</dc:creator>
  <cp:lastModifiedBy>xbany</cp:lastModifiedBy>
  <cp:revision>927</cp:revision>
  <dcterms:created xsi:type="dcterms:W3CDTF">2013-02-03T05:36:00Z</dcterms:created>
  <dcterms:modified xsi:type="dcterms:W3CDTF">2019-05-11T05:56:21Z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