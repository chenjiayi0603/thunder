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theme/themeOverride1.xml" ContentType="application/vnd.openxmlformats-officedocument.themeOverr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77" r:id="rId3"/>
    <p:sldId id="283" r:id="rId4"/>
    <p:sldId id="260" r:id="rId5"/>
    <p:sldId id="286" r:id="rId6"/>
    <p:sldId id="262" r:id="rId7"/>
    <p:sldId id="317" r:id="rId8"/>
    <p:sldId id="408" r:id="rId9"/>
    <p:sldId id="409" r:id="rId10"/>
    <p:sldId id="314" r:id="rId11"/>
    <p:sldId id="315" r:id="rId12"/>
    <p:sldId id="263" r:id="rId13"/>
    <p:sldId id="316" r:id="rId14"/>
    <p:sldId id="264" r:id="rId15"/>
    <p:sldId id="280" r:id="rId16"/>
    <p:sldId id="279" r:id="rId17"/>
    <p:sldId id="287" r:id="rId18"/>
    <p:sldId id="268" r:id="rId19"/>
    <p:sldId id="285" r:id="rId20"/>
    <p:sldId id="270" r:id="rId21"/>
    <p:sldId id="281" r:id="rId22"/>
    <p:sldId id="272" r:id="rId23"/>
    <p:sldId id="273" r:id="rId24"/>
    <p:sldId id="357" r:id="rId25"/>
    <p:sldId id="410" r:id="rId26"/>
    <p:sldId id="411" r:id="rId27"/>
    <p:sldId id="451" r:id="rId28"/>
    <p:sldId id="452" r:id="rId29"/>
    <p:sldId id="412" r:id="rId30"/>
    <p:sldId id="361" r:id="rId31"/>
    <p:sldId id="362" r:id="rId32"/>
    <p:sldId id="385" r:id="rId33"/>
    <p:sldId id="477" r:id="rId34"/>
    <p:sldId id="383" r:id="rId35"/>
    <p:sldId id="274" r:id="rId36"/>
    <p:sldId id="384" r:id="rId37"/>
    <p:sldId id="307" r:id="rId38"/>
    <p:sldId id="308" r:id="rId39"/>
    <p:sldId id="358" r:id="rId40"/>
    <p:sldId id="309" r:id="rId41"/>
    <p:sldId id="310" r:id="rId42"/>
    <p:sldId id="311" r:id="rId43"/>
    <p:sldId id="312" r:id="rId44"/>
    <p:sldId id="349" r:id="rId45"/>
    <p:sldId id="359" r:id="rId46"/>
    <p:sldId id="360" r:id="rId47"/>
    <p:sldId id="318" r:id="rId48"/>
    <p:sldId id="319" r:id="rId49"/>
    <p:sldId id="320" r:id="rId50"/>
    <p:sldId id="321" r:id="rId51"/>
    <p:sldId id="350" r:id="rId52"/>
    <p:sldId id="356" r:id="rId53"/>
    <p:sldId id="276" r:id="rId5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DDDD"/>
    <a:srgbClr val="C0C0C0"/>
    <a:srgbClr val="EAEAEA"/>
    <a:srgbClr val="000000"/>
    <a:srgbClr val="CC0000"/>
    <a:srgbClr val="46ACAE"/>
    <a:srgbClr val="7EA5D0"/>
    <a:srgbClr val="6E815B"/>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95" autoAdjust="0"/>
    <p:restoredTop sz="94660" autoAdjust="0"/>
  </p:normalViewPr>
  <p:slideViewPr>
    <p:cSldViewPr>
      <p:cViewPr>
        <p:scale>
          <a:sx n="150" d="100"/>
          <a:sy n="150" d="100"/>
        </p:scale>
        <p:origin x="-648" y="210"/>
      </p:cViewPr>
      <p:guideLst>
        <p:guide orient="horz" pos="2133"/>
        <p:guide pos="2872"/>
      </p:guideLst>
    </p:cSldViewPr>
  </p:slideViewPr>
  <p:notesTextViewPr>
    <p:cViewPr>
      <p:scale>
        <a:sx n="1" d="1"/>
        <a:sy n="1" d="1"/>
      </p:scale>
      <p:origin x="0" y="0"/>
    </p:cViewPr>
  </p:notesTextViewPr>
  <p:sorterViewPr>
    <p:cViewPr>
      <p:scale>
        <a:sx n="70" d="100"/>
        <a:sy n="70" d="100"/>
      </p:scale>
      <p:origin x="0" y="0"/>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image" Target="../media/image32.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9.e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bwMode="gray">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Text Box 14"/>
          <p:cNvSpPr txBox="1">
            <a:spLocks noChangeArrowheads="1"/>
          </p:cNvSpPr>
          <p:nvPr/>
        </p:nvSpPr>
        <p:spPr bwMode="gray">
          <a:xfrm>
            <a:off x="7239000" y="0"/>
            <a:ext cx="1536700" cy="457200"/>
          </a:xfrm>
          <a:prstGeom prst="rect">
            <a:avLst/>
          </a:prstGeom>
          <a:noFill/>
          <a:ln w="9525">
            <a:noFill/>
            <a:miter lim="800000"/>
          </a:ln>
          <a:effectLst/>
        </p:spPr>
        <p:txBody>
          <a:bodyPr>
            <a:spAutoFit/>
          </a:bodyPr>
          <a:lstStyle/>
          <a:p>
            <a:pPr algn="ctr">
              <a:defRPr/>
            </a:pPr>
            <a:r>
              <a:rPr lang="en-US" altLang="zh-CN" sz="2400" b="1" i="1">
                <a:solidFill>
                  <a:srgbClr val="CC0000"/>
                </a:solidFill>
                <a:latin typeface="Verdana" panose="020B0604030504040204" pitchFamily="34" charset="0"/>
                <a:ea typeface="宋体" panose="02010600030101010101" pitchFamily="2" charset="-122"/>
              </a:rPr>
              <a:t>LOGO</a:t>
            </a:r>
          </a:p>
        </p:txBody>
      </p:sp>
      <p:sp>
        <p:nvSpPr>
          <p:cNvPr id="3074" name="Rectangle 2"/>
          <p:cNvSpPr>
            <a:spLocks noGrp="1" noChangeArrowheads="1"/>
          </p:cNvSpPr>
          <p:nvPr>
            <p:ph type="ctrTitle"/>
          </p:nvPr>
        </p:nvSpPr>
        <p:spPr>
          <a:xfrm>
            <a:off x="2819400" y="3365500"/>
            <a:ext cx="6019800" cy="596900"/>
          </a:xfrm>
        </p:spPr>
        <p:txBody>
          <a:bodyPr/>
          <a:lstStyle>
            <a:lvl1pPr>
              <a:defRPr sz="3600"/>
            </a:lvl1pPr>
          </a:lstStyle>
          <a:p>
            <a:r>
              <a:rPr lang="zh-CN" altLang="en-US" smtClean="0"/>
              <a:t>单击此处编辑母版标题样式</a:t>
            </a:r>
            <a:endParaRPr lang="en-US" altLang="zh-CN"/>
          </a:p>
        </p:txBody>
      </p:sp>
      <p:sp>
        <p:nvSpPr>
          <p:cNvPr id="3075" name="Rectangle 3"/>
          <p:cNvSpPr>
            <a:spLocks noGrp="1" noChangeArrowheads="1"/>
          </p:cNvSpPr>
          <p:nvPr>
            <p:ph type="subTitle" idx="1"/>
          </p:nvPr>
        </p:nvSpPr>
        <p:spPr>
          <a:xfrm>
            <a:off x="2819400" y="2743200"/>
            <a:ext cx="5715000" cy="533400"/>
          </a:xfrm>
        </p:spPr>
        <p:txBody>
          <a:bodyPr/>
          <a:lstStyle>
            <a:lvl1pPr marL="0" indent="0">
              <a:buFont typeface="Wingdings" panose="05000000000000000000" pitchFamily="2" charset="2"/>
              <a:buNone/>
              <a:defRPr sz="1800" b="0">
                <a:solidFill>
                  <a:schemeClr val="tx1"/>
                </a:solidFill>
              </a:defRPr>
            </a:lvl1pPr>
          </a:lstStyle>
          <a:p>
            <a:r>
              <a:rPr lang="zh-CN" altLang="en-US" smtClean="0"/>
              <a:t>单击此处编辑母版副标题样式</a:t>
            </a:r>
            <a:endParaRPr lang="en-US" altLang="zh-CN"/>
          </a:p>
        </p:txBody>
      </p:sp>
      <p:sp>
        <p:nvSpPr>
          <p:cNvPr id="5" name="Rectangle 4"/>
          <p:cNvSpPr>
            <a:spLocks noGrp="1" noChangeArrowheads="1"/>
          </p:cNvSpPr>
          <p:nvPr>
            <p:ph type="dt" sz="half" idx="10"/>
          </p:nvPr>
        </p:nvSpPr>
        <p:spPr>
          <a:xfrm>
            <a:off x="457200" y="6477000"/>
            <a:ext cx="2133600" cy="244475"/>
          </a:xfrm>
        </p:spPr>
        <p:txBody>
          <a:bodyPr/>
          <a:lstStyle>
            <a:lvl1pPr>
              <a:defRPr sz="1200" smtClean="0">
                <a:latin typeface="Arial" panose="020B0604020202020204" pitchFamily="34" charset="0"/>
                <a:ea typeface="宋体" panose="02010600030101010101" pitchFamily="2" charset="-122"/>
              </a:defRPr>
            </a:lvl1pPr>
          </a:lstStyle>
          <a:p>
            <a:pPr>
              <a:defRPr/>
            </a:pPr>
            <a:endParaRPr lang="en-US" altLang="zh-CN"/>
          </a:p>
        </p:txBody>
      </p:sp>
      <p:sp>
        <p:nvSpPr>
          <p:cNvPr id="6" name="Rectangle 5"/>
          <p:cNvSpPr>
            <a:spLocks noGrp="1" noChangeArrowheads="1"/>
          </p:cNvSpPr>
          <p:nvPr>
            <p:ph type="ftr" sz="quarter" idx="11"/>
          </p:nvPr>
        </p:nvSpPr>
        <p:spPr>
          <a:xfrm>
            <a:off x="3124200" y="6477000"/>
            <a:ext cx="2895600" cy="244475"/>
          </a:xfrm>
        </p:spPr>
        <p:txBody>
          <a:bodyPr/>
          <a:lstStyle>
            <a:lvl1pPr algn="ctr">
              <a:defRPr sz="1200" smtClean="0">
                <a:latin typeface="Arial" panose="020B0604020202020204" pitchFamily="34" charset="0"/>
              </a:defRPr>
            </a:lvl1pPr>
          </a:lstStyle>
          <a:p>
            <a:pPr>
              <a:defRPr/>
            </a:pPr>
            <a:endParaRPr lang="en-US" altLang="zh-CN"/>
          </a:p>
        </p:txBody>
      </p:sp>
      <p:sp>
        <p:nvSpPr>
          <p:cNvPr id="7" name="Rectangle 6"/>
          <p:cNvSpPr>
            <a:spLocks noGrp="1" noChangeArrowheads="1"/>
          </p:cNvSpPr>
          <p:nvPr>
            <p:ph type="sldNum" sz="quarter" idx="12"/>
          </p:nvPr>
        </p:nvSpPr>
        <p:spPr>
          <a:xfrm>
            <a:off x="6553200" y="6477000"/>
            <a:ext cx="2133600" cy="244475"/>
          </a:xfrm>
        </p:spPr>
        <p:txBody>
          <a:bodyPr/>
          <a:lstStyle>
            <a:lvl1pPr>
              <a:defRPr sz="1200" smtClean="0">
                <a:latin typeface="Arial" panose="020B0604020202020204" pitchFamily="34" charset="0"/>
              </a:defRPr>
            </a:lvl1pPr>
          </a:lstStyle>
          <a:p>
            <a:pPr>
              <a:defRPr/>
            </a:pPr>
            <a:fld id="{A2FCB280-7005-497F-B81A-B59AE3149F03}"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endParaRPr lang="zh-CN" altLang="zh-CN"/>
          </a:p>
        </p:txBody>
      </p:sp>
      <p:sp>
        <p:nvSpPr>
          <p:cNvPr id="5" name="Rectangle 5"/>
          <p:cNvSpPr>
            <a:spLocks noGrp="1" noChangeArrowheads="1"/>
          </p:cNvSpPr>
          <p:nvPr>
            <p:ph type="ftr" sz="quarter" idx="11"/>
          </p:nvPr>
        </p:nvSpPr>
        <p:spPr/>
        <p:txBody>
          <a:bodyPr/>
          <a:lstStyle>
            <a:lvl1pPr>
              <a:defRPr/>
            </a:lvl1pPr>
          </a:lstStyle>
          <a:p>
            <a:pPr>
              <a:defRPr/>
            </a:pPr>
            <a:r>
              <a:rPr lang="en-US" altLang="zh-CN"/>
              <a:t>Company Logo</a:t>
            </a:r>
          </a:p>
        </p:txBody>
      </p:sp>
      <p:sp>
        <p:nvSpPr>
          <p:cNvPr id="6" name="Rectangle 6"/>
          <p:cNvSpPr>
            <a:spLocks noGrp="1" noChangeArrowheads="1"/>
          </p:cNvSpPr>
          <p:nvPr>
            <p:ph type="sldNum" sz="quarter" idx="12"/>
          </p:nvPr>
        </p:nvSpPr>
        <p:spPr/>
        <p:txBody>
          <a:bodyPr/>
          <a:lstStyle>
            <a:lvl1pPr>
              <a:defRPr/>
            </a:lvl1pPr>
          </a:lstStyle>
          <a:p>
            <a:pPr>
              <a:defRPr/>
            </a:pPr>
            <a:fld id="{E0AF44B8-1FC0-4706-AD5A-1D5255F7992E}"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p:txBody>
          <a:bodyPr/>
          <a:lstStyle>
            <a:lvl1pPr>
              <a:defRPr/>
            </a:lvl1pPr>
          </a:lstStyle>
          <a:p>
            <a:endParaRPr lang="zh-CN" altLang="zh-CN"/>
          </a:p>
        </p:txBody>
      </p:sp>
      <p:sp>
        <p:nvSpPr>
          <p:cNvPr id="5" name="Rectangle 5"/>
          <p:cNvSpPr>
            <a:spLocks noGrp="1" noChangeArrowheads="1"/>
          </p:cNvSpPr>
          <p:nvPr>
            <p:ph type="ftr" sz="quarter" idx="11"/>
          </p:nvPr>
        </p:nvSpPr>
        <p:spPr/>
        <p:txBody>
          <a:bodyPr/>
          <a:lstStyle>
            <a:lvl1pPr>
              <a:defRPr/>
            </a:lvl1pPr>
          </a:lstStyle>
          <a:p>
            <a:pPr>
              <a:defRPr/>
            </a:pPr>
            <a:r>
              <a:rPr lang="en-US" altLang="zh-CN"/>
              <a:t>Company Logo</a:t>
            </a:r>
          </a:p>
        </p:txBody>
      </p:sp>
      <p:sp>
        <p:nvSpPr>
          <p:cNvPr id="6" name="Rectangle 6"/>
          <p:cNvSpPr>
            <a:spLocks noGrp="1" noChangeArrowheads="1"/>
          </p:cNvSpPr>
          <p:nvPr>
            <p:ph type="sldNum" sz="quarter" idx="12"/>
          </p:nvPr>
        </p:nvSpPr>
        <p:spPr/>
        <p:txBody>
          <a:bodyPr/>
          <a:lstStyle>
            <a:lvl1pPr>
              <a:defRPr/>
            </a:lvl1pPr>
          </a:lstStyle>
          <a:p>
            <a:pPr>
              <a:defRPr/>
            </a:pPr>
            <a:fld id="{E4B1558A-7E40-4009-B079-D4B4B20F0D21}"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endParaRPr lang="zh-CN" altLang="zh-CN"/>
          </a:p>
        </p:txBody>
      </p:sp>
      <p:sp>
        <p:nvSpPr>
          <p:cNvPr id="6" name="Rectangle 5"/>
          <p:cNvSpPr>
            <a:spLocks noGrp="1" noChangeArrowheads="1"/>
          </p:cNvSpPr>
          <p:nvPr>
            <p:ph type="ftr" sz="quarter" idx="11"/>
          </p:nvPr>
        </p:nvSpPr>
        <p:spPr/>
        <p:txBody>
          <a:bodyPr/>
          <a:lstStyle>
            <a:lvl1pPr>
              <a:defRPr/>
            </a:lvl1pPr>
          </a:lstStyle>
          <a:p>
            <a:pPr>
              <a:defRPr/>
            </a:pPr>
            <a:r>
              <a:rPr lang="en-US" altLang="zh-CN"/>
              <a:t>Company Logo</a:t>
            </a:r>
          </a:p>
        </p:txBody>
      </p:sp>
      <p:sp>
        <p:nvSpPr>
          <p:cNvPr id="7" name="Rectangle 6"/>
          <p:cNvSpPr>
            <a:spLocks noGrp="1" noChangeArrowheads="1"/>
          </p:cNvSpPr>
          <p:nvPr>
            <p:ph type="sldNum" sz="quarter" idx="12"/>
          </p:nvPr>
        </p:nvSpPr>
        <p:spPr/>
        <p:txBody>
          <a:bodyPr/>
          <a:lstStyle>
            <a:lvl1pPr>
              <a:defRPr/>
            </a:lvl1pPr>
          </a:lstStyle>
          <a:p>
            <a:pPr>
              <a:defRPr/>
            </a:pPr>
            <a:fld id="{3D2A1818-28E0-4FD8-9FE0-5A591BFC5AD7}"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p:txBody>
          <a:bodyPr/>
          <a:lstStyle>
            <a:lvl1pPr>
              <a:defRPr/>
            </a:lvl1pPr>
          </a:lstStyle>
          <a:p>
            <a:endParaRPr lang="zh-CN" altLang="zh-CN"/>
          </a:p>
        </p:txBody>
      </p:sp>
      <p:sp>
        <p:nvSpPr>
          <p:cNvPr id="8" name="Rectangle 5"/>
          <p:cNvSpPr>
            <a:spLocks noGrp="1" noChangeArrowheads="1"/>
          </p:cNvSpPr>
          <p:nvPr>
            <p:ph type="ftr" sz="quarter" idx="11"/>
          </p:nvPr>
        </p:nvSpPr>
        <p:spPr/>
        <p:txBody>
          <a:bodyPr/>
          <a:lstStyle>
            <a:lvl1pPr>
              <a:defRPr/>
            </a:lvl1pPr>
          </a:lstStyle>
          <a:p>
            <a:pPr>
              <a:defRPr/>
            </a:pPr>
            <a:r>
              <a:rPr lang="en-US" altLang="zh-CN"/>
              <a:t>Company Logo</a:t>
            </a:r>
          </a:p>
        </p:txBody>
      </p:sp>
      <p:sp>
        <p:nvSpPr>
          <p:cNvPr id="9" name="Rectangle 6"/>
          <p:cNvSpPr>
            <a:spLocks noGrp="1" noChangeArrowheads="1"/>
          </p:cNvSpPr>
          <p:nvPr>
            <p:ph type="sldNum" sz="quarter" idx="12"/>
          </p:nvPr>
        </p:nvSpPr>
        <p:spPr/>
        <p:txBody>
          <a:bodyPr/>
          <a:lstStyle>
            <a:lvl1pPr>
              <a:defRPr/>
            </a:lvl1pPr>
          </a:lstStyle>
          <a:p>
            <a:pPr>
              <a:defRPr/>
            </a:pPr>
            <a:fld id="{DCC088C5-9CB2-4573-9CF7-2F150BF9DB41}"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endParaRPr lang="zh-CN" altLang="zh-CN"/>
          </a:p>
        </p:txBody>
      </p:sp>
      <p:sp>
        <p:nvSpPr>
          <p:cNvPr id="4" name="Rectangle 5"/>
          <p:cNvSpPr>
            <a:spLocks noGrp="1" noChangeArrowheads="1"/>
          </p:cNvSpPr>
          <p:nvPr>
            <p:ph type="ftr" sz="quarter" idx="11"/>
          </p:nvPr>
        </p:nvSpPr>
        <p:spPr/>
        <p:txBody>
          <a:bodyPr/>
          <a:lstStyle>
            <a:lvl1pPr>
              <a:defRPr/>
            </a:lvl1pPr>
          </a:lstStyle>
          <a:p>
            <a:pPr>
              <a:defRPr/>
            </a:pPr>
            <a:r>
              <a:rPr lang="en-US" altLang="zh-CN"/>
              <a:t>Company Logo</a:t>
            </a:r>
          </a:p>
        </p:txBody>
      </p:sp>
      <p:sp>
        <p:nvSpPr>
          <p:cNvPr id="5" name="Rectangle 6"/>
          <p:cNvSpPr>
            <a:spLocks noGrp="1" noChangeArrowheads="1"/>
          </p:cNvSpPr>
          <p:nvPr>
            <p:ph type="sldNum" sz="quarter" idx="12"/>
          </p:nvPr>
        </p:nvSpPr>
        <p:spPr/>
        <p:txBody>
          <a:bodyPr/>
          <a:lstStyle>
            <a:lvl1pPr>
              <a:defRPr/>
            </a:lvl1pPr>
          </a:lstStyle>
          <a:p>
            <a:pPr>
              <a:defRPr/>
            </a:pPr>
            <a:fld id="{5423B053-0F89-4E30-ADE7-B5B58FDB894F}"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endParaRPr lang="zh-CN" altLang="zh-CN"/>
          </a:p>
        </p:txBody>
      </p:sp>
      <p:sp>
        <p:nvSpPr>
          <p:cNvPr id="3" name="Rectangle 5"/>
          <p:cNvSpPr>
            <a:spLocks noGrp="1" noChangeArrowheads="1"/>
          </p:cNvSpPr>
          <p:nvPr>
            <p:ph type="ftr" sz="quarter" idx="11"/>
          </p:nvPr>
        </p:nvSpPr>
        <p:spPr/>
        <p:txBody>
          <a:bodyPr/>
          <a:lstStyle>
            <a:lvl1pPr>
              <a:defRPr/>
            </a:lvl1pPr>
          </a:lstStyle>
          <a:p>
            <a:pPr>
              <a:defRPr/>
            </a:pPr>
            <a:r>
              <a:rPr lang="en-US" altLang="zh-CN"/>
              <a:t>Company Logo</a:t>
            </a:r>
          </a:p>
        </p:txBody>
      </p:sp>
      <p:sp>
        <p:nvSpPr>
          <p:cNvPr id="4" name="Rectangle 6"/>
          <p:cNvSpPr>
            <a:spLocks noGrp="1" noChangeArrowheads="1"/>
          </p:cNvSpPr>
          <p:nvPr>
            <p:ph type="sldNum" sz="quarter" idx="12"/>
          </p:nvPr>
        </p:nvSpPr>
        <p:spPr/>
        <p:txBody>
          <a:bodyPr/>
          <a:lstStyle>
            <a:lvl1pPr>
              <a:defRPr/>
            </a:lvl1pPr>
          </a:lstStyle>
          <a:p>
            <a:pPr>
              <a:defRPr/>
            </a:pPr>
            <a:fld id="{31FBDB47-4C7C-4067-8DEC-3B70C7CD6013}" type="slidenum">
              <a:rPr lang="en-US" altLang="zh-CN"/>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p:txBody>
          <a:bodyPr/>
          <a:lstStyle>
            <a:lvl1pPr>
              <a:defRPr/>
            </a:lvl1pPr>
          </a:lstStyle>
          <a:p>
            <a:endParaRPr lang="zh-CN" altLang="zh-CN"/>
          </a:p>
        </p:txBody>
      </p:sp>
      <p:sp>
        <p:nvSpPr>
          <p:cNvPr id="6" name="Rectangle 5"/>
          <p:cNvSpPr>
            <a:spLocks noGrp="1" noChangeArrowheads="1"/>
          </p:cNvSpPr>
          <p:nvPr>
            <p:ph type="ftr" sz="quarter" idx="11"/>
          </p:nvPr>
        </p:nvSpPr>
        <p:spPr/>
        <p:txBody>
          <a:bodyPr/>
          <a:lstStyle>
            <a:lvl1pPr>
              <a:defRPr/>
            </a:lvl1pPr>
          </a:lstStyle>
          <a:p>
            <a:pPr>
              <a:defRPr/>
            </a:pPr>
            <a:r>
              <a:rPr lang="en-US" altLang="zh-CN"/>
              <a:t>Company Logo</a:t>
            </a:r>
          </a:p>
        </p:txBody>
      </p:sp>
      <p:sp>
        <p:nvSpPr>
          <p:cNvPr id="7" name="Rectangle 6"/>
          <p:cNvSpPr>
            <a:spLocks noGrp="1" noChangeArrowheads="1"/>
          </p:cNvSpPr>
          <p:nvPr>
            <p:ph type="sldNum" sz="quarter" idx="12"/>
          </p:nvPr>
        </p:nvSpPr>
        <p:spPr/>
        <p:txBody>
          <a:bodyPr/>
          <a:lstStyle>
            <a:lvl1pPr>
              <a:defRPr/>
            </a:lvl1pPr>
          </a:lstStyle>
          <a:p>
            <a:pPr>
              <a:defRPr/>
            </a:pPr>
            <a:fld id="{FC7BEEB4-11D7-4D75-B217-F6C5CDCE6014}"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p:txBody>
          <a:bodyPr/>
          <a:lstStyle>
            <a:lvl1pPr>
              <a:defRPr/>
            </a:lvl1pPr>
          </a:lstStyle>
          <a:p>
            <a:endParaRPr lang="zh-CN" altLang="zh-CN"/>
          </a:p>
        </p:txBody>
      </p:sp>
      <p:sp>
        <p:nvSpPr>
          <p:cNvPr id="6" name="Rectangle 5"/>
          <p:cNvSpPr>
            <a:spLocks noGrp="1" noChangeArrowheads="1"/>
          </p:cNvSpPr>
          <p:nvPr>
            <p:ph type="ftr" sz="quarter" idx="11"/>
          </p:nvPr>
        </p:nvSpPr>
        <p:spPr/>
        <p:txBody>
          <a:bodyPr/>
          <a:lstStyle>
            <a:lvl1pPr>
              <a:defRPr/>
            </a:lvl1pPr>
          </a:lstStyle>
          <a:p>
            <a:pPr>
              <a:defRPr/>
            </a:pPr>
            <a:r>
              <a:rPr lang="en-US" altLang="zh-CN"/>
              <a:t>Company Logo</a:t>
            </a:r>
          </a:p>
        </p:txBody>
      </p:sp>
      <p:sp>
        <p:nvSpPr>
          <p:cNvPr id="7" name="Rectangle 6"/>
          <p:cNvSpPr>
            <a:spLocks noGrp="1" noChangeArrowheads="1"/>
          </p:cNvSpPr>
          <p:nvPr>
            <p:ph type="sldNum" sz="quarter" idx="12"/>
          </p:nvPr>
        </p:nvSpPr>
        <p:spPr/>
        <p:txBody>
          <a:bodyPr/>
          <a:lstStyle>
            <a:lvl1pPr>
              <a:defRPr/>
            </a:lvl1pPr>
          </a:lstStyle>
          <a:p>
            <a:pPr>
              <a:defRPr/>
            </a:pPr>
            <a:fld id="{F286B90B-AD67-43F2-91D0-CB546C2250DE}"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endParaRPr lang="zh-CN" altLang="zh-CN"/>
          </a:p>
        </p:txBody>
      </p:sp>
      <p:sp>
        <p:nvSpPr>
          <p:cNvPr id="5" name="Rectangle 5"/>
          <p:cNvSpPr>
            <a:spLocks noGrp="1" noChangeArrowheads="1"/>
          </p:cNvSpPr>
          <p:nvPr>
            <p:ph type="ftr" sz="quarter" idx="11"/>
          </p:nvPr>
        </p:nvSpPr>
        <p:spPr/>
        <p:txBody>
          <a:bodyPr/>
          <a:lstStyle>
            <a:lvl1pPr>
              <a:defRPr/>
            </a:lvl1pPr>
          </a:lstStyle>
          <a:p>
            <a:pPr>
              <a:defRPr/>
            </a:pPr>
            <a:r>
              <a:rPr lang="en-US" altLang="zh-CN"/>
              <a:t>Company Logo</a:t>
            </a:r>
          </a:p>
        </p:txBody>
      </p:sp>
      <p:sp>
        <p:nvSpPr>
          <p:cNvPr id="6" name="Rectangle 6"/>
          <p:cNvSpPr>
            <a:spLocks noGrp="1" noChangeArrowheads="1"/>
          </p:cNvSpPr>
          <p:nvPr>
            <p:ph type="sldNum" sz="quarter" idx="12"/>
          </p:nvPr>
        </p:nvSpPr>
        <p:spPr/>
        <p:txBody>
          <a:bodyPr/>
          <a:lstStyle>
            <a:lvl1pPr>
              <a:defRPr/>
            </a:lvl1pPr>
          </a:lstStyle>
          <a:p>
            <a:pPr>
              <a:defRPr/>
            </a:pPr>
            <a:fld id="{8EBF9CE2-48B3-4EBA-BF83-3DE5720586B1}"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7150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533400"/>
            <a:ext cx="6019800" cy="57150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endParaRPr lang="zh-CN" altLang="zh-CN"/>
          </a:p>
        </p:txBody>
      </p:sp>
      <p:sp>
        <p:nvSpPr>
          <p:cNvPr id="5" name="Rectangle 5"/>
          <p:cNvSpPr>
            <a:spLocks noGrp="1" noChangeArrowheads="1"/>
          </p:cNvSpPr>
          <p:nvPr>
            <p:ph type="ftr" sz="quarter" idx="11"/>
          </p:nvPr>
        </p:nvSpPr>
        <p:spPr/>
        <p:txBody>
          <a:bodyPr/>
          <a:lstStyle>
            <a:lvl1pPr>
              <a:defRPr/>
            </a:lvl1pPr>
          </a:lstStyle>
          <a:p>
            <a:pPr>
              <a:defRPr/>
            </a:pPr>
            <a:r>
              <a:rPr lang="en-US" altLang="zh-CN"/>
              <a:t>Company Logo</a:t>
            </a:r>
          </a:p>
        </p:txBody>
      </p:sp>
      <p:sp>
        <p:nvSpPr>
          <p:cNvPr id="6" name="Rectangle 6"/>
          <p:cNvSpPr>
            <a:spLocks noGrp="1" noChangeArrowheads="1"/>
          </p:cNvSpPr>
          <p:nvPr>
            <p:ph type="sldNum" sz="quarter" idx="12"/>
          </p:nvPr>
        </p:nvSpPr>
        <p:spPr/>
        <p:txBody>
          <a:bodyPr/>
          <a:lstStyle>
            <a:lvl1pPr>
              <a:defRPr/>
            </a:lvl1pPr>
          </a:lstStyle>
          <a:p>
            <a:pPr>
              <a:defRPr/>
            </a:pPr>
            <a:fld id="{DBE458A3-560A-48E3-A527-79D4EF87F52F}" type="slidenum">
              <a:rPr lang="en-US" altLang="zh-CN"/>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533400"/>
            <a:ext cx="7696200" cy="563563"/>
          </a:xfrm>
        </p:spPr>
        <p:txBody>
          <a:bodyPr/>
          <a:lstStyle/>
          <a:p>
            <a:r>
              <a:rPr lang="zh-CN" altLang="en-US" smtClean="0"/>
              <a:t>单击此处编辑母版标题样式</a:t>
            </a:r>
            <a:endParaRPr lang="zh-CN" altLang="en-US"/>
          </a:p>
        </p:txBody>
      </p:sp>
      <p:sp>
        <p:nvSpPr>
          <p:cNvPr id="3" name="表格占位符 2"/>
          <p:cNvSpPr>
            <a:spLocks noGrp="1"/>
          </p:cNvSpPr>
          <p:nvPr>
            <p:ph type="tbl" idx="1" hasCustomPrompt="1"/>
          </p:nvPr>
        </p:nvSpPr>
        <p:spPr>
          <a:xfrm>
            <a:off x="457200" y="1447800"/>
            <a:ext cx="8229600" cy="4800600"/>
          </a:xfrm>
        </p:spPr>
        <p:txBody>
          <a:bodyPr/>
          <a:lstStyle/>
          <a:p>
            <a:pPr lvl="0"/>
            <a:r>
              <a:rPr lang="zh-CN" altLang="en-US" noProof="0" smtClean="0"/>
              <a:t>单击图标添加表格</a:t>
            </a:r>
          </a:p>
        </p:txBody>
      </p:sp>
      <p:sp>
        <p:nvSpPr>
          <p:cNvPr id="4" name="Rectangle 4"/>
          <p:cNvSpPr>
            <a:spLocks noGrp="1" noChangeArrowheads="1"/>
          </p:cNvSpPr>
          <p:nvPr>
            <p:ph type="dt" sz="half" idx="10"/>
          </p:nvPr>
        </p:nvSpPr>
        <p:spPr/>
        <p:txBody>
          <a:bodyPr/>
          <a:lstStyle>
            <a:lvl1pPr>
              <a:defRPr/>
            </a:lvl1pPr>
          </a:lstStyle>
          <a:p>
            <a:endParaRPr lang="zh-CN" altLang="zh-CN"/>
          </a:p>
        </p:txBody>
      </p:sp>
      <p:sp>
        <p:nvSpPr>
          <p:cNvPr id="5" name="Rectangle 5"/>
          <p:cNvSpPr>
            <a:spLocks noGrp="1" noChangeArrowheads="1"/>
          </p:cNvSpPr>
          <p:nvPr>
            <p:ph type="ftr" sz="quarter" idx="11"/>
          </p:nvPr>
        </p:nvSpPr>
        <p:spPr/>
        <p:txBody>
          <a:bodyPr/>
          <a:lstStyle>
            <a:lvl1pPr>
              <a:defRPr/>
            </a:lvl1pPr>
          </a:lstStyle>
          <a:p>
            <a:pPr>
              <a:defRPr/>
            </a:pPr>
            <a:r>
              <a:rPr lang="en-US" altLang="zh-CN"/>
              <a:t>Company Logo</a:t>
            </a:r>
          </a:p>
        </p:txBody>
      </p:sp>
      <p:sp>
        <p:nvSpPr>
          <p:cNvPr id="6" name="Rectangle 6"/>
          <p:cNvSpPr>
            <a:spLocks noGrp="1" noChangeArrowheads="1"/>
          </p:cNvSpPr>
          <p:nvPr>
            <p:ph type="sldNum" sz="quarter" idx="12"/>
          </p:nvPr>
        </p:nvSpPr>
        <p:spPr/>
        <p:txBody>
          <a:bodyPr/>
          <a:lstStyle>
            <a:lvl1pPr>
              <a:defRPr/>
            </a:lvl1pPr>
          </a:lstStyle>
          <a:p>
            <a:pPr>
              <a:defRPr/>
            </a:pPr>
            <a:fld id="{7974BB93-6E81-4D79-AB49-7FFCB2358000}"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blipFill dpi="0" rotWithShape="0">
          <a:blip r:embed="rId14" cstate="print"/>
          <a:srcRect/>
          <a:stretch>
            <a:fillRect/>
          </a:stretch>
        </a:blip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gray">
          <a:xfrm>
            <a:off x="457200" y="1447800"/>
            <a:ext cx="8229600" cy="4800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ltLang="zh-CN" smtClean="0"/>
          </a:p>
        </p:txBody>
      </p:sp>
      <p:sp>
        <p:nvSpPr>
          <p:cNvPr id="1028" name="Rectangle 4"/>
          <p:cNvSpPr>
            <a:spLocks noGrp="1" noChangeArrowheads="1"/>
          </p:cNvSpPr>
          <p:nvPr>
            <p:ph type="dt" sz="half" idx="2"/>
          </p:nvPr>
        </p:nvSpPr>
        <p:spPr bwMode="gray">
          <a:xfrm>
            <a:off x="457200" y="6556375"/>
            <a:ext cx="2133600" cy="244475"/>
          </a:xfrm>
          <a:prstGeom prst="rect">
            <a:avLst/>
          </a:prstGeom>
          <a:noFill/>
          <a:ln w="9525">
            <a:noFill/>
            <a:miter lim="800000"/>
          </a:ln>
          <a:effectLst/>
        </p:spPr>
        <p:txBody>
          <a:bodyPr vert="horz" wrap="square" lIns="91440" tIns="45720" rIns="91440" bIns="45720" numCol="1" anchor="t" anchorCtr="0" compatLnSpc="1"/>
          <a:lstStyle>
            <a:lvl1pPr>
              <a:defRPr sz="1000">
                <a:solidFill>
                  <a:schemeClr val="bg1"/>
                </a:solidFill>
                <a:latin typeface="Verdana" panose="020B0604030504040204" pitchFamily="34" charset="0"/>
                <a:ea typeface="宋体" panose="02010600030101010101" pitchFamily="2" charset="-122"/>
              </a:defRPr>
            </a:lvl1pPr>
          </a:lstStyle>
          <a:p>
            <a:endParaRPr lang="zh-CN" altLang="zh-CN"/>
          </a:p>
        </p:txBody>
      </p:sp>
      <p:sp>
        <p:nvSpPr>
          <p:cNvPr id="1029" name="Rectangle 5"/>
          <p:cNvSpPr>
            <a:spLocks noGrp="1" noChangeArrowheads="1"/>
          </p:cNvSpPr>
          <p:nvPr>
            <p:ph type="ftr" sz="quarter" idx="3"/>
          </p:nvPr>
        </p:nvSpPr>
        <p:spPr bwMode="gray">
          <a:xfrm>
            <a:off x="7162800" y="152400"/>
            <a:ext cx="1752600" cy="228600"/>
          </a:xfrm>
          <a:prstGeom prst="rect">
            <a:avLst/>
          </a:prstGeom>
          <a:noFill/>
          <a:ln w="9525">
            <a:noFill/>
            <a:miter lim="800000"/>
          </a:ln>
          <a:effectLst/>
        </p:spPr>
        <p:txBody>
          <a:bodyPr vert="horz" wrap="square" lIns="91440" tIns="45720" rIns="91440" bIns="45720" numCol="1" anchor="t" anchorCtr="0" compatLnSpc="1"/>
          <a:lstStyle>
            <a:lvl1pPr algn="r">
              <a:defRPr sz="1000" smtClean="0">
                <a:solidFill>
                  <a:schemeClr val="bg1"/>
                </a:solidFill>
                <a:latin typeface="+mn-lt"/>
                <a:ea typeface="宋体" panose="02010600030101010101" pitchFamily="2" charset="-122"/>
              </a:defRPr>
            </a:lvl1pPr>
          </a:lstStyle>
          <a:p>
            <a:pPr>
              <a:defRPr/>
            </a:pPr>
            <a:r>
              <a:rPr lang="en-US" altLang="zh-CN"/>
              <a:t>Company Logo</a:t>
            </a:r>
          </a:p>
        </p:txBody>
      </p:sp>
      <p:sp>
        <p:nvSpPr>
          <p:cNvPr id="1030" name="Rectangle 6"/>
          <p:cNvSpPr>
            <a:spLocks noGrp="1" noChangeArrowheads="1"/>
          </p:cNvSpPr>
          <p:nvPr>
            <p:ph type="sldNum" sz="quarter" idx="4"/>
          </p:nvPr>
        </p:nvSpPr>
        <p:spPr bwMode="gray">
          <a:xfrm>
            <a:off x="3429000" y="6556375"/>
            <a:ext cx="2133600" cy="244475"/>
          </a:xfrm>
          <a:prstGeom prst="rect">
            <a:avLst/>
          </a:prstGeom>
          <a:noFill/>
          <a:ln w="9525">
            <a:noFill/>
            <a:miter lim="800000"/>
          </a:ln>
          <a:effectLst/>
        </p:spPr>
        <p:txBody>
          <a:bodyPr vert="horz" wrap="square" lIns="91440" tIns="45720" rIns="91440" bIns="45720" numCol="1" anchor="t" anchorCtr="0" compatLnSpc="1"/>
          <a:lstStyle>
            <a:lvl1pPr algn="ctr">
              <a:defRPr sz="1000" smtClean="0">
                <a:solidFill>
                  <a:schemeClr val="bg1"/>
                </a:solidFill>
                <a:latin typeface="+mn-lt"/>
                <a:ea typeface="宋体" panose="02010600030101010101" pitchFamily="2" charset="-122"/>
              </a:defRPr>
            </a:lvl1pPr>
          </a:lstStyle>
          <a:p>
            <a:pPr>
              <a:defRPr/>
            </a:pPr>
            <a:fld id="{FD25DCE4-DDCA-41BE-B7FD-C9C7FF476F8D}" type="slidenum">
              <a:rPr lang="en-US" altLang="zh-CN"/>
              <a:pPr>
                <a:defRPr/>
              </a:pPr>
              <a:t>‹#›</a:t>
            </a:fld>
            <a:endParaRPr lang="en-US" altLang="zh-CN"/>
          </a:p>
        </p:txBody>
      </p:sp>
      <p:sp>
        <p:nvSpPr>
          <p:cNvPr id="2" name="Rectangle 2"/>
          <p:cNvSpPr>
            <a:spLocks noGrp="1" noChangeArrowheads="1"/>
          </p:cNvSpPr>
          <p:nvPr>
            <p:ph type="title"/>
          </p:nvPr>
        </p:nvSpPr>
        <p:spPr bwMode="gray">
          <a:xfrm>
            <a:off x="457200" y="533400"/>
            <a:ext cx="7696200" cy="563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smtClean="0"/>
              <a:t>单击此处编辑母版标题样式</a:t>
            </a:r>
            <a:endParaRPr lang="en-US" altLang="zh-CN" smtClean="0"/>
          </a:p>
        </p:txBody>
      </p:sp>
      <p:grpSp>
        <p:nvGrpSpPr>
          <p:cNvPr id="1031" name="Group 35"/>
          <p:cNvGrpSpPr/>
          <p:nvPr/>
        </p:nvGrpSpPr>
        <p:grpSpPr bwMode="auto">
          <a:xfrm>
            <a:off x="0" y="1143000"/>
            <a:ext cx="7086600" cy="22225"/>
            <a:chOff x="0" y="720"/>
            <a:chExt cx="4464" cy="14"/>
          </a:xfrm>
        </p:grpSpPr>
        <p:sp>
          <p:nvSpPr>
            <p:cNvPr id="1055" name="Line 31"/>
            <p:cNvSpPr>
              <a:spLocks noChangeShapeType="1"/>
            </p:cNvSpPr>
            <p:nvPr/>
          </p:nvSpPr>
          <p:spPr bwMode="auto">
            <a:xfrm flipH="1">
              <a:off x="0" y="720"/>
              <a:ext cx="4464" cy="0"/>
            </a:xfrm>
            <a:prstGeom prst="line">
              <a:avLst/>
            </a:prstGeom>
            <a:noFill/>
            <a:ln w="19050">
              <a:solidFill>
                <a:schemeClr val="tx1"/>
              </a:solidFill>
              <a:round/>
            </a:ln>
            <a:effectLst/>
          </p:spPr>
          <p:txBody>
            <a:bodyPr/>
            <a:lstStyle/>
            <a:p>
              <a:pPr>
                <a:defRPr/>
              </a:pPr>
              <a:endParaRPr lang="zh-CN" altLang="en-US">
                <a:latin typeface="Arial" panose="020B0604020202020204" pitchFamily="34" charset="0"/>
              </a:endParaRPr>
            </a:p>
          </p:txBody>
        </p:sp>
        <p:sp>
          <p:nvSpPr>
            <p:cNvPr id="1058" name="Line 34"/>
            <p:cNvSpPr>
              <a:spLocks noChangeShapeType="1"/>
            </p:cNvSpPr>
            <p:nvPr/>
          </p:nvSpPr>
          <p:spPr bwMode="auto">
            <a:xfrm>
              <a:off x="0" y="734"/>
              <a:ext cx="1968" cy="0"/>
            </a:xfrm>
            <a:prstGeom prst="line">
              <a:avLst/>
            </a:prstGeom>
            <a:noFill/>
            <a:ln w="76200">
              <a:solidFill>
                <a:schemeClr val="tx1"/>
              </a:solidFill>
              <a:round/>
            </a:ln>
            <a:effectLst/>
          </p:spPr>
          <p:txBody>
            <a:bodyPr/>
            <a:lstStyle/>
            <a:p>
              <a:pPr>
                <a:defRPr/>
              </a:pPr>
              <a:endParaRPr lang="zh-CN" altLang="en-US">
                <a:latin typeface="Arial" panose="020B0604020202020204" pitchFamily="34" charset="0"/>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Verdana" panose="020B0604030504040204" pitchFamily="34" charset="0"/>
        </a:defRPr>
      </a:lvl2pPr>
      <a:lvl3pPr algn="l" rtl="0" eaLnBrk="1" fontAlgn="base" hangingPunct="1">
        <a:spcBef>
          <a:spcPct val="0"/>
        </a:spcBef>
        <a:spcAft>
          <a:spcPct val="0"/>
        </a:spcAft>
        <a:defRPr sz="3200" b="1">
          <a:solidFill>
            <a:schemeClr val="tx2"/>
          </a:solidFill>
          <a:latin typeface="Verdana" panose="020B0604030504040204" pitchFamily="34" charset="0"/>
        </a:defRPr>
      </a:lvl3pPr>
      <a:lvl4pPr algn="l" rtl="0" eaLnBrk="1" fontAlgn="base" hangingPunct="1">
        <a:spcBef>
          <a:spcPct val="0"/>
        </a:spcBef>
        <a:spcAft>
          <a:spcPct val="0"/>
        </a:spcAft>
        <a:defRPr sz="3200" b="1">
          <a:solidFill>
            <a:schemeClr val="tx2"/>
          </a:solidFill>
          <a:latin typeface="Verdana" panose="020B0604030504040204" pitchFamily="34" charset="0"/>
        </a:defRPr>
      </a:lvl4pPr>
      <a:lvl5pPr algn="l" rtl="0" eaLnBrk="1" fontAlgn="base" hangingPunct="1">
        <a:spcBef>
          <a:spcPct val="0"/>
        </a:spcBef>
        <a:spcAft>
          <a:spcPct val="0"/>
        </a:spcAft>
        <a:defRPr sz="3200" b="1">
          <a:solidFill>
            <a:schemeClr val="tx2"/>
          </a:solidFill>
          <a:latin typeface="Verdana" panose="020B0604030504040204" pitchFamily="34" charset="0"/>
        </a:defRPr>
      </a:lvl5pPr>
      <a:lvl6pPr marL="457200" algn="l" rtl="0" eaLnBrk="1" fontAlgn="base" hangingPunct="1">
        <a:spcBef>
          <a:spcPct val="0"/>
        </a:spcBef>
        <a:spcAft>
          <a:spcPct val="0"/>
        </a:spcAft>
        <a:defRPr sz="3200" b="1">
          <a:solidFill>
            <a:schemeClr val="tx2"/>
          </a:solidFill>
          <a:latin typeface="Verdana" panose="020B0604030504040204" pitchFamily="34" charset="0"/>
        </a:defRPr>
      </a:lvl6pPr>
      <a:lvl7pPr marL="914400" algn="l" rtl="0" eaLnBrk="1" fontAlgn="base" hangingPunct="1">
        <a:spcBef>
          <a:spcPct val="0"/>
        </a:spcBef>
        <a:spcAft>
          <a:spcPct val="0"/>
        </a:spcAft>
        <a:defRPr sz="3200" b="1">
          <a:solidFill>
            <a:schemeClr val="tx2"/>
          </a:solidFill>
          <a:latin typeface="Verdana" panose="020B0604030504040204" pitchFamily="34" charset="0"/>
        </a:defRPr>
      </a:lvl7pPr>
      <a:lvl8pPr marL="1371600" algn="l" rtl="0" eaLnBrk="1" fontAlgn="base" hangingPunct="1">
        <a:spcBef>
          <a:spcPct val="0"/>
        </a:spcBef>
        <a:spcAft>
          <a:spcPct val="0"/>
        </a:spcAft>
        <a:defRPr sz="3200" b="1">
          <a:solidFill>
            <a:schemeClr val="tx2"/>
          </a:solidFill>
          <a:latin typeface="Verdana" panose="020B0604030504040204" pitchFamily="34" charset="0"/>
        </a:defRPr>
      </a:lvl8pPr>
      <a:lvl9pPr marL="1828800" algn="l" rtl="0" eaLnBrk="1" fontAlgn="base" hangingPunct="1">
        <a:spcBef>
          <a:spcPct val="0"/>
        </a:spcBef>
        <a:spcAft>
          <a:spcPct val="0"/>
        </a:spcAft>
        <a:defRPr sz="3200" b="1">
          <a:solidFill>
            <a:schemeClr val="tx2"/>
          </a:solidFill>
          <a:latin typeface="Verdana" panose="020B0604030504040204" pitchFamily="34" charset="0"/>
        </a:defRPr>
      </a:lvl9pPr>
    </p:titleStyle>
    <p:body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4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6.xml"/><Relationship Id="rId1" Type="http://schemas.openxmlformats.org/officeDocument/2006/relationships/themeOverride" Target="../theme/themeOverride1.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2.xml"/><Relationship Id="rId1" Type="http://schemas.openxmlformats.org/officeDocument/2006/relationships/vmlDrawing" Target="../drawings/vmlDrawing3.vml"/><Relationship Id="rId4" Type="http://schemas.openxmlformats.org/officeDocument/2006/relationships/oleObject" Target="../embeddings/oleObject4.bin"/></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2.xml"/><Relationship Id="rId1" Type="http://schemas.openxmlformats.org/officeDocument/2006/relationships/vmlDrawing" Target="../drawings/vmlDrawing4.v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2.xml"/><Relationship Id="rId4" Type="http://schemas.openxmlformats.org/officeDocument/2006/relationships/image" Target="../media/image4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6.xml"/><Relationship Id="rId1" Type="http://schemas.openxmlformats.org/officeDocument/2006/relationships/vmlDrawing" Target="../drawings/vmlDrawing5.v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6.xml"/><Relationship Id="rId1" Type="http://schemas.openxmlformats.org/officeDocument/2006/relationships/vmlDrawing" Target="../drawings/vmlDrawing6.v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6.xml"/><Relationship Id="rId1" Type="http://schemas.openxmlformats.org/officeDocument/2006/relationships/vmlDrawing" Target="../drawings/vmlDrawing7.vml"/></Relationships>
</file>

<file path=ppt/slides/_rels/slide43.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6.xml"/><Relationship Id="rId1" Type="http://schemas.openxmlformats.org/officeDocument/2006/relationships/vmlDrawing" Target="../drawings/vmlDrawing8.vml"/><Relationship Id="rId5" Type="http://schemas.openxmlformats.org/officeDocument/2006/relationships/image" Target="../media/image48.jpeg"/><Relationship Id="rId4" Type="http://schemas.openxmlformats.org/officeDocument/2006/relationships/image" Target="../media/image47.png"/></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6.xml"/><Relationship Id="rId1" Type="http://schemas.openxmlformats.org/officeDocument/2006/relationships/vmlDrawing" Target="../drawings/vmlDrawing9.vml"/></Relationships>
</file>

<file path=ppt/slides/_rels/slide4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6.xml"/><Relationship Id="rId4" Type="http://schemas.openxmlformats.org/officeDocument/2006/relationships/image" Target="../media/image5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2811145" y="3365500"/>
            <a:ext cx="6019800" cy="596900"/>
          </a:xfrm>
        </p:spPr>
        <p:txBody>
          <a:bodyPr/>
          <a:lstStyle/>
          <a:p>
            <a:pPr eaLnBrk="1" hangingPunct="1"/>
            <a:r>
              <a:rPr lang="zh-CN" altLang="en-US" b="0" smtClean="0">
                <a:solidFill>
                  <a:srgbClr val="000000"/>
                </a:solidFill>
                <a:ea typeface="宋体" panose="02010600030101010101" pitchFamily="2" charset="-122"/>
              </a:rPr>
              <a:t>智能客服</a:t>
            </a:r>
          </a:p>
        </p:txBody>
      </p:sp>
      <p:sp>
        <p:nvSpPr>
          <p:cNvPr id="3076" name="Text Box 5"/>
          <p:cNvSpPr txBox="1">
            <a:spLocks noChangeArrowheads="1"/>
          </p:cNvSpPr>
          <p:nvPr/>
        </p:nvSpPr>
        <p:spPr bwMode="gray">
          <a:xfrm>
            <a:off x="3159125" y="4194810"/>
            <a:ext cx="3276600" cy="5835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1600" b="1" dirty="0">
                <a:solidFill>
                  <a:srgbClr val="000000"/>
                </a:solidFill>
                <a:ea typeface="宋体" panose="02010600030101010101" pitchFamily="2" charset="-122"/>
              </a:rPr>
              <a:t>            </a:t>
            </a:r>
            <a:r>
              <a:rPr lang="en-US" altLang="zh-CN" sz="1600" b="1" dirty="0">
                <a:solidFill>
                  <a:srgbClr val="000000"/>
                </a:solidFill>
                <a:ea typeface="宋体" panose="02010600030101010101" pitchFamily="2" charset="-122"/>
              </a:rPr>
              <a:t>	</a:t>
            </a:r>
          </a:p>
          <a:p>
            <a:pPr eaLnBrk="1" hangingPunct="1"/>
            <a:r>
              <a:rPr lang="en-US" altLang="zh-CN" sz="1600" b="1" dirty="0">
                <a:solidFill>
                  <a:srgbClr val="000000"/>
                </a:solidFill>
                <a:ea typeface="宋体" panose="02010600030101010101" pitchFamily="2" charset="-122"/>
              </a:rPr>
              <a:t>	             </a:t>
            </a:r>
            <a:r>
              <a:rPr lang="zh-CN" altLang="en-US" sz="1600" b="1" dirty="0">
                <a:solidFill>
                  <a:srgbClr val="000000"/>
                </a:solidFill>
                <a:ea typeface="宋体" panose="02010600030101010101" pitchFamily="2" charset="-122"/>
              </a:rPr>
              <a:t>编写人：陈嘉怡</a:t>
            </a:r>
          </a:p>
        </p:txBody>
      </p:sp>
      <p:sp>
        <p:nvSpPr>
          <p:cNvPr id="3077" name="Rectangle 6"/>
          <p:cNvSpPr>
            <a:spLocks noChangeArrowheads="1"/>
          </p:cNvSpPr>
          <p:nvPr/>
        </p:nvSpPr>
        <p:spPr bwMode="gray">
          <a:xfrm>
            <a:off x="2971800" y="4114800"/>
            <a:ext cx="76200" cy="228600"/>
          </a:xfrm>
          <a:prstGeom prst="rect">
            <a:avLst/>
          </a:prstGeom>
          <a:solidFill>
            <a:srgbClr val="CC0000"/>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p>
            <a:endParaRPr lang="zh-CN" altLang="en-US">
              <a:ea typeface="宋体" panose="02010600030101010101" pitchFamily="2"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页脚占位符 4"/>
          <p:cNvSpPr>
            <a:spLocks noGrp="1"/>
          </p:cNvSpPr>
          <p:nvPr>
            <p:ph type="ftr" sz="quarter" idx="11"/>
          </p:nvPr>
        </p:nvSpPr>
        <p:spPr/>
        <p:txBody>
          <a:bodyPr/>
          <a:lstStyle/>
          <a:p>
            <a:pPr>
              <a:defRPr/>
            </a:pPr>
            <a:endParaRPr lang="en-US" altLang="zh-CN"/>
          </a:p>
        </p:txBody>
      </p:sp>
      <p:sp>
        <p:nvSpPr>
          <p:cNvPr id="4099" name="Rectangle 2"/>
          <p:cNvSpPr>
            <a:spLocks noGrp="1" noChangeArrowheads="1"/>
          </p:cNvSpPr>
          <p:nvPr>
            <p:ph type="title"/>
          </p:nvPr>
        </p:nvSpPr>
        <p:spPr/>
        <p:txBody>
          <a:bodyPr/>
          <a:lstStyle/>
          <a:p>
            <a:pPr eaLnBrk="1" hangingPunct="1"/>
            <a:r>
              <a:rPr lang="zh-CN" altLang="en-US" smtClean="0">
                <a:solidFill>
                  <a:schemeClr val="accent1"/>
                </a:solidFill>
                <a:ea typeface="宋体" panose="02010600030101010101" pitchFamily="2" charset="-122"/>
              </a:rPr>
              <a:t>目录</a:t>
            </a:r>
          </a:p>
        </p:txBody>
      </p:sp>
      <p:sp>
        <p:nvSpPr>
          <p:cNvPr id="4100" name="Text Box 3"/>
          <p:cNvSpPr txBox="1">
            <a:spLocks noChangeArrowheads="1"/>
          </p:cNvSpPr>
          <p:nvPr/>
        </p:nvSpPr>
        <p:spPr bwMode="auto">
          <a:xfrm>
            <a:off x="1660525" y="722313"/>
            <a:ext cx="184150" cy="366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zh-CN" altLang="zh-CN">
              <a:ea typeface="宋体" panose="02010600030101010101" pitchFamily="2" charset="-122"/>
            </a:endParaRPr>
          </a:p>
        </p:txBody>
      </p:sp>
      <p:grpSp>
        <p:nvGrpSpPr>
          <p:cNvPr id="4101" name="Group 46"/>
          <p:cNvGrpSpPr/>
          <p:nvPr/>
        </p:nvGrpSpPr>
        <p:grpSpPr bwMode="auto">
          <a:xfrm>
            <a:off x="2133600" y="1546225"/>
            <a:ext cx="4724400" cy="685800"/>
            <a:chOff x="1296" y="1824"/>
            <a:chExt cx="2976" cy="432"/>
          </a:xfrm>
        </p:grpSpPr>
        <p:sp>
          <p:nvSpPr>
            <p:cNvPr id="87087" name="AutoShape 47"/>
            <p:cNvSpPr>
              <a:spLocks noChangeArrowheads="1"/>
            </p:cNvSpPr>
            <p:nvPr/>
          </p:nvSpPr>
          <p:spPr bwMode="gray">
            <a:xfrm>
              <a:off x="1536" y="1899"/>
              <a:ext cx="2736" cy="288"/>
            </a:xfrm>
            <a:prstGeom prst="roundRect">
              <a:avLst>
                <a:gd name="adj" fmla="val 16667"/>
              </a:avLst>
            </a:prstGeom>
            <a:gradFill rotWithShape="1">
              <a:gsLst>
                <a:gs pos="0">
                  <a:schemeClr val="accent2"/>
                </a:gs>
                <a:gs pos="50000">
                  <a:schemeClr val="accent2">
                    <a:gamma/>
                    <a:tint val="21176"/>
                    <a:invGamma/>
                  </a:schemeClr>
                </a:gs>
                <a:gs pos="100000">
                  <a:schemeClr val="accent2"/>
                </a:gs>
              </a:gsLst>
              <a:lin ang="5400000" scaled="1"/>
            </a:gradFill>
            <a:ln w="12700" algn="ctr">
              <a:solidFill>
                <a:schemeClr val="bg1"/>
              </a:solidFill>
              <a:round/>
            </a:ln>
            <a:effectLst/>
          </p:spPr>
          <p:txBody>
            <a:bodyPr wrap="none" anchor="ctr"/>
            <a:lstStyle/>
            <a:p>
              <a:endParaRPr lang="zh-CN" altLang="en-US">
                <a:ea typeface="宋体" panose="02010600030101010101" pitchFamily="2" charset="-122"/>
              </a:endParaRPr>
            </a:p>
          </p:txBody>
        </p:sp>
        <p:sp>
          <p:nvSpPr>
            <p:cNvPr id="4118" name="AutoShape 48"/>
            <p:cNvSpPr>
              <a:spLocks noChangeArrowheads="1"/>
            </p:cNvSpPr>
            <p:nvPr/>
          </p:nvSpPr>
          <p:spPr bwMode="gray">
            <a:xfrm>
              <a:off x="1296" y="1824"/>
              <a:ext cx="432" cy="432"/>
            </a:xfrm>
            <a:prstGeom prst="diamond">
              <a:avLst/>
            </a:prstGeom>
            <a:solidFill>
              <a:schemeClr val="accent2"/>
            </a:solidFill>
            <a:ln w="25400" algn="ctr">
              <a:solidFill>
                <a:schemeClr val="bg1"/>
              </a:solidFill>
              <a:miter lim="800000"/>
            </a:ln>
          </p:spPr>
          <p:txBody>
            <a:bodyPr wrap="none" anchor="ctr"/>
            <a:lstStyle/>
            <a:p>
              <a:endParaRPr lang="zh-CN" altLang="en-US">
                <a:ea typeface="宋体" panose="02010600030101010101" pitchFamily="2" charset="-122"/>
              </a:endParaRPr>
            </a:p>
          </p:txBody>
        </p:sp>
        <p:sp>
          <p:nvSpPr>
            <p:cNvPr id="4119" name="Text Box 49"/>
            <p:cNvSpPr txBox="1">
              <a:spLocks noChangeArrowheads="1"/>
            </p:cNvSpPr>
            <p:nvPr/>
          </p:nvSpPr>
          <p:spPr bwMode="gray">
            <a:xfrm>
              <a:off x="1680" y="1934"/>
              <a:ext cx="2160" cy="2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00"/>
                  </a:solidFill>
                  <a:ea typeface="宋体" panose="02010600030101010101" pitchFamily="2" charset="-122"/>
                </a:rPr>
                <a:t>智能客服需求</a:t>
              </a:r>
            </a:p>
          </p:txBody>
        </p:sp>
        <p:sp>
          <p:nvSpPr>
            <p:cNvPr id="4120" name="Text Box 50"/>
            <p:cNvSpPr txBox="1">
              <a:spLocks noChangeArrowheads="1"/>
            </p:cNvSpPr>
            <p:nvPr/>
          </p:nvSpPr>
          <p:spPr bwMode="gray">
            <a:xfrm>
              <a:off x="1393" y="1886"/>
              <a:ext cx="223"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2400">
                  <a:solidFill>
                    <a:schemeClr val="bg1"/>
                  </a:solidFill>
                  <a:ea typeface="宋体" panose="02010600030101010101" pitchFamily="2" charset="-122"/>
                </a:rPr>
                <a:t>1</a:t>
              </a:r>
            </a:p>
          </p:txBody>
        </p:sp>
      </p:grpSp>
      <p:grpSp>
        <p:nvGrpSpPr>
          <p:cNvPr id="4102" name="Group 51"/>
          <p:cNvGrpSpPr/>
          <p:nvPr/>
        </p:nvGrpSpPr>
        <p:grpSpPr bwMode="auto">
          <a:xfrm>
            <a:off x="2133600" y="2384425"/>
            <a:ext cx="4724400" cy="685800"/>
            <a:chOff x="1296" y="1824"/>
            <a:chExt cx="2976" cy="432"/>
          </a:xfrm>
        </p:grpSpPr>
        <p:sp>
          <p:nvSpPr>
            <p:cNvPr id="87092" name="AutoShape 52"/>
            <p:cNvSpPr>
              <a:spLocks noChangeArrowheads="1"/>
            </p:cNvSpPr>
            <p:nvPr/>
          </p:nvSpPr>
          <p:spPr bwMode="gray">
            <a:xfrm>
              <a:off x="1536" y="1899"/>
              <a:ext cx="2736" cy="288"/>
            </a:xfrm>
            <a:prstGeom prst="roundRect">
              <a:avLst>
                <a:gd name="adj" fmla="val 16667"/>
              </a:avLst>
            </a:prstGeom>
            <a:gradFill rotWithShape="1">
              <a:gsLst>
                <a:gs pos="0">
                  <a:schemeClr val="accent1"/>
                </a:gs>
                <a:gs pos="50000">
                  <a:schemeClr val="accent1">
                    <a:gamma/>
                    <a:tint val="21176"/>
                    <a:invGamma/>
                  </a:schemeClr>
                </a:gs>
                <a:gs pos="100000">
                  <a:schemeClr val="accent1"/>
                </a:gs>
              </a:gsLst>
              <a:lin ang="5400000" scaled="1"/>
            </a:gradFill>
            <a:ln w="12700" algn="ctr">
              <a:solidFill>
                <a:schemeClr val="bg1"/>
              </a:solidFill>
              <a:round/>
            </a:ln>
            <a:effectLst/>
          </p:spPr>
          <p:txBody>
            <a:bodyPr wrap="none" anchor="ctr"/>
            <a:lstStyle/>
            <a:p>
              <a:endParaRPr lang="zh-CN" altLang="en-US">
                <a:ea typeface="宋体" panose="02010600030101010101" pitchFamily="2" charset="-122"/>
              </a:endParaRPr>
            </a:p>
          </p:txBody>
        </p:sp>
        <p:sp>
          <p:nvSpPr>
            <p:cNvPr id="4114" name="AutoShape 53"/>
            <p:cNvSpPr>
              <a:spLocks noChangeArrowheads="1"/>
            </p:cNvSpPr>
            <p:nvPr/>
          </p:nvSpPr>
          <p:spPr bwMode="gray">
            <a:xfrm>
              <a:off x="1296" y="1824"/>
              <a:ext cx="432" cy="432"/>
            </a:xfrm>
            <a:prstGeom prst="diamond">
              <a:avLst/>
            </a:prstGeom>
            <a:solidFill>
              <a:schemeClr val="accent1"/>
            </a:solidFill>
            <a:ln w="25400" algn="ctr">
              <a:solidFill>
                <a:schemeClr val="bg1"/>
              </a:solidFill>
              <a:miter lim="800000"/>
            </a:ln>
          </p:spPr>
          <p:txBody>
            <a:bodyPr wrap="none" anchor="ctr"/>
            <a:lstStyle/>
            <a:p>
              <a:endParaRPr lang="zh-CN" altLang="en-US">
                <a:ea typeface="宋体" panose="02010600030101010101" pitchFamily="2" charset="-122"/>
              </a:endParaRPr>
            </a:p>
          </p:txBody>
        </p:sp>
        <p:sp>
          <p:nvSpPr>
            <p:cNvPr id="4115" name="Text Box 54"/>
            <p:cNvSpPr txBox="1">
              <a:spLocks noChangeArrowheads="1"/>
            </p:cNvSpPr>
            <p:nvPr/>
          </p:nvSpPr>
          <p:spPr bwMode="gray">
            <a:xfrm>
              <a:off x="1680" y="1934"/>
              <a:ext cx="2160" cy="2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b="1">
                  <a:solidFill>
                    <a:srgbClr val="000000"/>
                  </a:solidFill>
                  <a:ea typeface="宋体" panose="02010600030101010101" pitchFamily="2" charset="-122"/>
                </a:rPr>
                <a:t>智能客服系统</a:t>
              </a:r>
              <a:r>
                <a:rPr lang="zh-CN" altLang="en-US" b="1">
                  <a:solidFill>
                    <a:srgbClr val="000000"/>
                  </a:solidFill>
                  <a:ea typeface="宋体" panose="02010600030101010101" pitchFamily="2" charset="-122"/>
                </a:rPr>
                <a:t>分析</a:t>
              </a:r>
            </a:p>
          </p:txBody>
        </p:sp>
        <p:sp>
          <p:nvSpPr>
            <p:cNvPr id="4116" name="Text Box 55"/>
            <p:cNvSpPr txBox="1">
              <a:spLocks noChangeArrowheads="1"/>
            </p:cNvSpPr>
            <p:nvPr/>
          </p:nvSpPr>
          <p:spPr bwMode="gray">
            <a:xfrm>
              <a:off x="1393" y="1886"/>
              <a:ext cx="223"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2400">
                  <a:solidFill>
                    <a:schemeClr val="bg1"/>
                  </a:solidFill>
                  <a:ea typeface="宋体" panose="02010600030101010101" pitchFamily="2" charset="-122"/>
                </a:rPr>
                <a:t>2</a:t>
              </a:r>
            </a:p>
          </p:txBody>
        </p:sp>
      </p:grpSp>
      <p:grpSp>
        <p:nvGrpSpPr>
          <p:cNvPr id="4103" name="Group 56"/>
          <p:cNvGrpSpPr/>
          <p:nvPr/>
        </p:nvGrpSpPr>
        <p:grpSpPr bwMode="auto">
          <a:xfrm>
            <a:off x="2133600" y="3222625"/>
            <a:ext cx="4724400" cy="685800"/>
            <a:chOff x="1296" y="1824"/>
            <a:chExt cx="2976" cy="432"/>
          </a:xfrm>
        </p:grpSpPr>
        <p:sp>
          <p:nvSpPr>
            <p:cNvPr id="87097" name="AutoShape 57"/>
            <p:cNvSpPr>
              <a:spLocks noChangeArrowheads="1"/>
            </p:cNvSpPr>
            <p:nvPr/>
          </p:nvSpPr>
          <p:spPr bwMode="gray">
            <a:xfrm>
              <a:off x="1536" y="1899"/>
              <a:ext cx="2736" cy="288"/>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ln>
            <a:effectLst/>
          </p:spPr>
          <p:txBody>
            <a:bodyPr wrap="none" anchor="ctr"/>
            <a:lstStyle/>
            <a:p>
              <a:endParaRPr lang="zh-CN" altLang="en-US">
                <a:ea typeface="宋体" panose="02010600030101010101" pitchFamily="2" charset="-122"/>
              </a:endParaRPr>
            </a:p>
          </p:txBody>
        </p:sp>
        <p:sp>
          <p:nvSpPr>
            <p:cNvPr id="4110" name="AutoShape 58"/>
            <p:cNvSpPr>
              <a:spLocks noChangeArrowheads="1"/>
            </p:cNvSpPr>
            <p:nvPr/>
          </p:nvSpPr>
          <p:spPr bwMode="gray">
            <a:xfrm>
              <a:off x="1296" y="1824"/>
              <a:ext cx="432" cy="432"/>
            </a:xfrm>
            <a:prstGeom prst="diamond">
              <a:avLst/>
            </a:prstGeom>
            <a:solidFill>
              <a:schemeClr val="hlink"/>
            </a:solidFill>
            <a:ln w="25400" algn="ctr">
              <a:solidFill>
                <a:schemeClr val="bg1"/>
              </a:solidFill>
              <a:miter lim="800000"/>
            </a:ln>
          </p:spPr>
          <p:txBody>
            <a:bodyPr wrap="none" anchor="ctr"/>
            <a:lstStyle/>
            <a:p>
              <a:endParaRPr lang="zh-CN" altLang="en-US">
                <a:ea typeface="宋体" panose="02010600030101010101" pitchFamily="2" charset="-122"/>
              </a:endParaRPr>
            </a:p>
          </p:txBody>
        </p:sp>
        <p:sp>
          <p:nvSpPr>
            <p:cNvPr id="4111" name="Text Box 59"/>
            <p:cNvSpPr txBox="1">
              <a:spLocks noChangeArrowheads="1"/>
            </p:cNvSpPr>
            <p:nvPr/>
          </p:nvSpPr>
          <p:spPr bwMode="gray">
            <a:xfrm>
              <a:off x="1680" y="1934"/>
              <a:ext cx="2160" cy="2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b="1">
                  <a:solidFill>
                    <a:srgbClr val="000000"/>
                  </a:solidFill>
                  <a:ea typeface="宋体" panose="02010600030101010101" pitchFamily="2" charset="-122"/>
                </a:rPr>
                <a:t>后台框架设计</a:t>
              </a:r>
            </a:p>
          </p:txBody>
        </p:sp>
        <p:sp>
          <p:nvSpPr>
            <p:cNvPr id="4112" name="Text Box 60"/>
            <p:cNvSpPr txBox="1">
              <a:spLocks noChangeArrowheads="1"/>
            </p:cNvSpPr>
            <p:nvPr/>
          </p:nvSpPr>
          <p:spPr bwMode="gray">
            <a:xfrm>
              <a:off x="1393" y="1886"/>
              <a:ext cx="223"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2400">
                  <a:solidFill>
                    <a:schemeClr val="bg1"/>
                  </a:solidFill>
                  <a:ea typeface="宋体" panose="02010600030101010101" pitchFamily="2" charset="-122"/>
                </a:rPr>
                <a:t>3</a:t>
              </a:r>
            </a:p>
          </p:txBody>
        </p:sp>
      </p:grpSp>
      <p:grpSp>
        <p:nvGrpSpPr>
          <p:cNvPr id="4104" name="Group 61"/>
          <p:cNvGrpSpPr/>
          <p:nvPr/>
        </p:nvGrpSpPr>
        <p:grpSpPr bwMode="auto">
          <a:xfrm>
            <a:off x="2133600" y="4137025"/>
            <a:ext cx="4724400" cy="685800"/>
            <a:chOff x="1296" y="1824"/>
            <a:chExt cx="2976" cy="432"/>
          </a:xfrm>
        </p:grpSpPr>
        <p:sp>
          <p:nvSpPr>
            <p:cNvPr id="87102" name="AutoShape 62"/>
            <p:cNvSpPr>
              <a:spLocks noChangeArrowheads="1"/>
            </p:cNvSpPr>
            <p:nvPr/>
          </p:nvSpPr>
          <p:spPr bwMode="gray">
            <a:xfrm>
              <a:off x="1536" y="1899"/>
              <a:ext cx="2736" cy="288"/>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ln>
            <a:effectLst/>
          </p:spPr>
          <p:txBody>
            <a:bodyPr wrap="none" anchor="ctr"/>
            <a:lstStyle/>
            <a:p>
              <a:endParaRPr lang="zh-CN" altLang="en-US">
                <a:ea typeface="宋体" panose="02010600030101010101" pitchFamily="2" charset="-122"/>
              </a:endParaRPr>
            </a:p>
          </p:txBody>
        </p:sp>
        <p:sp>
          <p:nvSpPr>
            <p:cNvPr id="4106" name="AutoShape 63"/>
            <p:cNvSpPr>
              <a:spLocks noChangeArrowheads="1"/>
            </p:cNvSpPr>
            <p:nvPr/>
          </p:nvSpPr>
          <p:spPr bwMode="gray">
            <a:xfrm>
              <a:off x="1296" y="1824"/>
              <a:ext cx="432" cy="432"/>
            </a:xfrm>
            <a:prstGeom prst="diamond">
              <a:avLst/>
            </a:prstGeom>
            <a:solidFill>
              <a:schemeClr val="folHlink"/>
            </a:solidFill>
            <a:ln w="25400" algn="ctr">
              <a:solidFill>
                <a:schemeClr val="bg1"/>
              </a:solidFill>
              <a:miter lim="800000"/>
            </a:ln>
          </p:spPr>
          <p:txBody>
            <a:bodyPr wrap="none" anchor="ctr"/>
            <a:lstStyle/>
            <a:p>
              <a:endParaRPr lang="zh-CN" altLang="en-US">
                <a:ea typeface="宋体" panose="02010600030101010101" pitchFamily="2" charset="-122"/>
              </a:endParaRPr>
            </a:p>
          </p:txBody>
        </p:sp>
        <p:sp>
          <p:nvSpPr>
            <p:cNvPr id="4107" name="Text Box 64"/>
            <p:cNvSpPr txBox="1">
              <a:spLocks noChangeArrowheads="1"/>
            </p:cNvSpPr>
            <p:nvPr/>
          </p:nvSpPr>
          <p:spPr bwMode="gray">
            <a:xfrm>
              <a:off x="1680" y="1934"/>
              <a:ext cx="2160" cy="2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b="1">
                  <a:solidFill>
                    <a:srgbClr val="000000"/>
                  </a:solidFill>
                  <a:ea typeface="宋体" panose="02010600030101010101" pitchFamily="2" charset="-122"/>
                </a:rPr>
                <a:t>技术关键点</a:t>
              </a:r>
            </a:p>
          </p:txBody>
        </p:sp>
        <p:sp>
          <p:nvSpPr>
            <p:cNvPr id="4108" name="Text Box 65"/>
            <p:cNvSpPr txBox="1">
              <a:spLocks noChangeArrowheads="1"/>
            </p:cNvSpPr>
            <p:nvPr/>
          </p:nvSpPr>
          <p:spPr bwMode="gray">
            <a:xfrm>
              <a:off x="1393" y="1886"/>
              <a:ext cx="223" cy="2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2400">
                  <a:solidFill>
                    <a:schemeClr val="bg1"/>
                  </a:solidFill>
                  <a:ea typeface="宋体" panose="02010600030101010101" pitchFamily="2" charset="-122"/>
                </a:rPr>
                <a:t>4</a:t>
              </a:r>
            </a:p>
          </p:txBody>
        </p:sp>
      </p:grpSp>
      <p:grpSp>
        <p:nvGrpSpPr>
          <p:cNvPr id="3" name="Group 61"/>
          <p:cNvGrpSpPr/>
          <p:nvPr/>
        </p:nvGrpSpPr>
        <p:grpSpPr bwMode="auto">
          <a:xfrm>
            <a:off x="2133600" y="5042535"/>
            <a:ext cx="4724400" cy="685800"/>
            <a:chOff x="1296" y="1824"/>
            <a:chExt cx="2976" cy="432"/>
          </a:xfrm>
        </p:grpSpPr>
        <p:sp>
          <p:nvSpPr>
            <p:cNvPr id="4" name="AutoShape 62"/>
            <p:cNvSpPr>
              <a:spLocks noChangeArrowheads="1"/>
            </p:cNvSpPr>
            <p:nvPr/>
          </p:nvSpPr>
          <p:spPr bwMode="gray">
            <a:xfrm>
              <a:off x="1536" y="1906"/>
              <a:ext cx="2736" cy="288"/>
            </a:xfrm>
            <a:prstGeom prst="roundRect">
              <a:avLst>
                <a:gd name="adj" fmla="val 16667"/>
              </a:avLst>
            </a:prstGeom>
            <a:solidFill>
              <a:schemeClr val="accent1">
                <a:lumMod val="20000"/>
                <a:lumOff val="80000"/>
              </a:schemeClr>
            </a:solidFill>
            <a:ln w="12700" algn="ctr">
              <a:solidFill>
                <a:schemeClr val="bg1"/>
              </a:solidFill>
              <a:round/>
            </a:ln>
            <a:effectLst/>
          </p:spPr>
          <p:txBody>
            <a:bodyPr wrap="none" anchor="ctr"/>
            <a:lstStyle/>
            <a:p>
              <a:endParaRPr lang="zh-CN" altLang="en-US">
                <a:ea typeface="宋体" panose="02010600030101010101" pitchFamily="2" charset="-122"/>
              </a:endParaRPr>
            </a:p>
          </p:txBody>
        </p:sp>
        <p:sp>
          <p:nvSpPr>
            <p:cNvPr id="5" name="AutoShape 63"/>
            <p:cNvSpPr>
              <a:spLocks noChangeArrowheads="1"/>
            </p:cNvSpPr>
            <p:nvPr/>
          </p:nvSpPr>
          <p:spPr bwMode="gray">
            <a:xfrm>
              <a:off x="1296" y="1824"/>
              <a:ext cx="432" cy="432"/>
            </a:xfrm>
            <a:prstGeom prst="diamond">
              <a:avLst/>
            </a:prstGeom>
            <a:solidFill>
              <a:schemeClr val="accent1">
                <a:lumMod val="20000"/>
                <a:lumOff val="80000"/>
              </a:schemeClr>
            </a:solidFill>
            <a:ln w="25400" algn="ctr">
              <a:solidFill>
                <a:schemeClr val="bg1"/>
              </a:solidFill>
              <a:miter lim="800000"/>
            </a:ln>
          </p:spPr>
          <p:txBody>
            <a:bodyPr wrap="none" anchor="ctr"/>
            <a:lstStyle/>
            <a:p>
              <a:endParaRPr lang="zh-CN" altLang="en-US">
                <a:ea typeface="宋体" panose="02010600030101010101" pitchFamily="2" charset="-122"/>
              </a:endParaRPr>
            </a:p>
          </p:txBody>
        </p:sp>
        <p:sp>
          <p:nvSpPr>
            <p:cNvPr id="6" name="Text Box 64"/>
            <p:cNvSpPr txBox="1">
              <a:spLocks noChangeArrowheads="1"/>
            </p:cNvSpPr>
            <p:nvPr/>
          </p:nvSpPr>
          <p:spPr bwMode="gray">
            <a:xfrm>
              <a:off x="1680" y="1934"/>
              <a:ext cx="2160" cy="2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b="1">
                  <a:solidFill>
                    <a:srgbClr val="000000"/>
                  </a:solidFill>
                  <a:ea typeface="宋体" panose="02010600030101010101" pitchFamily="2" charset="-122"/>
                </a:rPr>
                <a:t>未来规划</a:t>
              </a:r>
            </a:p>
          </p:txBody>
        </p:sp>
        <p:sp>
          <p:nvSpPr>
            <p:cNvPr id="7" name="Text Box 65"/>
            <p:cNvSpPr txBox="1">
              <a:spLocks noChangeArrowheads="1"/>
            </p:cNvSpPr>
            <p:nvPr/>
          </p:nvSpPr>
          <p:spPr bwMode="gray">
            <a:xfrm>
              <a:off x="1394" y="1886"/>
              <a:ext cx="222" cy="29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2400">
                  <a:solidFill>
                    <a:schemeClr val="bg1"/>
                  </a:solidFill>
                  <a:ea typeface="宋体" panose="02010600030101010101" pitchFamily="2" charset="-122"/>
                </a:rPr>
                <a:t>5</a:t>
              </a: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pPr>
              <a:defRPr/>
            </a:pPr>
            <a:r>
              <a:rPr lang="en-US" altLang="zh-CN"/>
              <a:t>Company Logo</a:t>
            </a:r>
          </a:p>
        </p:txBody>
      </p:sp>
      <p:sp>
        <p:nvSpPr>
          <p:cNvPr id="5123" name="Rectangle 2"/>
          <p:cNvSpPr>
            <a:spLocks noGrp="1" noChangeArrowheads="1"/>
          </p:cNvSpPr>
          <p:nvPr>
            <p:ph type="title"/>
          </p:nvPr>
        </p:nvSpPr>
        <p:spPr/>
        <p:txBody>
          <a:bodyPr/>
          <a:lstStyle/>
          <a:p>
            <a:pPr eaLnBrk="1" hangingPunct="1"/>
            <a:r>
              <a:rPr lang="en-US" altLang="zh-CN">
                <a:solidFill>
                  <a:srgbClr val="000000"/>
                </a:solidFill>
                <a:ea typeface="宋体" panose="02010600030101010101" pitchFamily="2" charset="-122"/>
                <a:sym typeface="+mn-ea"/>
              </a:rPr>
              <a:t>智能客服需求</a:t>
            </a:r>
            <a:endParaRPr lang="en-US" altLang="zh-CN" smtClean="0">
              <a:ea typeface="宋体" panose="02010600030101010101" pitchFamily="2" charset="-122"/>
            </a:endParaRPr>
          </a:p>
        </p:txBody>
      </p:sp>
      <p:sp>
        <p:nvSpPr>
          <p:cNvPr id="5124" name="Rectangle 3"/>
          <p:cNvSpPr>
            <a:spLocks noGrp="1" noChangeArrowheads="1"/>
          </p:cNvSpPr>
          <p:nvPr>
            <p:ph type="body" idx="1"/>
          </p:nvPr>
        </p:nvSpPr>
        <p:spPr bwMode="black">
          <a:xfrm>
            <a:off x="289560" y="1403350"/>
            <a:ext cx="7546975" cy="4352925"/>
          </a:xfrm>
        </p:spPr>
        <p:txBody>
          <a:bodyPr/>
          <a:lstStyle/>
          <a:p>
            <a:pPr eaLnBrk="1" hangingPunct="1">
              <a:lnSpc>
                <a:spcPct val="90000"/>
              </a:lnSpc>
            </a:pPr>
            <a:endParaRPr lang="en-US" altLang="zh-CN" sz="3200" b="0" smtClean="0">
              <a:ea typeface="宋体" panose="02010600030101010101" pitchFamily="2" charset="-122"/>
            </a:endParaRPr>
          </a:p>
          <a:p>
            <a:pPr marL="457200" lvl="1" indent="0" eaLnBrk="1" hangingPunct="1">
              <a:lnSpc>
                <a:spcPct val="90000"/>
              </a:lnSpc>
              <a:buNone/>
            </a:pPr>
            <a:r>
              <a:rPr lang="en-US" altLang="zh-CN" smtClean="0">
                <a:solidFill>
                  <a:schemeClr val="tx2"/>
                </a:solidFill>
                <a:latin typeface="Arial" panose="020B0604020202020204" pitchFamily="34" charset="0"/>
                <a:ea typeface="宋体" panose="02010600030101010101" pitchFamily="2" charset="-122"/>
              </a:rPr>
              <a:t>	</a:t>
            </a:r>
            <a:r>
              <a:rPr lang="en-US" altLang="zh-CN" sz="2000" smtClean="0">
                <a:solidFill>
                  <a:schemeClr val="tx2"/>
                </a:solidFill>
                <a:latin typeface="Arial" panose="020B0604020202020204" pitchFamily="34" charset="0"/>
                <a:ea typeface="宋体" panose="02010600030101010101" pitchFamily="2" charset="-122"/>
              </a:rPr>
              <a:t>智能客服是在大规模知识处理基础上发展起来的一项面向行业应用的，它是（大规模知识处理技术、知识管理技术、自动问答系统、推荐技术等等），具有行业通用性，不仅为企业提供了细粒度知识管理技术，还为企业与海量用户之间的沟通建立了一种快捷有效的技术手段；同时还能够为企业提供精细化管理所需的统计分析信息。 </a:t>
            </a:r>
          </a:p>
          <a:p>
            <a:pPr marL="457200" lvl="1" indent="0" eaLnBrk="1" hangingPunct="1">
              <a:lnSpc>
                <a:spcPct val="90000"/>
              </a:lnSpc>
              <a:buNone/>
            </a:pPr>
            <a:r>
              <a:rPr lang="en-US" altLang="zh-CN" sz="2000" smtClean="0">
                <a:solidFill>
                  <a:schemeClr val="tx2"/>
                </a:solidFill>
                <a:latin typeface="Arial" panose="020B0604020202020204" pitchFamily="34" charset="0"/>
                <a:ea typeface="宋体" panose="02010600030101010101" pitchFamily="2" charset="-122"/>
              </a:rPr>
              <a:t>	</a:t>
            </a:r>
            <a:r>
              <a:rPr lang="zh-CN" altLang="en-US" sz="2000" smtClean="0">
                <a:solidFill>
                  <a:schemeClr val="tx2"/>
                </a:solidFill>
                <a:latin typeface="Arial" panose="020B0604020202020204" pitchFamily="34" charset="0"/>
                <a:ea typeface="宋体" panose="02010600030101010101" pitchFamily="2" charset="-122"/>
              </a:rPr>
              <a:t>目前客服系统支持多个应用的快捷接入，对于网页版</a:t>
            </a:r>
            <a:r>
              <a:rPr lang="en-US" altLang="zh-CN" sz="2000" smtClean="0">
                <a:solidFill>
                  <a:schemeClr val="tx2"/>
                </a:solidFill>
                <a:latin typeface="Arial" panose="020B0604020202020204" pitchFamily="34" charset="0"/>
                <a:ea typeface="宋体" panose="02010600030101010101" pitchFamily="2" charset="-122"/>
              </a:rPr>
              <a:t>(</a:t>
            </a:r>
            <a:r>
              <a:rPr lang="zh-CN" altLang="en-US" sz="2000" smtClean="0">
                <a:solidFill>
                  <a:schemeClr val="tx2"/>
                </a:solidFill>
                <a:latin typeface="Arial" panose="020B0604020202020204" pitchFamily="34" charset="0"/>
                <a:ea typeface="宋体" panose="02010600030101010101" pitchFamily="2" charset="-122"/>
              </a:rPr>
              <a:t>传统网页、手机</a:t>
            </a:r>
            <a:r>
              <a:rPr lang="en-US" altLang="zh-CN" sz="2000" smtClean="0">
                <a:solidFill>
                  <a:schemeClr val="tx2"/>
                </a:solidFill>
                <a:latin typeface="Arial" panose="020B0604020202020204" pitchFamily="34" charset="0"/>
                <a:ea typeface="宋体" panose="02010600030101010101" pitchFamily="2" charset="-122"/>
              </a:rPr>
              <a:t>h5</a:t>
            </a:r>
            <a:r>
              <a:rPr lang="zh-CN" altLang="en-US" sz="2000" smtClean="0">
                <a:solidFill>
                  <a:schemeClr val="tx2"/>
                </a:solidFill>
                <a:latin typeface="Arial" panose="020B0604020202020204" pitchFamily="34" charset="0"/>
                <a:ea typeface="宋体" panose="02010600030101010101" pitchFamily="2" charset="-122"/>
              </a:rPr>
              <a:t>页面</a:t>
            </a:r>
            <a:r>
              <a:rPr lang="en-US" altLang="zh-CN" sz="2000" smtClean="0">
                <a:solidFill>
                  <a:schemeClr val="tx2"/>
                </a:solidFill>
                <a:latin typeface="Arial" panose="020B0604020202020204" pitchFamily="34" charset="0"/>
                <a:ea typeface="宋体" panose="02010600030101010101" pitchFamily="2" charset="-122"/>
              </a:rPr>
              <a:t>)</a:t>
            </a:r>
            <a:r>
              <a:rPr lang="zh-CN" altLang="en-US" sz="2000" smtClean="0">
                <a:solidFill>
                  <a:schemeClr val="tx2"/>
                </a:solidFill>
                <a:latin typeface="Arial" panose="020B0604020202020204" pitchFamily="34" charset="0"/>
                <a:ea typeface="宋体" panose="02010600030101010101" pitchFamily="2" charset="-122"/>
              </a:rPr>
              <a:t>，只要跳转到后台</a:t>
            </a:r>
            <a:r>
              <a:rPr lang="en-US" altLang="zh-CN" sz="2000" smtClean="0">
                <a:solidFill>
                  <a:schemeClr val="tx2"/>
                </a:solidFill>
                <a:latin typeface="Arial" panose="020B0604020202020204" pitchFamily="34" charset="0"/>
                <a:ea typeface="宋体" panose="02010600030101010101" pitchFamily="2" charset="-122"/>
              </a:rPr>
              <a:t>web</a:t>
            </a:r>
            <a:r>
              <a:rPr lang="zh-CN" altLang="en-US" sz="2000" smtClean="0">
                <a:solidFill>
                  <a:schemeClr val="tx2"/>
                </a:solidFill>
                <a:latin typeface="Arial" panose="020B0604020202020204" pitchFamily="34" charset="0"/>
                <a:ea typeface="宋体" panose="02010600030101010101" pitchFamily="2" charset="-122"/>
              </a:rPr>
              <a:t>服务可无缝接入；对</a:t>
            </a:r>
            <a:r>
              <a:rPr lang="en-US" altLang="zh-CN" sz="2000" smtClean="0">
                <a:solidFill>
                  <a:schemeClr val="tx2"/>
                </a:solidFill>
                <a:latin typeface="Arial" panose="020B0604020202020204" pitchFamily="34" charset="0"/>
                <a:ea typeface="宋体" panose="02010600030101010101" pitchFamily="2" charset="-122"/>
              </a:rPr>
              <a:t>app</a:t>
            </a:r>
            <a:r>
              <a:rPr lang="zh-CN" altLang="en-US" sz="2000" smtClean="0">
                <a:solidFill>
                  <a:schemeClr val="tx2"/>
                </a:solidFill>
                <a:latin typeface="Arial" panose="020B0604020202020204" pitchFamily="34" charset="0"/>
                <a:ea typeface="宋体" panose="02010600030101010101" pitchFamily="2" charset="-122"/>
              </a:rPr>
              <a:t>端等提供访问</a:t>
            </a:r>
            <a:r>
              <a:rPr lang="en-US" altLang="zh-CN" sz="2000" smtClean="0">
                <a:solidFill>
                  <a:schemeClr val="tx2"/>
                </a:solidFill>
                <a:latin typeface="Arial" panose="020B0604020202020204" pitchFamily="34" charset="0"/>
                <a:ea typeface="宋体" panose="02010600030101010101" pitchFamily="2" charset="-122"/>
              </a:rPr>
              <a:t>api</a:t>
            </a:r>
            <a:r>
              <a:rPr lang="zh-CN" altLang="en-US" sz="2000" smtClean="0">
                <a:solidFill>
                  <a:schemeClr val="tx2"/>
                </a:solidFill>
                <a:latin typeface="Arial" panose="020B0604020202020204" pitchFamily="34" charset="0"/>
                <a:ea typeface="宋体" panose="02010600030101010101" pitchFamily="2" charset="-122"/>
              </a:rPr>
              <a:t>，包括支持</a:t>
            </a:r>
            <a:r>
              <a:rPr lang="zh-CN" altLang="en-US" sz="2000" smtClean="0">
                <a:solidFill>
                  <a:schemeClr val="tx2"/>
                </a:solidFill>
                <a:ea typeface="宋体" panose="02010600030101010101" pitchFamily="2" charset="-122"/>
                <a:sym typeface="+mn-ea"/>
              </a:rPr>
              <a:t>自定义</a:t>
            </a:r>
            <a:r>
              <a:rPr lang="en-US" altLang="zh-CN" sz="2000" smtClean="0">
                <a:solidFill>
                  <a:schemeClr val="tx2"/>
                </a:solidFill>
                <a:ea typeface="宋体" panose="02010600030101010101" pitchFamily="2" charset="-122"/>
                <a:sym typeface="+mn-ea"/>
              </a:rPr>
              <a:t>pb</a:t>
            </a:r>
            <a:r>
              <a:rPr lang="zh-CN" altLang="en-US" sz="2000" smtClean="0">
                <a:solidFill>
                  <a:schemeClr val="tx2"/>
                </a:solidFill>
                <a:ea typeface="宋体" panose="02010600030101010101" pitchFamily="2" charset="-122"/>
                <a:sym typeface="+mn-ea"/>
              </a:rPr>
              <a:t>协议、</a:t>
            </a:r>
            <a:r>
              <a:rPr lang="en-US" altLang="zh-CN" sz="2000" smtClean="0">
                <a:solidFill>
                  <a:schemeClr val="tx2"/>
                </a:solidFill>
                <a:ea typeface="宋体" panose="02010600030101010101" pitchFamily="2" charset="-122"/>
                <a:sym typeface="+mn-ea"/>
              </a:rPr>
              <a:t>websocket</a:t>
            </a:r>
            <a:r>
              <a:rPr lang="zh-CN" altLang="en-US" sz="2000" smtClean="0">
                <a:solidFill>
                  <a:schemeClr val="tx2"/>
                </a:solidFill>
                <a:ea typeface="宋体" panose="02010600030101010101" pitchFamily="2" charset="-122"/>
                <a:sym typeface="+mn-ea"/>
              </a:rPr>
              <a:t>协议和</a:t>
            </a:r>
            <a:r>
              <a:rPr lang="en-US" altLang="zh-CN" sz="2000" smtClean="0">
                <a:solidFill>
                  <a:schemeClr val="tx2"/>
                </a:solidFill>
                <a:ea typeface="宋体" panose="02010600030101010101" pitchFamily="2" charset="-122"/>
                <a:sym typeface="+mn-ea"/>
              </a:rPr>
              <a:t>http</a:t>
            </a:r>
            <a:r>
              <a:rPr lang="zh-CN" altLang="en-US" sz="2000" smtClean="0">
                <a:solidFill>
                  <a:schemeClr val="tx2"/>
                </a:solidFill>
                <a:ea typeface="宋体" panose="02010600030101010101" pitchFamily="2" charset="-122"/>
                <a:sym typeface="+mn-ea"/>
              </a:rPr>
              <a:t>协议等。</a:t>
            </a:r>
          </a:p>
          <a:p>
            <a:pPr marL="457200" lvl="1" indent="0" eaLnBrk="1" hangingPunct="1">
              <a:lnSpc>
                <a:spcPct val="90000"/>
              </a:lnSpc>
              <a:buNone/>
            </a:pPr>
            <a:r>
              <a:rPr lang="en-US" altLang="zh-CN" sz="2000" smtClean="0">
                <a:solidFill>
                  <a:schemeClr val="tx2"/>
                </a:solidFill>
                <a:ea typeface="宋体" panose="02010600030101010101" pitchFamily="2" charset="-122"/>
                <a:sym typeface="+mn-ea"/>
              </a:rPr>
              <a:t>	</a:t>
            </a:r>
            <a:r>
              <a:rPr lang="zh-CN" altLang="en-US" sz="2000" smtClean="0">
                <a:solidFill>
                  <a:schemeClr val="tx2"/>
                </a:solidFill>
                <a:ea typeface="宋体" panose="02010600030101010101" pitchFamily="2" charset="-122"/>
                <a:sym typeface="+mn-ea"/>
              </a:rPr>
              <a:t>客服系统的机器人需要闲聊库、专业知识库，并需要不断学习拓展，以支撑智能服务。</a:t>
            </a:r>
            <a:endParaRPr lang="en-US" altLang="zh-CN" sz="2000" smtClean="0">
              <a:solidFill>
                <a:schemeClr val="tx2"/>
              </a:solidFill>
              <a:latin typeface="Arial" panose="020B0604020202020204" pitchFamily="34" charset="0"/>
              <a:ea typeface="宋体" panose="02010600030101010101" pitchFamily="2" charset="-122"/>
              <a:sym typeface="+mn-ea"/>
            </a:endParaRPr>
          </a:p>
          <a:p>
            <a:pPr marL="457200" lvl="1" indent="0" eaLnBrk="1" hangingPunct="1">
              <a:lnSpc>
                <a:spcPct val="90000"/>
              </a:lnSpc>
              <a:buNone/>
            </a:pPr>
            <a:endParaRPr lang="zh-CN" altLang="en-US" sz="2000" smtClean="0">
              <a:solidFill>
                <a:schemeClr val="tx2"/>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页脚占位符 4"/>
          <p:cNvSpPr>
            <a:spLocks noGrp="1"/>
          </p:cNvSpPr>
          <p:nvPr>
            <p:ph type="ftr" sz="quarter" idx="11"/>
          </p:nvPr>
        </p:nvSpPr>
        <p:spPr/>
        <p:txBody>
          <a:bodyPr/>
          <a:lstStyle/>
          <a:p>
            <a:pPr>
              <a:defRPr/>
            </a:pPr>
            <a:r>
              <a:rPr lang="en-US" altLang="zh-CN"/>
              <a:t>Company Logo</a:t>
            </a:r>
          </a:p>
        </p:txBody>
      </p:sp>
      <p:sp>
        <p:nvSpPr>
          <p:cNvPr id="6147" name="Rectangle 2"/>
          <p:cNvSpPr>
            <a:spLocks noGrp="1" noChangeArrowheads="1"/>
          </p:cNvSpPr>
          <p:nvPr>
            <p:ph type="title"/>
          </p:nvPr>
        </p:nvSpPr>
        <p:spPr/>
        <p:txBody>
          <a:bodyPr/>
          <a:lstStyle/>
          <a:p>
            <a:pPr eaLnBrk="1" hangingPunct="1"/>
            <a:r>
              <a:rPr lang="en-US" altLang="zh-CN" sz="3600">
                <a:solidFill>
                  <a:srgbClr val="000000"/>
                </a:solidFill>
                <a:ea typeface="宋体" panose="02010600030101010101" pitchFamily="2" charset="-122"/>
                <a:sym typeface="+mn-ea"/>
              </a:rPr>
              <a:t>智能客服</a:t>
            </a:r>
            <a:r>
              <a:rPr lang="zh-CN" altLang="en-US" sz="3600">
                <a:solidFill>
                  <a:srgbClr val="000000"/>
                </a:solidFill>
                <a:ea typeface="宋体" panose="02010600030101010101" pitchFamily="2" charset="-122"/>
                <a:sym typeface="+mn-ea"/>
              </a:rPr>
              <a:t>系统分析</a:t>
            </a:r>
            <a:endParaRPr lang="zh-CN" altLang="en-US" sz="3600" smtClean="0">
              <a:solidFill>
                <a:srgbClr val="000000"/>
              </a:solidFill>
              <a:ea typeface="宋体" panose="02010600030101010101" pitchFamily="2" charset="-122"/>
              <a:sym typeface="+mn-ea"/>
            </a:endParaRPr>
          </a:p>
        </p:txBody>
      </p:sp>
      <p:sp>
        <p:nvSpPr>
          <p:cNvPr id="6148" name="AutoShape 3"/>
          <p:cNvSpPr>
            <a:spLocks noChangeArrowheads="1"/>
          </p:cNvSpPr>
          <p:nvPr/>
        </p:nvSpPr>
        <p:spPr bwMode="auto">
          <a:xfrm>
            <a:off x="5562600" y="3171825"/>
            <a:ext cx="2286000" cy="3160395"/>
          </a:xfrm>
          <a:prstGeom prst="roundRect">
            <a:avLst>
              <a:gd name="adj" fmla="val 16667"/>
            </a:avLst>
          </a:prstGeom>
          <a:noFill/>
          <a:ln w="38100">
            <a:solidFill>
              <a:schemeClr val="tx1"/>
            </a:solidFill>
            <a:round/>
          </a:ln>
          <a:extLst>
            <a:ext uri="{909E8E84-426E-40DD-AFC4-6F175D3DCCD1}">
              <a14:hiddenFill xmlns="" xmlns:a14="http://schemas.microsoft.com/office/drawing/2010/main">
                <a:solidFill>
                  <a:srgbClr val="FFFFFF"/>
                </a:solidFill>
              </a14:hiddenFill>
            </a:ext>
          </a:extLst>
        </p:spPr>
        <p:txBody>
          <a:bodyPr wrap="none" anchor="ctr"/>
          <a:lstStyle/>
          <a:p>
            <a:pPr algn="ctr" eaLnBrk="0" hangingPunct="0"/>
            <a:endParaRPr lang="zh-CN" altLang="zh-CN">
              <a:latin typeface="Verdana" panose="020B0604030504040204" pitchFamily="34" charset="0"/>
              <a:ea typeface="宋体" panose="02010600030101010101" pitchFamily="2" charset="-122"/>
            </a:endParaRPr>
          </a:p>
        </p:txBody>
      </p:sp>
      <p:sp>
        <p:nvSpPr>
          <p:cNvPr id="6149" name="AutoShape 5"/>
          <p:cNvSpPr>
            <a:spLocks noChangeArrowheads="1"/>
          </p:cNvSpPr>
          <p:nvPr/>
        </p:nvSpPr>
        <p:spPr bwMode="auto">
          <a:xfrm>
            <a:off x="1143000" y="3171825"/>
            <a:ext cx="2286000" cy="3094990"/>
          </a:xfrm>
          <a:prstGeom prst="roundRect">
            <a:avLst>
              <a:gd name="adj" fmla="val 16667"/>
            </a:avLst>
          </a:prstGeom>
          <a:noFill/>
          <a:ln w="38100">
            <a:solidFill>
              <a:schemeClr val="tx1"/>
            </a:solidFill>
            <a:round/>
          </a:ln>
          <a:extLst>
            <a:ext uri="{909E8E84-426E-40DD-AFC4-6F175D3DCCD1}">
              <a14:hiddenFill xmlns="" xmlns:a14="http://schemas.microsoft.com/office/drawing/2010/main">
                <a:solidFill>
                  <a:srgbClr val="FFFFFF"/>
                </a:solidFill>
              </a14:hiddenFill>
            </a:ext>
          </a:extLst>
        </p:spPr>
        <p:txBody>
          <a:bodyPr wrap="none" anchor="ctr"/>
          <a:lstStyle/>
          <a:p>
            <a:pPr algn="ctr" eaLnBrk="0" hangingPunct="0"/>
            <a:endParaRPr lang="zh-CN" altLang="zh-CN">
              <a:latin typeface="Verdana" panose="020B0604030504040204" pitchFamily="34" charset="0"/>
              <a:ea typeface="宋体" panose="02010600030101010101" pitchFamily="2" charset="-122"/>
            </a:endParaRPr>
          </a:p>
        </p:txBody>
      </p:sp>
      <p:sp>
        <p:nvSpPr>
          <p:cNvPr id="6150" name="Text Box 6"/>
          <p:cNvSpPr txBox="1">
            <a:spLocks noChangeArrowheads="1"/>
          </p:cNvSpPr>
          <p:nvPr/>
        </p:nvSpPr>
        <p:spPr bwMode="auto">
          <a:xfrm>
            <a:off x="5778500" y="3436620"/>
            <a:ext cx="2038350" cy="368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a:solidFill>
                  <a:srgbClr val="000000"/>
                </a:solidFill>
                <a:ea typeface="宋体" panose="02010600030101010101" pitchFamily="2" charset="-122"/>
              </a:rPr>
              <a:t>人工客服</a:t>
            </a:r>
          </a:p>
        </p:txBody>
      </p:sp>
      <p:sp>
        <p:nvSpPr>
          <p:cNvPr id="69639" name="Freeform 7"/>
          <p:cNvSpPr/>
          <p:nvPr/>
        </p:nvSpPr>
        <p:spPr bwMode="gray">
          <a:xfrm>
            <a:off x="3222625" y="3074988"/>
            <a:ext cx="903288" cy="1241425"/>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accent2"/>
              </a:gs>
              <a:gs pos="100000">
                <a:schemeClr val="accent2">
                  <a:gamma/>
                  <a:tint val="63529"/>
                  <a:invGamma/>
                </a:schemeClr>
              </a:gs>
            </a:gsLst>
            <a:lin ang="0" scaled="1"/>
          </a:gradFill>
          <a:ln w="0">
            <a:noFill/>
            <a:prstDash val="solid"/>
            <a:round/>
          </a:ln>
        </p:spPr>
        <p:txBody>
          <a:bodyPr/>
          <a:lstStyle/>
          <a:p>
            <a:endParaRPr lang="zh-CN" altLang="en-US">
              <a:ea typeface="宋体" panose="02010600030101010101" pitchFamily="2" charset="-122"/>
            </a:endParaRPr>
          </a:p>
        </p:txBody>
      </p:sp>
      <p:sp>
        <p:nvSpPr>
          <p:cNvPr id="6152" name="AutoShape 8"/>
          <p:cNvSpPr>
            <a:spLocks noChangeAspect="1" noChangeArrowheads="1" noTextEdit="1"/>
          </p:cNvSpPr>
          <p:nvPr/>
        </p:nvSpPr>
        <p:spPr bwMode="gray">
          <a:xfrm flipH="1">
            <a:off x="4868863" y="3071813"/>
            <a:ext cx="909637" cy="1244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zh-CN" altLang="en-US"/>
          </a:p>
        </p:txBody>
      </p:sp>
      <p:sp>
        <p:nvSpPr>
          <p:cNvPr id="69641" name="Freeform 9"/>
          <p:cNvSpPr/>
          <p:nvPr/>
        </p:nvSpPr>
        <p:spPr bwMode="gray">
          <a:xfrm flipH="1">
            <a:off x="4875213" y="3074988"/>
            <a:ext cx="903287" cy="1241425"/>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hlink"/>
              </a:gs>
              <a:gs pos="100000">
                <a:schemeClr val="hlink">
                  <a:gamma/>
                  <a:tint val="31765"/>
                  <a:invGamma/>
                </a:schemeClr>
              </a:gs>
            </a:gsLst>
            <a:lin ang="0" scaled="1"/>
          </a:gradFill>
          <a:ln w="0">
            <a:noFill/>
            <a:prstDash val="solid"/>
            <a:round/>
          </a:ln>
        </p:spPr>
        <p:txBody>
          <a:bodyPr/>
          <a:lstStyle/>
          <a:p>
            <a:endParaRPr lang="zh-CN" altLang="en-US">
              <a:ea typeface="宋体" panose="02010600030101010101" pitchFamily="2" charset="-122"/>
            </a:endParaRPr>
          </a:p>
        </p:txBody>
      </p:sp>
      <p:grpSp>
        <p:nvGrpSpPr>
          <p:cNvPr id="6154" name="Group 10"/>
          <p:cNvGrpSpPr/>
          <p:nvPr/>
        </p:nvGrpSpPr>
        <p:grpSpPr bwMode="auto">
          <a:xfrm>
            <a:off x="3048000" y="1447800"/>
            <a:ext cx="2998788" cy="1601788"/>
            <a:chOff x="1997" y="1314"/>
            <a:chExt cx="1889" cy="1009"/>
          </a:xfrm>
        </p:grpSpPr>
        <p:grpSp>
          <p:nvGrpSpPr>
            <p:cNvPr id="6157" name="Group 11"/>
            <p:cNvGrpSpPr/>
            <p:nvPr/>
          </p:nvGrpSpPr>
          <p:grpSpPr bwMode="auto">
            <a:xfrm>
              <a:off x="1997" y="1404"/>
              <a:ext cx="1889" cy="919"/>
              <a:chOff x="1973" y="1027"/>
              <a:chExt cx="1926" cy="937"/>
            </a:xfrm>
          </p:grpSpPr>
          <p:sp>
            <p:nvSpPr>
              <p:cNvPr id="69644" name="Oval 12"/>
              <p:cNvSpPr>
                <a:spLocks noChangeArrowheads="1"/>
              </p:cNvSpPr>
              <p:nvPr/>
            </p:nvSpPr>
            <p:spPr bwMode="gray">
              <a:xfrm>
                <a:off x="1994" y="1057"/>
                <a:ext cx="1905" cy="907"/>
              </a:xfrm>
              <a:prstGeom prst="ellipse">
                <a:avLst/>
              </a:prstGeom>
              <a:gradFill rotWithShape="1">
                <a:gsLst>
                  <a:gs pos="0">
                    <a:schemeClr val="hlink"/>
                  </a:gs>
                  <a:gs pos="100000">
                    <a:schemeClr val="hlink">
                      <a:gamma/>
                      <a:shade val="48627"/>
                      <a:invGamma/>
                    </a:schemeClr>
                  </a:gs>
                </a:gsLst>
                <a:lin ang="2700000" scaled="1"/>
              </a:gradFill>
              <a:ln w="9525">
                <a:noFill/>
                <a:round/>
              </a:ln>
              <a:effectLst/>
            </p:spPr>
            <p:txBody>
              <a:bodyPr wrap="none" anchor="ctr"/>
              <a:lstStyle/>
              <a:p>
                <a:endParaRPr lang="zh-CN" altLang="en-US">
                  <a:ea typeface="宋体" panose="02010600030101010101" pitchFamily="2" charset="-122"/>
                </a:endParaRPr>
              </a:p>
            </p:txBody>
          </p:sp>
          <p:sp>
            <p:nvSpPr>
              <p:cNvPr id="69645" name="Oval 13"/>
              <p:cNvSpPr>
                <a:spLocks noChangeArrowheads="1"/>
              </p:cNvSpPr>
              <p:nvPr/>
            </p:nvSpPr>
            <p:spPr bwMode="gray">
              <a:xfrm>
                <a:off x="1973" y="1027"/>
                <a:ext cx="1905" cy="907"/>
              </a:xfrm>
              <a:prstGeom prst="ellipse">
                <a:avLst/>
              </a:prstGeom>
              <a:gradFill rotWithShape="1">
                <a:gsLst>
                  <a:gs pos="0">
                    <a:schemeClr val="hlink">
                      <a:gamma/>
                      <a:tint val="44314"/>
                      <a:invGamma/>
                    </a:schemeClr>
                  </a:gs>
                  <a:gs pos="100000">
                    <a:schemeClr val="hlink"/>
                  </a:gs>
                </a:gsLst>
                <a:lin ang="2700000" scaled="1"/>
              </a:gradFill>
              <a:ln w="9525">
                <a:noFill/>
                <a:round/>
              </a:ln>
              <a:effectLst/>
            </p:spPr>
            <p:txBody>
              <a:bodyPr wrap="none" anchor="ctr"/>
              <a:lstStyle/>
              <a:p>
                <a:endParaRPr lang="zh-CN" altLang="en-US">
                  <a:ea typeface="宋体" panose="02010600030101010101" pitchFamily="2" charset="-122"/>
                </a:endParaRPr>
              </a:p>
            </p:txBody>
          </p:sp>
        </p:grpSp>
        <p:sp>
          <p:nvSpPr>
            <p:cNvPr id="69646" name="Oval 14"/>
            <p:cNvSpPr>
              <a:spLocks noChangeArrowheads="1"/>
            </p:cNvSpPr>
            <p:nvPr/>
          </p:nvSpPr>
          <p:spPr bwMode="gray">
            <a:xfrm>
              <a:off x="2086" y="1314"/>
              <a:ext cx="1691" cy="845"/>
            </a:xfrm>
            <a:prstGeom prst="ellipse">
              <a:avLst/>
            </a:prstGeom>
            <a:gradFill rotWithShape="1">
              <a:gsLst>
                <a:gs pos="0">
                  <a:schemeClr val="accent1">
                    <a:gamma/>
                    <a:shade val="46275"/>
                    <a:invGamma/>
                  </a:schemeClr>
                </a:gs>
                <a:gs pos="100000">
                  <a:schemeClr val="accent1"/>
                </a:gs>
              </a:gsLst>
              <a:lin ang="2700000" scaled="1"/>
            </a:gradFill>
            <a:ln w="9525" algn="ctr">
              <a:noFill/>
              <a:round/>
            </a:ln>
            <a:effectLst/>
          </p:spPr>
          <p:txBody>
            <a:bodyPr vert="eaVert" wrap="none" anchor="ctr"/>
            <a:lstStyle/>
            <a:p>
              <a:endParaRPr lang="zh-CN" altLang="en-US">
                <a:ea typeface="宋体" panose="02010600030101010101" pitchFamily="2" charset="-122"/>
              </a:endParaRPr>
            </a:p>
          </p:txBody>
        </p:sp>
        <p:sp>
          <p:nvSpPr>
            <p:cNvPr id="69647" name="Oval 15"/>
            <p:cNvSpPr>
              <a:spLocks noChangeArrowheads="1"/>
            </p:cNvSpPr>
            <p:nvPr/>
          </p:nvSpPr>
          <p:spPr bwMode="gray">
            <a:xfrm>
              <a:off x="2108" y="1319"/>
              <a:ext cx="1650" cy="824"/>
            </a:xfrm>
            <a:prstGeom prst="ellipse">
              <a:avLst/>
            </a:prstGeom>
            <a:gradFill rotWithShape="1">
              <a:gsLst>
                <a:gs pos="0">
                  <a:schemeClr val="accent1">
                    <a:alpha val="0"/>
                  </a:schemeClr>
                </a:gs>
                <a:gs pos="100000">
                  <a:schemeClr val="accent1">
                    <a:gamma/>
                    <a:tint val="34902"/>
                    <a:invGamma/>
                  </a:schemeClr>
                </a:gs>
              </a:gsLst>
              <a:lin ang="2700000" scaled="1"/>
            </a:gradFill>
            <a:ln w="9525" algn="ctr">
              <a:noFill/>
              <a:round/>
            </a:ln>
            <a:effectLst/>
          </p:spPr>
          <p:txBody>
            <a:bodyPr vert="eaVert" wrap="none" anchor="ctr"/>
            <a:lstStyle/>
            <a:p>
              <a:endParaRPr lang="zh-CN" altLang="en-US">
                <a:ea typeface="宋体" panose="02010600030101010101" pitchFamily="2" charset="-122"/>
              </a:endParaRPr>
            </a:p>
          </p:txBody>
        </p:sp>
        <p:sp>
          <p:nvSpPr>
            <p:cNvPr id="69648" name="Oval 16"/>
            <p:cNvSpPr>
              <a:spLocks noChangeArrowheads="1"/>
            </p:cNvSpPr>
            <p:nvPr/>
          </p:nvSpPr>
          <p:spPr bwMode="gray">
            <a:xfrm>
              <a:off x="2125" y="1327"/>
              <a:ext cx="1570" cy="770"/>
            </a:xfrm>
            <a:prstGeom prst="ellipse">
              <a:avLst/>
            </a:prstGeom>
            <a:gradFill rotWithShape="1">
              <a:gsLst>
                <a:gs pos="0">
                  <a:schemeClr val="accent1">
                    <a:gamma/>
                    <a:shade val="79216"/>
                    <a:invGamma/>
                  </a:schemeClr>
                </a:gs>
                <a:gs pos="100000">
                  <a:schemeClr val="accent1">
                    <a:alpha val="48000"/>
                  </a:schemeClr>
                </a:gs>
              </a:gsLst>
              <a:lin ang="2700000" scaled="1"/>
            </a:gradFill>
            <a:ln w="9525" algn="ctr">
              <a:noFill/>
              <a:round/>
            </a:ln>
            <a:effectLst/>
          </p:spPr>
          <p:txBody>
            <a:bodyPr vert="eaVert" wrap="none" anchor="ctr"/>
            <a:lstStyle/>
            <a:p>
              <a:endParaRPr lang="zh-CN" altLang="en-US">
                <a:ea typeface="宋体" panose="02010600030101010101" pitchFamily="2" charset="-122"/>
              </a:endParaRPr>
            </a:p>
          </p:txBody>
        </p:sp>
        <p:sp>
          <p:nvSpPr>
            <p:cNvPr id="69649" name="Oval 17"/>
            <p:cNvSpPr>
              <a:spLocks noChangeArrowheads="1"/>
            </p:cNvSpPr>
            <p:nvPr/>
          </p:nvSpPr>
          <p:spPr bwMode="gray">
            <a:xfrm>
              <a:off x="2208" y="1344"/>
              <a:ext cx="1382" cy="624"/>
            </a:xfrm>
            <a:prstGeom prst="ellipse">
              <a:avLst/>
            </a:prstGeom>
            <a:gradFill rotWithShape="1">
              <a:gsLst>
                <a:gs pos="0">
                  <a:schemeClr val="accent1">
                    <a:gamma/>
                    <a:tint val="0"/>
                    <a:invGamma/>
                  </a:schemeClr>
                </a:gs>
                <a:gs pos="100000">
                  <a:schemeClr val="accent1">
                    <a:alpha val="38000"/>
                  </a:schemeClr>
                </a:gs>
              </a:gsLst>
              <a:lin ang="2700000" scaled="1"/>
            </a:gradFill>
            <a:ln w="9525" algn="ctr">
              <a:noFill/>
              <a:round/>
            </a:ln>
            <a:effectLst/>
          </p:spPr>
          <p:txBody>
            <a:bodyPr vert="eaVert" wrap="none" anchor="ctr"/>
            <a:lstStyle/>
            <a:p>
              <a:endParaRPr lang="zh-CN" altLang="en-US">
                <a:ea typeface="宋体" panose="02010600030101010101" pitchFamily="2" charset="-122"/>
              </a:endParaRPr>
            </a:p>
          </p:txBody>
        </p:sp>
      </p:grpSp>
      <p:sp>
        <p:nvSpPr>
          <p:cNvPr id="6155" name="Text Box 18"/>
          <p:cNvSpPr txBox="1">
            <a:spLocks noChangeArrowheads="1"/>
          </p:cNvSpPr>
          <p:nvPr/>
        </p:nvSpPr>
        <p:spPr bwMode="auto">
          <a:xfrm>
            <a:off x="3799523" y="1647825"/>
            <a:ext cx="1402080" cy="4603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zh-CN" sz="2400">
                <a:solidFill>
                  <a:srgbClr val="000000"/>
                </a:solidFill>
                <a:ea typeface="宋体" panose="02010600030101010101" pitchFamily="2" charset="-122"/>
                <a:sym typeface="+mn-ea"/>
              </a:rPr>
              <a:t>智能客服</a:t>
            </a:r>
            <a:endParaRPr lang="en-US" altLang="zh-CN" sz="1400">
              <a:solidFill>
                <a:srgbClr val="000000"/>
              </a:solidFill>
              <a:ea typeface="宋体" panose="02010600030101010101" pitchFamily="2" charset="-122"/>
            </a:endParaRPr>
          </a:p>
        </p:txBody>
      </p:sp>
      <p:sp>
        <p:nvSpPr>
          <p:cNvPr id="6156" name="Text Box 19"/>
          <p:cNvSpPr txBox="1">
            <a:spLocks noChangeArrowheads="1"/>
          </p:cNvSpPr>
          <p:nvPr/>
        </p:nvSpPr>
        <p:spPr bwMode="auto">
          <a:xfrm>
            <a:off x="1247140" y="3436620"/>
            <a:ext cx="2038350" cy="368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a:solidFill>
                  <a:srgbClr val="000000"/>
                </a:solidFill>
                <a:ea typeface="宋体" panose="02010600030101010101" pitchFamily="2" charset="-122"/>
              </a:rPr>
              <a:t>智能机器人</a:t>
            </a:r>
          </a:p>
        </p:txBody>
      </p:sp>
      <p:sp>
        <p:nvSpPr>
          <p:cNvPr id="3" name="Text Box 6"/>
          <p:cNvSpPr txBox="1">
            <a:spLocks noChangeArrowheads="1"/>
          </p:cNvSpPr>
          <p:nvPr/>
        </p:nvSpPr>
        <p:spPr bwMode="auto">
          <a:xfrm>
            <a:off x="1184275" y="3948430"/>
            <a:ext cx="2038350" cy="368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a:solidFill>
                  <a:srgbClr val="000000"/>
                </a:solidFill>
                <a:ea typeface="宋体" panose="02010600030101010101" pitchFamily="2" charset="-122"/>
              </a:rPr>
              <a:t>客服管理</a:t>
            </a:r>
          </a:p>
        </p:txBody>
      </p:sp>
      <p:sp>
        <p:nvSpPr>
          <p:cNvPr id="5" name="Text Box 6"/>
          <p:cNvSpPr txBox="1">
            <a:spLocks noChangeArrowheads="1"/>
          </p:cNvSpPr>
          <p:nvPr/>
        </p:nvSpPr>
        <p:spPr bwMode="auto">
          <a:xfrm>
            <a:off x="1212850" y="4408805"/>
            <a:ext cx="2038350" cy="368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zh-CN">
                <a:solidFill>
                  <a:srgbClr val="000000"/>
                </a:solidFill>
                <a:ea typeface="宋体" panose="02010600030101010101" pitchFamily="2" charset="-122"/>
                <a:sym typeface="+mn-ea"/>
              </a:rPr>
              <a:t>历史</a:t>
            </a:r>
            <a:r>
              <a:rPr lang="en-US" altLang="zh-CN">
                <a:solidFill>
                  <a:srgbClr val="000000"/>
                </a:solidFill>
                <a:ea typeface="宋体" panose="02010600030101010101" pitchFamily="2" charset="-122"/>
              </a:rPr>
              <a:t>会话</a:t>
            </a:r>
          </a:p>
        </p:txBody>
      </p:sp>
      <p:sp>
        <p:nvSpPr>
          <p:cNvPr id="6" name="Text Box 19"/>
          <p:cNvSpPr txBox="1">
            <a:spLocks noChangeArrowheads="1"/>
          </p:cNvSpPr>
          <p:nvPr/>
        </p:nvSpPr>
        <p:spPr bwMode="auto">
          <a:xfrm>
            <a:off x="5743575" y="4450080"/>
            <a:ext cx="2038350" cy="368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zh-CN">
                <a:solidFill>
                  <a:srgbClr val="000000"/>
                </a:solidFill>
                <a:ea typeface="宋体" panose="02010600030101010101" pitchFamily="2" charset="-122"/>
              </a:rPr>
              <a:t>会话质量管理</a:t>
            </a:r>
          </a:p>
        </p:txBody>
      </p:sp>
      <p:sp>
        <p:nvSpPr>
          <p:cNvPr id="7" name="Text Box 6"/>
          <p:cNvSpPr txBox="1">
            <a:spLocks noChangeArrowheads="1"/>
          </p:cNvSpPr>
          <p:nvPr/>
        </p:nvSpPr>
        <p:spPr bwMode="auto">
          <a:xfrm>
            <a:off x="1266825" y="5379085"/>
            <a:ext cx="2038350" cy="368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a:solidFill>
                  <a:srgbClr val="000000"/>
                </a:solidFill>
                <a:ea typeface="宋体" panose="02010600030101010101" pitchFamily="2" charset="-122"/>
              </a:rPr>
              <a:t>统计日志报表</a:t>
            </a:r>
          </a:p>
        </p:txBody>
      </p:sp>
      <p:sp>
        <p:nvSpPr>
          <p:cNvPr id="8" name="Text Box 6"/>
          <p:cNvSpPr txBox="1">
            <a:spLocks noChangeArrowheads="1"/>
          </p:cNvSpPr>
          <p:nvPr/>
        </p:nvSpPr>
        <p:spPr bwMode="auto">
          <a:xfrm>
            <a:off x="1238250" y="4795520"/>
            <a:ext cx="2038350" cy="6451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a:solidFill>
                  <a:srgbClr val="000000"/>
                </a:solidFill>
                <a:ea typeface="宋体" panose="02010600030101010101" pitchFamily="2" charset="-122"/>
              </a:rPr>
              <a:t>机器人知识库和热门问题</a:t>
            </a:r>
          </a:p>
        </p:txBody>
      </p:sp>
      <p:sp>
        <p:nvSpPr>
          <p:cNvPr id="9" name="Text Box 6"/>
          <p:cNvSpPr txBox="1">
            <a:spLocks noChangeArrowheads="1"/>
          </p:cNvSpPr>
          <p:nvPr/>
        </p:nvSpPr>
        <p:spPr bwMode="auto">
          <a:xfrm>
            <a:off x="5743575" y="5379085"/>
            <a:ext cx="2038350" cy="368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a:solidFill>
                  <a:srgbClr val="000000"/>
                </a:solidFill>
                <a:ea typeface="宋体" panose="02010600030101010101" pitchFamily="2" charset="-122"/>
              </a:rPr>
              <a:t>系统运维管理</a:t>
            </a:r>
          </a:p>
        </p:txBody>
      </p:sp>
      <p:sp>
        <p:nvSpPr>
          <p:cNvPr id="10" name="Text Box 19"/>
          <p:cNvSpPr txBox="1">
            <a:spLocks noChangeArrowheads="1"/>
          </p:cNvSpPr>
          <p:nvPr/>
        </p:nvSpPr>
        <p:spPr bwMode="auto">
          <a:xfrm>
            <a:off x="5686425" y="3804920"/>
            <a:ext cx="2038350" cy="9220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a:solidFill>
                  <a:srgbClr val="000000"/>
                </a:solidFill>
                <a:ea typeface="宋体" panose="02010600030101010101" pitchFamily="2" charset="-122"/>
              </a:rPr>
              <a:t>访客</a:t>
            </a:r>
            <a:r>
              <a:rPr lang="en-US" altLang="zh-CN">
                <a:solidFill>
                  <a:srgbClr val="000000"/>
                </a:solidFill>
                <a:ea typeface="宋体" panose="02010600030101010101" pitchFamily="2" charset="-122"/>
              </a:rPr>
              <a:t>用户</a:t>
            </a:r>
            <a:r>
              <a:rPr lang="zh-CN" altLang="en-US">
                <a:solidFill>
                  <a:srgbClr val="000000"/>
                </a:solidFill>
                <a:ea typeface="宋体" panose="02010600030101010101" pitchFamily="2" charset="-122"/>
              </a:rPr>
              <a:t>信息和</a:t>
            </a:r>
            <a:r>
              <a:rPr lang="en-US" altLang="zh-CN">
                <a:solidFill>
                  <a:srgbClr val="000000"/>
                </a:solidFill>
                <a:ea typeface="宋体" panose="02010600030101010101" pitchFamily="2" charset="-122"/>
                <a:sym typeface="+mn-ea"/>
              </a:rPr>
              <a:t>企业用户CRM信息</a:t>
            </a:r>
            <a:endParaRPr lang="en-US" altLang="zh-CN">
              <a:solidFill>
                <a:srgbClr val="000000"/>
              </a:solidFill>
              <a:ea typeface="宋体" panose="02010600030101010101" pitchFamily="2" charset="-122"/>
            </a:endParaRPr>
          </a:p>
          <a:p>
            <a:pPr eaLnBrk="1" hangingPunct="1"/>
            <a:endParaRPr lang="en-US" altLang="zh-CN">
              <a:solidFill>
                <a:srgbClr val="000000"/>
              </a:solidFill>
              <a:ea typeface="宋体" panose="02010600030101010101" pitchFamily="2" charset="-122"/>
            </a:endParaRPr>
          </a:p>
        </p:txBody>
      </p:sp>
      <p:sp>
        <p:nvSpPr>
          <p:cNvPr id="11" name="Text Box 6"/>
          <p:cNvSpPr txBox="1">
            <a:spLocks noChangeArrowheads="1"/>
          </p:cNvSpPr>
          <p:nvPr/>
        </p:nvSpPr>
        <p:spPr bwMode="auto">
          <a:xfrm>
            <a:off x="5743575" y="4933950"/>
            <a:ext cx="2038350" cy="368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a:solidFill>
                  <a:srgbClr val="000000"/>
                </a:solidFill>
                <a:ea typeface="宋体" panose="02010600030101010101" pitchFamily="2" charset="-122"/>
              </a:rPr>
              <a:t>机器人知识库</a:t>
            </a:r>
          </a:p>
        </p:txBody>
      </p:sp>
      <p:sp>
        <p:nvSpPr>
          <p:cNvPr id="4" name="Text Box 6"/>
          <p:cNvSpPr txBox="1">
            <a:spLocks noChangeArrowheads="1"/>
          </p:cNvSpPr>
          <p:nvPr/>
        </p:nvSpPr>
        <p:spPr bwMode="auto">
          <a:xfrm>
            <a:off x="5743575" y="5823585"/>
            <a:ext cx="2038350" cy="368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zh-CN" altLang="en-US">
                <a:solidFill>
                  <a:srgbClr val="000000"/>
                </a:solidFill>
                <a:ea typeface="宋体" panose="02010600030101010101" pitchFamily="2" charset="-122"/>
              </a:rPr>
              <a:t>用户设置</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bwMode="gray">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25" name="页脚占位符 3"/>
          <p:cNvSpPr>
            <a:spLocks noGrp="1"/>
          </p:cNvSpPr>
          <p:nvPr>
            <p:ph type="ftr" sz="quarter" idx="11"/>
          </p:nvPr>
        </p:nvSpPr>
        <p:spPr/>
        <p:txBody>
          <a:bodyPr/>
          <a:lstStyle/>
          <a:p>
            <a:pPr>
              <a:defRPr/>
            </a:pPr>
            <a:r>
              <a:rPr lang="en-US" altLang="zh-CN"/>
              <a:t>Company Logo</a:t>
            </a:r>
          </a:p>
        </p:txBody>
      </p:sp>
      <p:sp>
        <p:nvSpPr>
          <p:cNvPr id="7171" name="Rectangle 2"/>
          <p:cNvSpPr>
            <a:spLocks noGrp="1" noChangeArrowheads="1"/>
          </p:cNvSpPr>
          <p:nvPr>
            <p:ph type="title"/>
          </p:nvPr>
        </p:nvSpPr>
        <p:spPr/>
        <p:txBody>
          <a:bodyPr/>
          <a:lstStyle/>
          <a:p>
            <a:pPr eaLnBrk="1" hangingPunct="1"/>
            <a:r>
              <a:rPr lang="en-US" altLang="zh-CN" smtClean="0">
                <a:ea typeface="宋体" panose="02010600030101010101" pitchFamily="2" charset="-122"/>
              </a:rPr>
              <a:t> </a:t>
            </a:r>
            <a:r>
              <a:rPr lang="en-US" altLang="zh-CN">
                <a:solidFill>
                  <a:srgbClr val="000000"/>
                </a:solidFill>
                <a:ea typeface="宋体" panose="02010600030101010101" pitchFamily="2" charset="-122"/>
                <a:sym typeface="+mn-ea"/>
              </a:rPr>
              <a:t>智能机器人--</a:t>
            </a:r>
            <a:r>
              <a:rPr lang="zh-CN" altLang="en-US">
                <a:solidFill>
                  <a:srgbClr val="000000"/>
                </a:solidFill>
                <a:ea typeface="宋体" panose="02010600030101010101" pitchFamily="2" charset="-122"/>
                <a:sym typeface="+mn-ea"/>
              </a:rPr>
              <a:t>机器人单聊</a:t>
            </a:r>
            <a:endParaRPr lang="zh-CN" altLang="en-US" smtClean="0">
              <a:solidFill>
                <a:srgbClr val="000000"/>
              </a:solidFill>
              <a:ea typeface="宋体" panose="02010600030101010101" pitchFamily="2" charset="-122"/>
              <a:sym typeface="+mn-ea"/>
            </a:endParaRPr>
          </a:p>
        </p:txBody>
      </p:sp>
      <p:pic>
        <p:nvPicPr>
          <p:cNvPr id="3" name="图片 1" descr="IMG_256"/>
          <p:cNvPicPr>
            <a:picLocks noChangeAspect="1"/>
          </p:cNvPicPr>
          <p:nvPr/>
        </p:nvPicPr>
        <p:blipFill>
          <a:blip r:embed="rId4" cstate="print"/>
          <a:stretch>
            <a:fillRect/>
          </a:stretch>
        </p:blipFill>
        <p:spPr>
          <a:xfrm>
            <a:off x="457200" y="1502410"/>
            <a:ext cx="4354195" cy="3103245"/>
          </a:xfrm>
          <a:prstGeom prst="rect">
            <a:avLst/>
          </a:prstGeom>
          <a:noFill/>
          <a:ln w="9525">
            <a:noFill/>
          </a:ln>
        </p:spPr>
      </p:pic>
      <p:pic>
        <p:nvPicPr>
          <p:cNvPr id="152" name="图片 2" descr="IMG_256"/>
          <p:cNvPicPr>
            <a:picLocks noChangeAspect="1"/>
          </p:cNvPicPr>
          <p:nvPr/>
        </p:nvPicPr>
        <p:blipFill>
          <a:blip r:embed="rId5" cstate="print"/>
          <a:stretch>
            <a:fillRect/>
          </a:stretch>
        </p:blipFill>
        <p:spPr>
          <a:xfrm>
            <a:off x="4902200" y="1574165"/>
            <a:ext cx="4191635" cy="2987675"/>
          </a:xfrm>
          <a:prstGeom prst="rect">
            <a:avLst/>
          </a:prstGeom>
          <a:noFill/>
          <a:ln w="9525">
            <a:noFill/>
          </a:ln>
        </p:spPr>
      </p:pic>
      <p:sp>
        <p:nvSpPr>
          <p:cNvPr id="4" name="文本框 3"/>
          <p:cNvSpPr txBox="1"/>
          <p:nvPr/>
        </p:nvSpPr>
        <p:spPr>
          <a:xfrm>
            <a:off x="457200" y="4749800"/>
            <a:ext cx="7388860" cy="1476375"/>
          </a:xfrm>
          <a:prstGeom prst="rect">
            <a:avLst/>
          </a:prstGeom>
          <a:noFill/>
        </p:spPr>
        <p:txBody>
          <a:bodyPr wrap="square" rtlCol="0">
            <a:spAutoFit/>
          </a:bodyPr>
          <a:lstStyle/>
          <a:p>
            <a:r>
              <a:rPr lang="zh-CN" altLang="en-US"/>
              <a:t>访客在登录成功客服系统后，会自动申请机器人会话。</a:t>
            </a:r>
          </a:p>
          <a:p>
            <a:r>
              <a:rPr lang="zh-CN" altLang="en-US"/>
              <a:t>在创建机器人会话后，后台会推送热门问题，提供访客快捷查询。</a:t>
            </a:r>
          </a:p>
          <a:p>
            <a:r>
              <a:rPr lang="zh-CN" altLang="en-US"/>
              <a:t>访客发送问题时，后台会匹配知识库中相关度较高的问题的答案来返回。</a:t>
            </a:r>
          </a:p>
          <a:p>
            <a:r>
              <a:rPr lang="zh-CN" altLang="en-US"/>
              <a:t>如果匹配到多个问题，则会返回多个问题的提示，并引导访客进行进一步提问。</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页脚占位符 4"/>
          <p:cNvSpPr>
            <a:spLocks noGrp="1"/>
          </p:cNvSpPr>
          <p:nvPr>
            <p:ph type="ftr" sz="quarter" idx="11"/>
          </p:nvPr>
        </p:nvSpPr>
        <p:spPr/>
        <p:txBody>
          <a:bodyPr/>
          <a:lstStyle/>
          <a:p>
            <a:pPr>
              <a:defRPr/>
            </a:pPr>
            <a:r>
              <a:rPr lang="en-US" altLang="zh-CN"/>
              <a:t>Company Logo</a:t>
            </a:r>
          </a:p>
        </p:txBody>
      </p:sp>
      <p:sp>
        <p:nvSpPr>
          <p:cNvPr id="8195" name="Rectangle 2"/>
          <p:cNvSpPr>
            <a:spLocks noGrp="1" noChangeArrowheads="1"/>
          </p:cNvSpPr>
          <p:nvPr>
            <p:ph type="title"/>
          </p:nvPr>
        </p:nvSpPr>
        <p:spPr/>
        <p:txBody>
          <a:bodyPr/>
          <a:lstStyle/>
          <a:p>
            <a:pPr eaLnBrk="1" hangingPunct="1"/>
            <a:r>
              <a:rPr lang="en-US" altLang="zh-CN">
                <a:solidFill>
                  <a:srgbClr val="000000"/>
                </a:solidFill>
                <a:ea typeface="宋体" panose="02010600030101010101" pitchFamily="2" charset="-122"/>
                <a:sym typeface="+mn-ea"/>
              </a:rPr>
              <a:t>人工客服--</a:t>
            </a:r>
            <a:r>
              <a:rPr lang="zh-CN" altLang="en-US">
                <a:solidFill>
                  <a:srgbClr val="000000"/>
                </a:solidFill>
                <a:ea typeface="宋体" panose="02010600030101010101" pitchFamily="2" charset="-122"/>
                <a:sym typeface="+mn-ea"/>
              </a:rPr>
              <a:t>人工单聊发送文字</a:t>
            </a:r>
            <a:endParaRPr lang="zh-CN" altLang="en-US" sz="1800" smtClean="0">
              <a:solidFill>
                <a:srgbClr val="000000"/>
              </a:solidFill>
              <a:ea typeface="宋体" panose="02010600030101010101" pitchFamily="2" charset="-122"/>
              <a:sym typeface="+mn-ea"/>
            </a:endParaRPr>
          </a:p>
        </p:txBody>
      </p:sp>
      <p:pic>
        <p:nvPicPr>
          <p:cNvPr id="2" name="图片 1" descr="C5ISF`@%%I91}3)YPUN]3{E"/>
          <p:cNvPicPr>
            <a:picLocks noChangeAspect="1"/>
          </p:cNvPicPr>
          <p:nvPr/>
        </p:nvPicPr>
        <p:blipFill>
          <a:blip r:embed="rId2" cstate="print"/>
          <a:stretch>
            <a:fillRect/>
          </a:stretch>
        </p:blipFill>
        <p:spPr>
          <a:xfrm>
            <a:off x="134620" y="1388110"/>
            <a:ext cx="4166870" cy="2969260"/>
          </a:xfrm>
          <a:prstGeom prst="rect">
            <a:avLst/>
          </a:prstGeom>
        </p:spPr>
      </p:pic>
      <p:pic>
        <p:nvPicPr>
          <p:cNvPr id="160" name="图片 7" descr="IMG_256"/>
          <p:cNvPicPr>
            <a:picLocks noChangeAspect="1"/>
          </p:cNvPicPr>
          <p:nvPr/>
        </p:nvPicPr>
        <p:blipFill>
          <a:blip r:embed="rId3" cstate="print"/>
          <a:stretch>
            <a:fillRect/>
          </a:stretch>
        </p:blipFill>
        <p:spPr>
          <a:xfrm>
            <a:off x="3822700" y="2115185"/>
            <a:ext cx="4981575" cy="2856865"/>
          </a:xfrm>
          <a:prstGeom prst="rect">
            <a:avLst/>
          </a:prstGeom>
          <a:noFill/>
          <a:ln w="9525">
            <a:noFill/>
          </a:ln>
        </p:spPr>
      </p:pic>
      <p:sp>
        <p:nvSpPr>
          <p:cNvPr id="6" name="文本框 5"/>
          <p:cNvSpPr txBox="1"/>
          <p:nvPr/>
        </p:nvSpPr>
        <p:spPr>
          <a:xfrm>
            <a:off x="1638935" y="4972050"/>
            <a:ext cx="5309235" cy="1198880"/>
          </a:xfrm>
          <a:prstGeom prst="rect">
            <a:avLst/>
          </a:prstGeom>
          <a:noFill/>
        </p:spPr>
        <p:txBody>
          <a:bodyPr wrap="square" rtlCol="0">
            <a:spAutoFit/>
          </a:bodyPr>
          <a:lstStyle/>
          <a:p>
            <a:r>
              <a:rPr lang="zh-CN" altLang="en-US"/>
              <a:t>人工单聊为在人工会话时，访客与客服、管理员等之间进行单聊活动，支持文字发送和图片发送。</a:t>
            </a:r>
          </a:p>
          <a:p>
            <a:r>
              <a:rPr lang="zh-CN" altLang="en-US">
                <a:ea typeface="宋体" panose="02010600030101010101" pitchFamily="2" charset="-122"/>
              </a:rPr>
              <a:t>后台的客服工作台可查看访客的用户信息，会话相关信息，可往上拉取历史会话信息。</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页脚占位符 4"/>
          <p:cNvSpPr>
            <a:spLocks noGrp="1"/>
          </p:cNvSpPr>
          <p:nvPr>
            <p:ph type="ftr" sz="quarter" idx="11"/>
          </p:nvPr>
        </p:nvSpPr>
        <p:spPr/>
        <p:txBody>
          <a:bodyPr/>
          <a:lstStyle/>
          <a:p>
            <a:pPr>
              <a:defRPr/>
            </a:pPr>
            <a:r>
              <a:rPr lang="en-US" altLang="zh-CN"/>
              <a:t>Company Logo</a:t>
            </a:r>
          </a:p>
        </p:txBody>
      </p:sp>
      <p:sp>
        <p:nvSpPr>
          <p:cNvPr id="8195" name="Rectangle 2"/>
          <p:cNvSpPr>
            <a:spLocks noGrp="1" noChangeArrowheads="1"/>
          </p:cNvSpPr>
          <p:nvPr>
            <p:ph type="title"/>
          </p:nvPr>
        </p:nvSpPr>
        <p:spPr/>
        <p:txBody>
          <a:bodyPr/>
          <a:lstStyle/>
          <a:p>
            <a:pPr eaLnBrk="1" hangingPunct="1"/>
            <a:r>
              <a:rPr lang="en-US" altLang="zh-CN">
                <a:solidFill>
                  <a:srgbClr val="000000"/>
                </a:solidFill>
                <a:ea typeface="宋体" panose="02010600030101010101" pitchFamily="2" charset="-122"/>
                <a:sym typeface="+mn-ea"/>
              </a:rPr>
              <a:t>人工客服--</a:t>
            </a:r>
            <a:r>
              <a:rPr lang="zh-CN" altLang="en-US">
                <a:solidFill>
                  <a:srgbClr val="000000"/>
                </a:solidFill>
                <a:ea typeface="宋体" panose="02010600030101010101" pitchFamily="2" charset="-122"/>
                <a:sym typeface="+mn-ea"/>
              </a:rPr>
              <a:t>人工单聊发送图片</a:t>
            </a:r>
            <a:endParaRPr lang="zh-CN" altLang="en-US" sz="1800" smtClean="0">
              <a:solidFill>
                <a:srgbClr val="000000"/>
              </a:solidFill>
              <a:ea typeface="宋体" panose="02010600030101010101" pitchFamily="2" charset="-122"/>
              <a:sym typeface="+mn-ea"/>
            </a:endParaRPr>
          </a:p>
        </p:txBody>
      </p:sp>
      <p:pic>
        <p:nvPicPr>
          <p:cNvPr id="5" name="图片 4" descr="6YW)W8L@0LGI5E28CU@I3ON"/>
          <p:cNvPicPr>
            <a:picLocks noChangeAspect="1"/>
          </p:cNvPicPr>
          <p:nvPr/>
        </p:nvPicPr>
        <p:blipFill>
          <a:blip r:embed="rId2" cstate="print"/>
          <a:stretch>
            <a:fillRect/>
          </a:stretch>
        </p:blipFill>
        <p:spPr>
          <a:xfrm>
            <a:off x="-22225" y="1257300"/>
            <a:ext cx="4344670" cy="2904490"/>
          </a:xfrm>
          <a:prstGeom prst="rect">
            <a:avLst/>
          </a:prstGeom>
        </p:spPr>
      </p:pic>
      <p:sp>
        <p:nvSpPr>
          <p:cNvPr id="2" name="文本框 1"/>
          <p:cNvSpPr txBox="1"/>
          <p:nvPr/>
        </p:nvSpPr>
        <p:spPr>
          <a:xfrm>
            <a:off x="163195" y="4799330"/>
            <a:ext cx="8321675" cy="1198880"/>
          </a:xfrm>
          <a:prstGeom prst="rect">
            <a:avLst/>
          </a:prstGeom>
          <a:noFill/>
        </p:spPr>
        <p:txBody>
          <a:bodyPr wrap="square" rtlCol="0">
            <a:spAutoFit/>
          </a:bodyPr>
          <a:lstStyle/>
          <a:p>
            <a:r>
              <a:rPr lang="zh-CN" altLang="en-US">
                <a:ea typeface="宋体" panose="02010600030101010101" pitchFamily="2" charset="-122"/>
              </a:rPr>
              <a:t>发送图片时，图片提交到文件代理，由</a:t>
            </a:r>
            <a:r>
              <a:rPr lang="zh-CN" altLang="en-US">
                <a:ea typeface="宋体" panose="02010600030101010101" pitchFamily="2" charset="-122"/>
                <a:sym typeface="+mn-ea"/>
              </a:rPr>
              <a:t>文件</a:t>
            </a:r>
            <a:r>
              <a:rPr lang="zh-CN" altLang="en-US">
                <a:ea typeface="宋体" panose="02010600030101010101" pitchFamily="2" charset="-122"/>
              </a:rPr>
              <a:t>代理验证用户</a:t>
            </a:r>
            <a:r>
              <a:rPr lang="en-US" altLang="zh-CN">
                <a:ea typeface="宋体" panose="02010600030101010101" pitchFamily="2" charset="-122"/>
              </a:rPr>
              <a:t>token</a:t>
            </a:r>
            <a:r>
              <a:rPr lang="zh-CN" altLang="en-US">
                <a:ea typeface="宋体" panose="02010600030101010101" pitchFamily="2" charset="-122"/>
              </a:rPr>
              <a:t>，然后提交到</a:t>
            </a:r>
            <a:r>
              <a:rPr lang="en-US" altLang="zh-CN">
                <a:ea typeface="宋体" panose="02010600030101010101" pitchFamily="2" charset="-122"/>
                <a:sym typeface="+mn-ea"/>
              </a:rPr>
              <a:t>fastdfs</a:t>
            </a:r>
            <a:r>
              <a:rPr lang="zh-CN" altLang="en-US">
                <a:ea typeface="宋体" panose="02010600030101010101" pitchFamily="2" charset="-122"/>
                <a:sym typeface="+mn-ea"/>
              </a:rPr>
              <a:t>文件集群</a:t>
            </a:r>
            <a:r>
              <a:rPr lang="en-US" altLang="zh-CN">
                <a:ea typeface="宋体" panose="02010600030101010101" pitchFamily="2" charset="-122"/>
                <a:sym typeface="+mn-ea"/>
              </a:rPr>
              <a:t>.</a:t>
            </a:r>
          </a:p>
          <a:p>
            <a:r>
              <a:rPr lang="zh-CN" altLang="en-US">
                <a:ea typeface="宋体" panose="02010600030101010101" pitchFamily="2" charset="-122"/>
                <a:sym typeface="+mn-ea"/>
              </a:rPr>
              <a:t>提交图片成功后，发送含图片文件</a:t>
            </a:r>
            <a:r>
              <a:rPr lang="en-US" altLang="zh-CN">
                <a:ea typeface="宋体" panose="02010600030101010101" pitchFamily="2" charset="-122"/>
                <a:sym typeface="+mn-ea"/>
              </a:rPr>
              <a:t>ID</a:t>
            </a:r>
            <a:r>
              <a:rPr lang="zh-CN" altLang="en-US">
                <a:ea typeface="宋体" panose="02010600030101010101" pitchFamily="2" charset="-122"/>
                <a:sym typeface="+mn-ea"/>
              </a:rPr>
              <a:t>（以及缩略图文件</a:t>
            </a:r>
            <a:r>
              <a:rPr lang="en-US" altLang="zh-CN">
                <a:ea typeface="宋体" panose="02010600030101010101" pitchFamily="2" charset="-122"/>
                <a:sym typeface="+mn-ea"/>
              </a:rPr>
              <a:t>ID</a:t>
            </a:r>
            <a:r>
              <a:rPr lang="zh-CN" altLang="en-US">
                <a:ea typeface="宋体" panose="02010600030101010101" pitchFamily="2" charset="-122"/>
                <a:sym typeface="+mn-ea"/>
              </a:rPr>
              <a:t>）的单聊消息到网关。</a:t>
            </a:r>
          </a:p>
          <a:p>
            <a:r>
              <a:rPr lang="zh-CN" altLang="en-US">
                <a:ea typeface="宋体" panose="02010600030101010101" pitchFamily="2" charset="-122"/>
                <a:sym typeface="+mn-ea"/>
              </a:rPr>
              <a:t>上传图片到后台后，会检查文件的唯一性，并自动生成缩略图。</a:t>
            </a:r>
          </a:p>
        </p:txBody>
      </p:sp>
      <p:pic>
        <p:nvPicPr>
          <p:cNvPr id="4" name="图片 3" descr="V1WKLBX5(GJD$QNYZ]}U%0D"/>
          <p:cNvPicPr>
            <a:picLocks noChangeAspect="1"/>
          </p:cNvPicPr>
          <p:nvPr/>
        </p:nvPicPr>
        <p:blipFill>
          <a:blip r:embed="rId3" cstate="print"/>
          <a:stretch>
            <a:fillRect/>
          </a:stretch>
        </p:blipFill>
        <p:spPr>
          <a:xfrm>
            <a:off x="3993515" y="2244725"/>
            <a:ext cx="4613910" cy="2369185"/>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页脚占位符 4"/>
          <p:cNvSpPr>
            <a:spLocks noGrp="1"/>
          </p:cNvSpPr>
          <p:nvPr>
            <p:ph type="ftr" sz="quarter" idx="11"/>
          </p:nvPr>
        </p:nvSpPr>
        <p:spPr/>
        <p:txBody>
          <a:bodyPr/>
          <a:lstStyle/>
          <a:p>
            <a:pPr>
              <a:defRPr/>
            </a:pPr>
            <a:r>
              <a:rPr lang="en-US" altLang="zh-CN"/>
              <a:t>Company Logo</a:t>
            </a:r>
          </a:p>
        </p:txBody>
      </p:sp>
      <p:sp>
        <p:nvSpPr>
          <p:cNvPr id="8195" name="Rectangle 2"/>
          <p:cNvSpPr>
            <a:spLocks noGrp="1" noChangeArrowheads="1"/>
          </p:cNvSpPr>
          <p:nvPr>
            <p:ph type="title"/>
          </p:nvPr>
        </p:nvSpPr>
        <p:spPr/>
        <p:txBody>
          <a:bodyPr/>
          <a:lstStyle/>
          <a:p>
            <a:pPr eaLnBrk="1" hangingPunct="1"/>
            <a:r>
              <a:rPr lang="en-US" altLang="zh-CN">
                <a:solidFill>
                  <a:srgbClr val="000000"/>
                </a:solidFill>
                <a:ea typeface="宋体" panose="02010600030101010101" pitchFamily="2" charset="-122"/>
                <a:sym typeface="+mn-ea"/>
              </a:rPr>
              <a:t>人工客服--</a:t>
            </a:r>
            <a:r>
              <a:rPr lang="zh-CN" altLang="en-US">
                <a:solidFill>
                  <a:srgbClr val="000000"/>
                </a:solidFill>
                <a:ea typeface="宋体" panose="02010600030101010101" pitchFamily="2" charset="-122"/>
                <a:sym typeface="+mn-ea"/>
              </a:rPr>
              <a:t>用户设置</a:t>
            </a:r>
            <a:endParaRPr lang="zh-CN" altLang="en-US" sz="1800" smtClean="0">
              <a:solidFill>
                <a:srgbClr val="000000"/>
              </a:solidFill>
              <a:ea typeface="宋体" panose="02010600030101010101" pitchFamily="2" charset="-122"/>
              <a:sym typeface="+mn-ea"/>
            </a:endParaRPr>
          </a:p>
        </p:txBody>
      </p:sp>
      <p:pic>
        <p:nvPicPr>
          <p:cNvPr id="6" name="图片 5" descr="W32Z@_]X$HX_{M~B8VP~]CR"/>
          <p:cNvPicPr>
            <a:picLocks noChangeAspect="1"/>
          </p:cNvPicPr>
          <p:nvPr/>
        </p:nvPicPr>
        <p:blipFill>
          <a:blip r:embed="rId2" cstate="print"/>
          <a:stretch>
            <a:fillRect/>
          </a:stretch>
        </p:blipFill>
        <p:spPr>
          <a:xfrm>
            <a:off x="748030" y="1434465"/>
            <a:ext cx="6782435" cy="3834130"/>
          </a:xfrm>
          <a:prstGeom prst="rect">
            <a:avLst/>
          </a:prstGeom>
        </p:spPr>
      </p:pic>
      <p:sp>
        <p:nvSpPr>
          <p:cNvPr id="7" name="文本框 6"/>
          <p:cNvSpPr txBox="1"/>
          <p:nvPr/>
        </p:nvSpPr>
        <p:spPr>
          <a:xfrm>
            <a:off x="931545" y="5523865"/>
            <a:ext cx="8212455" cy="368300"/>
          </a:xfrm>
          <a:prstGeom prst="rect">
            <a:avLst/>
          </a:prstGeom>
          <a:noFill/>
        </p:spPr>
        <p:txBody>
          <a:bodyPr wrap="square" rtlCol="0">
            <a:spAutoFit/>
          </a:bodyPr>
          <a:lstStyle/>
          <a:p>
            <a:r>
              <a:rPr lang="zh-CN" altLang="en-US"/>
              <a:t>设置个人信息：昵称、真实姓名、密码等。</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页脚占位符 4"/>
          <p:cNvSpPr>
            <a:spLocks noGrp="1"/>
          </p:cNvSpPr>
          <p:nvPr>
            <p:ph type="ftr" sz="quarter" idx="11"/>
          </p:nvPr>
        </p:nvSpPr>
        <p:spPr/>
        <p:txBody>
          <a:bodyPr/>
          <a:lstStyle/>
          <a:p>
            <a:pPr>
              <a:defRPr/>
            </a:pPr>
            <a:r>
              <a:rPr lang="en-US" altLang="zh-CN"/>
              <a:t>Company Logo</a:t>
            </a:r>
          </a:p>
        </p:txBody>
      </p:sp>
      <p:sp>
        <p:nvSpPr>
          <p:cNvPr id="8195" name="Rectangle 2"/>
          <p:cNvSpPr>
            <a:spLocks noGrp="1" noChangeArrowheads="1"/>
          </p:cNvSpPr>
          <p:nvPr>
            <p:ph type="title"/>
          </p:nvPr>
        </p:nvSpPr>
        <p:spPr/>
        <p:txBody>
          <a:bodyPr/>
          <a:lstStyle/>
          <a:p>
            <a:pPr eaLnBrk="1" hangingPunct="1"/>
            <a:r>
              <a:rPr lang="en-US" altLang="zh-CN">
                <a:solidFill>
                  <a:srgbClr val="000000"/>
                </a:solidFill>
                <a:ea typeface="宋体" panose="02010600030101010101" pitchFamily="2" charset="-122"/>
                <a:sym typeface="+mn-ea"/>
              </a:rPr>
              <a:t>人工客服--</a:t>
            </a:r>
            <a:r>
              <a:rPr lang="zh-CN" altLang="en-US">
                <a:solidFill>
                  <a:srgbClr val="000000"/>
                </a:solidFill>
                <a:ea typeface="宋体" panose="02010600030101010101" pitchFamily="2" charset="-122"/>
                <a:sym typeface="+mn-ea"/>
              </a:rPr>
              <a:t>用户设置</a:t>
            </a:r>
            <a:endParaRPr lang="zh-CN" altLang="en-US" sz="1800" smtClean="0">
              <a:solidFill>
                <a:srgbClr val="000000"/>
              </a:solidFill>
              <a:ea typeface="宋体" panose="02010600030101010101" pitchFamily="2" charset="-122"/>
              <a:sym typeface="+mn-ea"/>
            </a:endParaRPr>
          </a:p>
        </p:txBody>
      </p:sp>
      <p:sp>
        <p:nvSpPr>
          <p:cNvPr id="7" name="文本框 6"/>
          <p:cNvSpPr txBox="1"/>
          <p:nvPr/>
        </p:nvSpPr>
        <p:spPr>
          <a:xfrm>
            <a:off x="931545" y="6026150"/>
            <a:ext cx="8212455" cy="368300"/>
          </a:xfrm>
          <a:prstGeom prst="rect">
            <a:avLst/>
          </a:prstGeom>
          <a:noFill/>
        </p:spPr>
        <p:txBody>
          <a:bodyPr wrap="square" rtlCol="0">
            <a:spAutoFit/>
          </a:bodyPr>
          <a:lstStyle/>
          <a:p>
            <a:r>
              <a:rPr lang="zh-CN" altLang="en-US"/>
              <a:t>设置客服个人和公共快捷语，用于客服快捷答复。</a:t>
            </a:r>
          </a:p>
        </p:txBody>
      </p:sp>
      <p:pic>
        <p:nvPicPr>
          <p:cNvPr id="2" name="图片 1" descr="2Q_@F231FF61F%LM2WFGU8G"/>
          <p:cNvPicPr>
            <a:picLocks noChangeAspect="1"/>
          </p:cNvPicPr>
          <p:nvPr/>
        </p:nvPicPr>
        <p:blipFill>
          <a:blip r:embed="rId2" cstate="print"/>
          <a:stretch>
            <a:fillRect/>
          </a:stretch>
        </p:blipFill>
        <p:spPr>
          <a:xfrm>
            <a:off x="78740" y="1236345"/>
            <a:ext cx="4303395" cy="2349500"/>
          </a:xfrm>
          <a:prstGeom prst="rect">
            <a:avLst/>
          </a:prstGeom>
        </p:spPr>
      </p:pic>
      <p:pic>
        <p:nvPicPr>
          <p:cNvPr id="4" name="图片 3" descr="($LVH([38GRJIF~R93$QBDB"/>
          <p:cNvPicPr>
            <a:picLocks noChangeAspect="1"/>
          </p:cNvPicPr>
          <p:nvPr/>
        </p:nvPicPr>
        <p:blipFill>
          <a:blip r:embed="rId3" cstate="print"/>
          <a:stretch>
            <a:fillRect/>
          </a:stretch>
        </p:blipFill>
        <p:spPr>
          <a:xfrm>
            <a:off x="4489450" y="1203325"/>
            <a:ext cx="4425950" cy="2416175"/>
          </a:xfrm>
          <a:prstGeom prst="rect">
            <a:avLst/>
          </a:prstGeom>
        </p:spPr>
      </p:pic>
      <p:pic>
        <p:nvPicPr>
          <p:cNvPr id="5" name="图片 4" descr="TC)M1G4HL1I6WW6RAGPXY[6"/>
          <p:cNvPicPr>
            <a:picLocks noChangeAspect="1"/>
          </p:cNvPicPr>
          <p:nvPr/>
        </p:nvPicPr>
        <p:blipFill>
          <a:blip r:embed="rId4" cstate="print"/>
          <a:stretch>
            <a:fillRect/>
          </a:stretch>
        </p:blipFill>
        <p:spPr>
          <a:xfrm>
            <a:off x="1854835" y="3789045"/>
            <a:ext cx="3786505" cy="2066925"/>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页脚占位符 4"/>
          <p:cNvSpPr>
            <a:spLocks noGrp="1"/>
          </p:cNvSpPr>
          <p:nvPr>
            <p:ph type="ftr" sz="quarter" idx="11"/>
          </p:nvPr>
        </p:nvSpPr>
        <p:spPr/>
        <p:txBody>
          <a:bodyPr/>
          <a:lstStyle/>
          <a:p>
            <a:pPr>
              <a:defRPr/>
            </a:pPr>
            <a:r>
              <a:rPr lang="en-US" altLang="zh-CN"/>
              <a:t>Company Logo</a:t>
            </a:r>
          </a:p>
        </p:txBody>
      </p:sp>
      <p:sp>
        <p:nvSpPr>
          <p:cNvPr id="8195" name="Rectangle 2"/>
          <p:cNvSpPr>
            <a:spLocks noGrp="1" noChangeArrowheads="1"/>
          </p:cNvSpPr>
          <p:nvPr>
            <p:ph type="title"/>
          </p:nvPr>
        </p:nvSpPr>
        <p:spPr/>
        <p:txBody>
          <a:bodyPr/>
          <a:lstStyle/>
          <a:p>
            <a:pPr eaLnBrk="1" hangingPunct="1"/>
            <a:r>
              <a:rPr lang="en-US" altLang="zh-CN">
                <a:solidFill>
                  <a:srgbClr val="000000"/>
                </a:solidFill>
                <a:ea typeface="宋体" panose="02010600030101010101" pitchFamily="2" charset="-122"/>
                <a:sym typeface="+mn-ea"/>
              </a:rPr>
              <a:t>人工客服--</a:t>
            </a:r>
            <a:r>
              <a:rPr lang="zh-CN" altLang="zh-CN">
                <a:solidFill>
                  <a:srgbClr val="000000"/>
                </a:solidFill>
                <a:ea typeface="宋体" panose="02010600030101010101" pitchFamily="2" charset="-122"/>
                <a:sym typeface="+mn-ea"/>
              </a:rPr>
              <a:t>客服转接</a:t>
            </a:r>
            <a:endParaRPr lang="zh-CN" altLang="zh-CN" sz="1800" smtClean="0">
              <a:solidFill>
                <a:srgbClr val="000000"/>
              </a:solidFill>
              <a:ea typeface="宋体" panose="02010600030101010101" pitchFamily="2" charset="-122"/>
              <a:sym typeface="+mn-ea"/>
            </a:endParaRPr>
          </a:p>
        </p:txBody>
      </p:sp>
      <p:pic>
        <p:nvPicPr>
          <p:cNvPr id="4" name="图片 3" descr="ST(M8P4AJH3AM`TLFN$Q0AN"/>
          <p:cNvPicPr>
            <a:picLocks noChangeAspect="1"/>
          </p:cNvPicPr>
          <p:nvPr/>
        </p:nvPicPr>
        <p:blipFill>
          <a:blip r:embed="rId2" cstate="print"/>
          <a:stretch>
            <a:fillRect/>
          </a:stretch>
        </p:blipFill>
        <p:spPr>
          <a:xfrm>
            <a:off x="151765" y="1207770"/>
            <a:ext cx="6287135" cy="2914015"/>
          </a:xfrm>
          <a:prstGeom prst="rect">
            <a:avLst/>
          </a:prstGeom>
        </p:spPr>
      </p:pic>
      <p:pic>
        <p:nvPicPr>
          <p:cNvPr id="5" name="图片 4" descr="64$~55B{(]C6S_~WZ_Q~31K"/>
          <p:cNvPicPr>
            <a:picLocks noChangeAspect="1"/>
          </p:cNvPicPr>
          <p:nvPr/>
        </p:nvPicPr>
        <p:blipFill>
          <a:blip r:embed="rId3" cstate="print"/>
          <a:stretch>
            <a:fillRect/>
          </a:stretch>
        </p:blipFill>
        <p:spPr>
          <a:xfrm>
            <a:off x="4349115" y="3125470"/>
            <a:ext cx="4824095" cy="2235835"/>
          </a:xfrm>
          <a:prstGeom prst="rect">
            <a:avLst/>
          </a:prstGeom>
        </p:spPr>
      </p:pic>
      <p:sp>
        <p:nvSpPr>
          <p:cNvPr id="2" name="文本框 1"/>
          <p:cNvSpPr txBox="1"/>
          <p:nvPr/>
        </p:nvSpPr>
        <p:spPr>
          <a:xfrm>
            <a:off x="1491615" y="5547995"/>
            <a:ext cx="6609080" cy="645160"/>
          </a:xfrm>
          <a:prstGeom prst="rect">
            <a:avLst/>
          </a:prstGeom>
          <a:noFill/>
        </p:spPr>
        <p:txBody>
          <a:bodyPr wrap="square" rtlCol="0">
            <a:spAutoFit/>
          </a:bodyPr>
          <a:lstStyle/>
          <a:p>
            <a:r>
              <a:rPr lang="zh-CN" altLang="en-US"/>
              <a:t>客服转接为正在进行人工会话的客服和管理员对访客进行新客服分配时，自行选择分配到接待人数较少并能接待新访客的客服。</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页脚占位符 4"/>
          <p:cNvSpPr>
            <a:spLocks noGrp="1"/>
          </p:cNvSpPr>
          <p:nvPr>
            <p:ph type="ftr" sz="quarter" idx="11"/>
          </p:nvPr>
        </p:nvSpPr>
        <p:spPr/>
        <p:txBody>
          <a:bodyPr/>
          <a:lstStyle/>
          <a:p>
            <a:pPr>
              <a:defRPr/>
            </a:pPr>
            <a:r>
              <a:rPr lang="en-US" altLang="zh-CN"/>
              <a:t>Company Logo</a:t>
            </a:r>
          </a:p>
        </p:txBody>
      </p:sp>
      <p:sp>
        <p:nvSpPr>
          <p:cNvPr id="8195" name="Rectangle 2"/>
          <p:cNvSpPr>
            <a:spLocks noGrp="1" noChangeArrowheads="1"/>
          </p:cNvSpPr>
          <p:nvPr>
            <p:ph type="title"/>
          </p:nvPr>
        </p:nvSpPr>
        <p:spPr/>
        <p:txBody>
          <a:bodyPr/>
          <a:lstStyle/>
          <a:p>
            <a:pPr eaLnBrk="1" hangingPunct="1"/>
            <a:r>
              <a:rPr lang="en-US" altLang="zh-CN">
                <a:solidFill>
                  <a:srgbClr val="000000"/>
                </a:solidFill>
                <a:ea typeface="宋体" panose="02010600030101010101" pitchFamily="2" charset="-122"/>
                <a:sym typeface="+mn-ea"/>
              </a:rPr>
              <a:t>人工客服--</a:t>
            </a:r>
            <a:r>
              <a:rPr lang="zh-CN" altLang="zh-CN">
                <a:solidFill>
                  <a:srgbClr val="000000"/>
                </a:solidFill>
                <a:ea typeface="宋体" panose="02010600030101010101" pitchFamily="2" charset="-122"/>
                <a:sym typeface="+mn-ea"/>
              </a:rPr>
              <a:t>客服组转接</a:t>
            </a:r>
            <a:endParaRPr lang="zh-CN" altLang="zh-CN" sz="1800" smtClean="0">
              <a:solidFill>
                <a:srgbClr val="000000"/>
              </a:solidFill>
              <a:ea typeface="宋体" panose="02010600030101010101" pitchFamily="2" charset="-122"/>
              <a:sym typeface="+mn-ea"/>
            </a:endParaRPr>
          </a:p>
        </p:txBody>
      </p:sp>
      <p:pic>
        <p:nvPicPr>
          <p:cNvPr id="5" name="图片 4" descr="PBO_U$({C8UG}DOJ(RU]7(Q"/>
          <p:cNvPicPr>
            <a:picLocks noChangeAspect="1"/>
          </p:cNvPicPr>
          <p:nvPr/>
        </p:nvPicPr>
        <p:blipFill>
          <a:blip r:embed="rId2" cstate="print"/>
          <a:stretch>
            <a:fillRect/>
          </a:stretch>
        </p:blipFill>
        <p:spPr>
          <a:xfrm>
            <a:off x="848360" y="1435100"/>
            <a:ext cx="7034530" cy="3839845"/>
          </a:xfrm>
          <a:prstGeom prst="rect">
            <a:avLst/>
          </a:prstGeom>
        </p:spPr>
      </p:pic>
      <p:sp>
        <p:nvSpPr>
          <p:cNvPr id="2" name="文本框 1"/>
          <p:cNvSpPr txBox="1"/>
          <p:nvPr/>
        </p:nvSpPr>
        <p:spPr>
          <a:xfrm>
            <a:off x="1491615" y="5547995"/>
            <a:ext cx="6609080" cy="922020"/>
          </a:xfrm>
          <a:prstGeom prst="rect">
            <a:avLst/>
          </a:prstGeom>
          <a:noFill/>
        </p:spPr>
        <p:txBody>
          <a:bodyPr wrap="square" rtlCol="0">
            <a:spAutoFit/>
          </a:bodyPr>
          <a:lstStyle/>
          <a:p>
            <a:r>
              <a:rPr lang="zh-CN" altLang="en-US"/>
              <a:t>客服组转接为正在进行人工会话的客服和管理员对访客进行新客服分配时，选择正在在线并可接待新访客的客服的客服组，由后端自动分配到接待人数较少并能接待新访客的客服。</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页脚占位符 4"/>
          <p:cNvSpPr>
            <a:spLocks noGrp="1"/>
          </p:cNvSpPr>
          <p:nvPr>
            <p:ph type="ftr" sz="quarter" idx="11"/>
          </p:nvPr>
        </p:nvSpPr>
        <p:spPr/>
        <p:txBody>
          <a:bodyPr/>
          <a:lstStyle/>
          <a:p>
            <a:pPr>
              <a:defRPr/>
            </a:pPr>
            <a:r>
              <a:rPr lang="en-US" altLang="zh-CN"/>
              <a:t>Company Logo</a:t>
            </a:r>
          </a:p>
        </p:txBody>
      </p:sp>
      <p:sp>
        <p:nvSpPr>
          <p:cNvPr id="9219" name="Rectangle 2"/>
          <p:cNvSpPr>
            <a:spLocks noGrp="1" noChangeArrowheads="1"/>
          </p:cNvSpPr>
          <p:nvPr>
            <p:ph type="title"/>
          </p:nvPr>
        </p:nvSpPr>
        <p:spPr/>
        <p:txBody>
          <a:bodyPr/>
          <a:lstStyle/>
          <a:p>
            <a:pPr eaLnBrk="1" hangingPunct="1"/>
            <a:r>
              <a:rPr lang="en-US" altLang="zh-CN">
                <a:solidFill>
                  <a:srgbClr val="000000"/>
                </a:solidFill>
                <a:ea typeface="宋体" panose="02010600030101010101" pitchFamily="2" charset="-122"/>
                <a:sym typeface="+mn-ea"/>
              </a:rPr>
              <a:t>客服管理--</a:t>
            </a:r>
            <a:r>
              <a:rPr lang="zh-CN" altLang="en-US">
                <a:solidFill>
                  <a:srgbClr val="000000"/>
                </a:solidFill>
                <a:ea typeface="宋体" panose="02010600030101010101" pitchFamily="2" charset="-122"/>
                <a:sym typeface="+mn-ea"/>
              </a:rPr>
              <a:t>客服组成员管理</a:t>
            </a:r>
            <a:endParaRPr lang="zh-CN" altLang="en-US" sz="1800" smtClean="0">
              <a:solidFill>
                <a:srgbClr val="000000"/>
              </a:solidFill>
              <a:ea typeface="宋体" panose="02010600030101010101" pitchFamily="2" charset="-122"/>
              <a:sym typeface="+mn-ea"/>
            </a:endParaRPr>
          </a:p>
        </p:txBody>
      </p:sp>
      <p:pic>
        <p:nvPicPr>
          <p:cNvPr id="5" name="图片 4" descr="NVECG5U}CNZ]BI3AHD994QO"/>
          <p:cNvPicPr>
            <a:picLocks noChangeAspect="1"/>
          </p:cNvPicPr>
          <p:nvPr/>
        </p:nvPicPr>
        <p:blipFill>
          <a:blip r:embed="rId2" cstate="print"/>
          <a:stretch>
            <a:fillRect/>
          </a:stretch>
        </p:blipFill>
        <p:spPr>
          <a:xfrm>
            <a:off x="850900" y="1305560"/>
            <a:ext cx="7244715" cy="3954145"/>
          </a:xfrm>
          <a:prstGeom prst="rect">
            <a:avLst/>
          </a:prstGeom>
        </p:spPr>
      </p:pic>
      <p:sp>
        <p:nvSpPr>
          <p:cNvPr id="2" name="文本框 1"/>
          <p:cNvSpPr txBox="1"/>
          <p:nvPr/>
        </p:nvSpPr>
        <p:spPr>
          <a:xfrm>
            <a:off x="1239520" y="5474970"/>
            <a:ext cx="6913880" cy="645160"/>
          </a:xfrm>
          <a:prstGeom prst="rect">
            <a:avLst/>
          </a:prstGeom>
          <a:noFill/>
        </p:spPr>
        <p:txBody>
          <a:bodyPr wrap="square" rtlCol="0">
            <a:spAutoFit/>
          </a:bodyPr>
          <a:lstStyle/>
          <a:p>
            <a:r>
              <a:rPr lang="zh-CN" altLang="en-US"/>
              <a:t>客服组成员管理为管理员和超级管理员对客服和管理员进行客服分组划分管理。</a:t>
            </a:r>
            <a:endParaRPr lang="en-US" altLang="zh-CN"/>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页脚占位符 4"/>
          <p:cNvSpPr>
            <a:spLocks noGrp="1"/>
          </p:cNvSpPr>
          <p:nvPr>
            <p:ph type="ftr" sz="quarter" idx="11"/>
          </p:nvPr>
        </p:nvSpPr>
        <p:spPr/>
        <p:txBody>
          <a:bodyPr/>
          <a:lstStyle/>
          <a:p>
            <a:pPr>
              <a:defRPr/>
            </a:pPr>
            <a:r>
              <a:rPr lang="en-US" altLang="zh-CN"/>
              <a:t>Company Logo</a:t>
            </a:r>
          </a:p>
        </p:txBody>
      </p:sp>
      <p:sp>
        <p:nvSpPr>
          <p:cNvPr id="9219" name="Rectangle 2"/>
          <p:cNvSpPr>
            <a:spLocks noGrp="1" noChangeArrowheads="1"/>
          </p:cNvSpPr>
          <p:nvPr>
            <p:ph type="title"/>
          </p:nvPr>
        </p:nvSpPr>
        <p:spPr/>
        <p:txBody>
          <a:bodyPr/>
          <a:lstStyle/>
          <a:p>
            <a:pPr eaLnBrk="1" hangingPunct="1"/>
            <a:r>
              <a:rPr lang="en-US" altLang="zh-CN">
                <a:solidFill>
                  <a:srgbClr val="000000"/>
                </a:solidFill>
                <a:ea typeface="宋体" panose="02010600030101010101" pitchFamily="2" charset="-122"/>
                <a:sym typeface="+mn-ea"/>
              </a:rPr>
              <a:t>客服管理--</a:t>
            </a:r>
            <a:r>
              <a:rPr lang="zh-CN" altLang="en-US">
                <a:solidFill>
                  <a:srgbClr val="000000"/>
                </a:solidFill>
                <a:ea typeface="宋体" panose="02010600030101010101" pitchFamily="2" charset="-122"/>
                <a:sym typeface="+mn-ea"/>
              </a:rPr>
              <a:t>客服编辑</a:t>
            </a:r>
            <a:endParaRPr lang="zh-CN" altLang="en-US" sz="1800" smtClean="0">
              <a:solidFill>
                <a:srgbClr val="000000"/>
              </a:solidFill>
              <a:ea typeface="宋体" panose="02010600030101010101" pitchFamily="2" charset="-122"/>
              <a:sym typeface="+mn-ea"/>
            </a:endParaRPr>
          </a:p>
        </p:txBody>
      </p:sp>
      <p:pic>
        <p:nvPicPr>
          <p:cNvPr id="5" name="图片 4" descr="L8)$H(4V2PL@F795(RZ]C%F"/>
          <p:cNvPicPr>
            <a:picLocks noChangeAspect="1"/>
          </p:cNvPicPr>
          <p:nvPr/>
        </p:nvPicPr>
        <p:blipFill>
          <a:blip r:embed="rId2" cstate="print"/>
          <a:stretch>
            <a:fillRect/>
          </a:stretch>
        </p:blipFill>
        <p:spPr>
          <a:xfrm>
            <a:off x="879475" y="1586865"/>
            <a:ext cx="7000875" cy="3821430"/>
          </a:xfrm>
          <a:prstGeom prst="rect">
            <a:avLst/>
          </a:prstGeom>
        </p:spPr>
      </p:pic>
      <p:sp>
        <p:nvSpPr>
          <p:cNvPr id="2" name="文本框 1"/>
          <p:cNvSpPr txBox="1"/>
          <p:nvPr/>
        </p:nvSpPr>
        <p:spPr>
          <a:xfrm>
            <a:off x="1450340" y="5614035"/>
            <a:ext cx="6290310" cy="645160"/>
          </a:xfrm>
          <a:prstGeom prst="rect">
            <a:avLst/>
          </a:prstGeom>
          <a:noFill/>
        </p:spPr>
        <p:txBody>
          <a:bodyPr wrap="square" rtlCol="0">
            <a:spAutoFit/>
          </a:bodyPr>
          <a:lstStyle/>
          <a:p>
            <a:r>
              <a:rPr lang="zh-CN" altLang="en-US"/>
              <a:t>客服编辑为管理员和超级管理员管理客服、管理员用户的接口，包括新增、删除等。</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页脚占位符 4"/>
          <p:cNvSpPr>
            <a:spLocks noGrp="1"/>
          </p:cNvSpPr>
          <p:nvPr>
            <p:ph type="ftr" sz="quarter" idx="11"/>
          </p:nvPr>
        </p:nvSpPr>
        <p:spPr/>
        <p:txBody>
          <a:bodyPr/>
          <a:lstStyle/>
          <a:p>
            <a:pPr>
              <a:defRPr/>
            </a:pPr>
            <a:r>
              <a:rPr lang="en-US" altLang="zh-CN"/>
              <a:t>Company Logo</a:t>
            </a:r>
          </a:p>
        </p:txBody>
      </p:sp>
      <p:sp>
        <p:nvSpPr>
          <p:cNvPr id="10243" name="Rectangle 2"/>
          <p:cNvSpPr>
            <a:spLocks noGrp="1" noChangeArrowheads="1"/>
          </p:cNvSpPr>
          <p:nvPr>
            <p:ph type="title"/>
          </p:nvPr>
        </p:nvSpPr>
        <p:spPr/>
        <p:txBody>
          <a:bodyPr/>
          <a:lstStyle/>
          <a:p>
            <a:pPr eaLnBrk="1" hangingPunct="1"/>
            <a:r>
              <a:rPr lang="zh-CN" altLang="en-US" sz="2000">
                <a:solidFill>
                  <a:srgbClr val="000000"/>
                </a:solidFill>
                <a:ea typeface="宋体" panose="02010600030101010101" pitchFamily="2" charset="-122"/>
                <a:sym typeface="+mn-ea"/>
              </a:rPr>
              <a:t>访客</a:t>
            </a:r>
            <a:r>
              <a:rPr lang="en-US" altLang="zh-CN" sz="2000">
                <a:solidFill>
                  <a:srgbClr val="000000"/>
                </a:solidFill>
                <a:ea typeface="宋体" panose="02010600030101010101" pitchFamily="2" charset="-122"/>
                <a:sym typeface="+mn-ea"/>
              </a:rPr>
              <a:t>用户</a:t>
            </a:r>
            <a:r>
              <a:rPr lang="zh-CN" altLang="en-US" sz="2000">
                <a:solidFill>
                  <a:srgbClr val="000000"/>
                </a:solidFill>
                <a:ea typeface="宋体" panose="02010600030101010101" pitchFamily="2" charset="-122"/>
                <a:sym typeface="+mn-ea"/>
              </a:rPr>
              <a:t>信息和</a:t>
            </a:r>
            <a:r>
              <a:rPr lang="en-US" altLang="zh-CN" sz="2000">
                <a:solidFill>
                  <a:srgbClr val="000000"/>
                </a:solidFill>
                <a:ea typeface="宋体" panose="02010600030101010101" pitchFamily="2" charset="-122"/>
                <a:sym typeface="+mn-ea"/>
              </a:rPr>
              <a:t>企业用户CRM信息</a:t>
            </a:r>
            <a:endParaRPr lang="en-US" altLang="zh-CN" sz="2000" smtClean="0">
              <a:ea typeface="宋体" panose="02010600030101010101" pitchFamily="2" charset="-122"/>
            </a:endParaRPr>
          </a:p>
        </p:txBody>
      </p:sp>
      <p:pic>
        <p:nvPicPr>
          <p:cNvPr id="3" name="图片 2" descr="%SA9Q4O`U8Y)8)}Z67KVQY3"/>
          <p:cNvPicPr>
            <a:picLocks noChangeAspect="1"/>
          </p:cNvPicPr>
          <p:nvPr/>
        </p:nvPicPr>
        <p:blipFill>
          <a:blip r:embed="rId2" cstate="print"/>
          <a:stretch>
            <a:fillRect/>
          </a:stretch>
        </p:blipFill>
        <p:spPr>
          <a:xfrm>
            <a:off x="615315" y="1157605"/>
            <a:ext cx="1825625" cy="3604895"/>
          </a:xfrm>
          <a:prstGeom prst="rect">
            <a:avLst/>
          </a:prstGeom>
        </p:spPr>
      </p:pic>
      <p:pic>
        <p:nvPicPr>
          <p:cNvPr id="4" name="图片 3" descr="32DWG49V3ZO@1E9GNDA~H_I"/>
          <p:cNvPicPr>
            <a:picLocks noChangeAspect="1"/>
          </p:cNvPicPr>
          <p:nvPr/>
        </p:nvPicPr>
        <p:blipFill>
          <a:blip r:embed="rId3" cstate="print"/>
          <a:stretch>
            <a:fillRect/>
          </a:stretch>
        </p:blipFill>
        <p:spPr>
          <a:xfrm>
            <a:off x="4083050" y="1107440"/>
            <a:ext cx="1756410" cy="3718560"/>
          </a:xfrm>
          <a:prstGeom prst="rect">
            <a:avLst/>
          </a:prstGeom>
        </p:spPr>
      </p:pic>
      <p:sp>
        <p:nvSpPr>
          <p:cNvPr id="5" name="文本框 4"/>
          <p:cNvSpPr txBox="1"/>
          <p:nvPr/>
        </p:nvSpPr>
        <p:spPr>
          <a:xfrm>
            <a:off x="457200" y="4990465"/>
            <a:ext cx="6979285" cy="1476375"/>
          </a:xfrm>
          <a:prstGeom prst="rect">
            <a:avLst/>
          </a:prstGeom>
          <a:noFill/>
        </p:spPr>
        <p:txBody>
          <a:bodyPr wrap="square" rtlCol="0">
            <a:spAutoFit/>
          </a:bodyPr>
          <a:lstStyle/>
          <a:p>
            <a:r>
              <a:rPr lang="zh-CN" altLang="en-US"/>
              <a:t>用户信息为客服系统本身记录的用户信息，包括用户昵称、手机、邮件来源终端等。</a:t>
            </a:r>
          </a:p>
          <a:p>
            <a:r>
              <a:rPr lang="zh-CN" altLang="en-US"/>
              <a:t>企业用户</a:t>
            </a:r>
            <a:r>
              <a:rPr lang="en-US" altLang="zh-CN"/>
              <a:t>CRM</a:t>
            </a:r>
            <a:r>
              <a:rPr lang="zh-CN" altLang="en-US">
                <a:ea typeface="宋体" panose="02010600030101010101" pitchFamily="2" charset="-122"/>
              </a:rPr>
              <a:t>信息为企业用户（如你我金融用户）发送查询请求，经过客服后端转发到你我金融业务系统获取该用户在</a:t>
            </a:r>
            <a:r>
              <a:rPr lang="en-US" altLang="zh-CN">
                <a:ea typeface="宋体" panose="02010600030101010101" pitchFamily="2" charset="-122"/>
              </a:rPr>
              <a:t>app</a:t>
            </a:r>
            <a:r>
              <a:rPr lang="zh-CN" altLang="en-US">
                <a:ea typeface="宋体" panose="02010600030101010101" pitchFamily="2" charset="-122"/>
              </a:rPr>
              <a:t>中的用户信息和其他订单信息等。</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页脚占位符 4"/>
          <p:cNvSpPr>
            <a:spLocks noGrp="1"/>
          </p:cNvSpPr>
          <p:nvPr>
            <p:ph type="ftr" sz="quarter" idx="11"/>
          </p:nvPr>
        </p:nvSpPr>
        <p:spPr/>
        <p:txBody>
          <a:bodyPr/>
          <a:lstStyle/>
          <a:p>
            <a:pPr>
              <a:defRPr/>
            </a:pPr>
            <a:r>
              <a:rPr lang="en-US" altLang="zh-CN"/>
              <a:t>Company Logo</a:t>
            </a:r>
          </a:p>
        </p:txBody>
      </p:sp>
      <p:sp>
        <p:nvSpPr>
          <p:cNvPr id="11267" name="Rectangle 2"/>
          <p:cNvSpPr>
            <a:spLocks noGrp="1" noChangeArrowheads="1"/>
          </p:cNvSpPr>
          <p:nvPr>
            <p:ph type="title"/>
          </p:nvPr>
        </p:nvSpPr>
        <p:spPr/>
        <p:txBody>
          <a:bodyPr/>
          <a:lstStyle/>
          <a:p>
            <a:pPr eaLnBrk="1" hangingPunct="1"/>
            <a:r>
              <a:rPr lang="en-US" altLang="zh-CN">
                <a:solidFill>
                  <a:srgbClr val="000000"/>
                </a:solidFill>
                <a:ea typeface="宋体" panose="02010600030101010101" pitchFamily="2" charset="-122"/>
                <a:sym typeface="+mn-ea"/>
              </a:rPr>
              <a:t>历史会话</a:t>
            </a:r>
            <a:endParaRPr lang="en-US" altLang="zh-CN" sz="1800" smtClean="0">
              <a:ea typeface="宋体" panose="02010600030101010101" pitchFamily="2" charset="-122"/>
            </a:endParaRPr>
          </a:p>
        </p:txBody>
      </p:sp>
      <p:pic>
        <p:nvPicPr>
          <p:cNvPr id="2" name="图片 1" descr="2(WCA%EI)8`Z9C$6H~I~28T"/>
          <p:cNvPicPr>
            <a:picLocks noChangeAspect="1"/>
          </p:cNvPicPr>
          <p:nvPr/>
        </p:nvPicPr>
        <p:blipFill>
          <a:blip r:embed="rId2" cstate="print"/>
          <a:stretch>
            <a:fillRect/>
          </a:stretch>
        </p:blipFill>
        <p:spPr>
          <a:xfrm>
            <a:off x="217805" y="1242695"/>
            <a:ext cx="4511040" cy="2587625"/>
          </a:xfrm>
          <a:prstGeom prst="rect">
            <a:avLst/>
          </a:prstGeom>
        </p:spPr>
      </p:pic>
      <p:sp>
        <p:nvSpPr>
          <p:cNvPr id="4" name="文本框 3"/>
          <p:cNvSpPr txBox="1"/>
          <p:nvPr/>
        </p:nvSpPr>
        <p:spPr>
          <a:xfrm>
            <a:off x="540385" y="4231005"/>
            <a:ext cx="7613015" cy="1476375"/>
          </a:xfrm>
          <a:prstGeom prst="rect">
            <a:avLst/>
          </a:prstGeom>
          <a:noFill/>
        </p:spPr>
        <p:txBody>
          <a:bodyPr wrap="square" rtlCol="0">
            <a:spAutoFit/>
          </a:bodyPr>
          <a:lstStyle/>
          <a:p>
            <a:r>
              <a:rPr lang="zh-CN" altLang="en-US"/>
              <a:t>历史会话为客服、管理员等查看根据、指定客服、时间段、会话问题解决状态、会话评价等维度，查询客服的历史会话信息，并发进一步查询指定历史会话的状态和聊天消息，以及该历史会话的访客的用户信息和历史会话列表。</a:t>
            </a:r>
          </a:p>
          <a:p>
            <a:endParaRPr lang="zh-CN" altLang="en-US"/>
          </a:p>
        </p:txBody>
      </p:sp>
      <p:pic>
        <p:nvPicPr>
          <p:cNvPr id="5" name="图片 4" descr="EDEZOSFFJ)_%[IHYU_$QCP9"/>
          <p:cNvPicPr>
            <a:picLocks noChangeAspect="1"/>
          </p:cNvPicPr>
          <p:nvPr/>
        </p:nvPicPr>
        <p:blipFill>
          <a:blip r:embed="rId3" cstate="print"/>
          <a:stretch>
            <a:fillRect/>
          </a:stretch>
        </p:blipFill>
        <p:spPr>
          <a:xfrm>
            <a:off x="4518025" y="1755140"/>
            <a:ext cx="4535805" cy="2475865"/>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页脚占位符 4"/>
          <p:cNvSpPr>
            <a:spLocks noGrp="1"/>
          </p:cNvSpPr>
          <p:nvPr>
            <p:ph type="ftr" sz="quarter" idx="11"/>
          </p:nvPr>
        </p:nvSpPr>
        <p:spPr/>
        <p:txBody>
          <a:bodyPr/>
          <a:lstStyle/>
          <a:p>
            <a:pPr>
              <a:defRPr/>
            </a:pPr>
            <a:r>
              <a:rPr lang="en-US" altLang="zh-CN"/>
              <a:t>Company Logo</a:t>
            </a:r>
          </a:p>
        </p:txBody>
      </p:sp>
      <p:sp>
        <p:nvSpPr>
          <p:cNvPr id="12294" name="Rectangle 5"/>
          <p:cNvSpPr>
            <a:spLocks noGrp="1" noChangeArrowheads="1"/>
          </p:cNvSpPr>
          <p:nvPr>
            <p:ph type="title"/>
          </p:nvPr>
        </p:nvSpPr>
        <p:spPr/>
        <p:txBody>
          <a:bodyPr/>
          <a:lstStyle/>
          <a:p>
            <a:pPr eaLnBrk="1" hangingPunct="1"/>
            <a:r>
              <a:rPr lang="zh-CN" altLang="en-US" sz="3600">
                <a:solidFill>
                  <a:srgbClr val="000000"/>
                </a:solidFill>
                <a:ea typeface="宋体" panose="02010600030101010101" pitchFamily="2" charset="-122"/>
                <a:sym typeface="+mn-ea"/>
              </a:rPr>
              <a:t>机器人知识库和热门问题</a:t>
            </a:r>
            <a:r>
              <a:rPr lang="zh-CN" altLang="en-US" sz="3600">
                <a:solidFill>
                  <a:srgbClr val="000000"/>
                </a:solidFill>
                <a:ea typeface="宋体" panose="02010600030101010101" pitchFamily="2" charset="-122"/>
              </a:rPr>
              <a:t/>
            </a:r>
            <a:br>
              <a:rPr lang="zh-CN" altLang="en-US" sz="3600">
                <a:solidFill>
                  <a:srgbClr val="000000"/>
                </a:solidFill>
                <a:ea typeface="宋体" panose="02010600030101010101" pitchFamily="2" charset="-122"/>
              </a:rPr>
            </a:br>
            <a:endParaRPr lang="en-US" altLang="zh-CN" sz="2000" smtClean="0">
              <a:ea typeface="宋体" panose="02010600030101010101" pitchFamily="2" charset="-122"/>
            </a:endParaRPr>
          </a:p>
        </p:txBody>
      </p:sp>
      <p:pic>
        <p:nvPicPr>
          <p:cNvPr id="3" name="图片 2" descr="U9$W}KLZH`S0D)S_HP2UY_F"/>
          <p:cNvPicPr>
            <a:picLocks noChangeAspect="1"/>
          </p:cNvPicPr>
          <p:nvPr/>
        </p:nvPicPr>
        <p:blipFill>
          <a:blip r:embed="rId2" cstate="print"/>
          <a:stretch>
            <a:fillRect/>
          </a:stretch>
        </p:blipFill>
        <p:spPr>
          <a:xfrm>
            <a:off x="188595" y="1458595"/>
            <a:ext cx="4647565" cy="2665095"/>
          </a:xfrm>
          <a:prstGeom prst="rect">
            <a:avLst/>
          </a:prstGeom>
        </p:spPr>
      </p:pic>
      <p:pic>
        <p:nvPicPr>
          <p:cNvPr id="4" name="图片 3" descr="9$}7SWNPY944MO2`}7MYWXS"/>
          <p:cNvPicPr>
            <a:picLocks noChangeAspect="1"/>
          </p:cNvPicPr>
          <p:nvPr/>
        </p:nvPicPr>
        <p:blipFill>
          <a:blip r:embed="rId3" cstate="print"/>
          <a:stretch>
            <a:fillRect/>
          </a:stretch>
        </p:blipFill>
        <p:spPr>
          <a:xfrm>
            <a:off x="4572635" y="1952625"/>
            <a:ext cx="4545330" cy="2664460"/>
          </a:xfrm>
          <a:prstGeom prst="rect">
            <a:avLst/>
          </a:prstGeom>
        </p:spPr>
      </p:pic>
      <p:sp>
        <p:nvSpPr>
          <p:cNvPr id="5" name="文本框 4"/>
          <p:cNvSpPr txBox="1"/>
          <p:nvPr/>
        </p:nvSpPr>
        <p:spPr>
          <a:xfrm>
            <a:off x="457200" y="4782820"/>
            <a:ext cx="8234680" cy="1198880"/>
          </a:xfrm>
          <a:prstGeom prst="rect">
            <a:avLst/>
          </a:prstGeom>
          <a:noFill/>
        </p:spPr>
        <p:txBody>
          <a:bodyPr wrap="square" rtlCol="0">
            <a:spAutoFit/>
          </a:bodyPr>
          <a:lstStyle/>
          <a:p>
            <a:r>
              <a:rPr lang="zh-CN" altLang="en-US"/>
              <a:t>机器人知识库作为机器人问题和答案的数据来源。在机器人单聊时会匹配多个或者一个问题的答案，并返回前端。</a:t>
            </a:r>
          </a:p>
          <a:p>
            <a:r>
              <a:rPr lang="zh-CN" altLang="en-US"/>
              <a:t>热门问题分为推送问题和常用问题。推送问题会在进入机器人会话时，由服务器推送。</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页脚占位符 4"/>
          <p:cNvSpPr>
            <a:spLocks noGrp="1"/>
          </p:cNvSpPr>
          <p:nvPr>
            <p:ph type="ftr" sz="quarter" idx="11"/>
          </p:nvPr>
        </p:nvSpPr>
        <p:spPr/>
        <p:txBody>
          <a:bodyPr/>
          <a:lstStyle/>
          <a:p>
            <a:pPr>
              <a:defRPr/>
            </a:pPr>
            <a:r>
              <a:rPr lang="en-US" altLang="zh-CN"/>
              <a:t>Company Logo</a:t>
            </a:r>
          </a:p>
        </p:txBody>
      </p:sp>
      <p:sp>
        <p:nvSpPr>
          <p:cNvPr id="13315" name="Rectangle 2"/>
          <p:cNvSpPr>
            <a:spLocks noGrp="1" noChangeArrowheads="1"/>
          </p:cNvSpPr>
          <p:nvPr>
            <p:ph type="title"/>
          </p:nvPr>
        </p:nvSpPr>
        <p:spPr/>
        <p:txBody>
          <a:bodyPr/>
          <a:lstStyle/>
          <a:p>
            <a:pPr eaLnBrk="1" hangingPunct="1"/>
            <a:r>
              <a:rPr lang="zh-CN" altLang="zh-CN">
                <a:solidFill>
                  <a:srgbClr val="000000"/>
                </a:solidFill>
                <a:ea typeface="宋体" panose="02010600030101010101" pitchFamily="2" charset="-122"/>
                <a:sym typeface="+mn-ea"/>
              </a:rPr>
              <a:t>会话质量管理</a:t>
            </a:r>
            <a:r>
              <a:rPr lang="en-US" altLang="zh-CN">
                <a:solidFill>
                  <a:srgbClr val="000000"/>
                </a:solidFill>
                <a:ea typeface="宋体" panose="02010600030101010101" pitchFamily="2" charset="-122"/>
                <a:sym typeface="+mn-ea"/>
              </a:rPr>
              <a:t>--</a:t>
            </a:r>
            <a:r>
              <a:rPr lang="zh-CN" altLang="zh-CN">
                <a:solidFill>
                  <a:srgbClr val="000000"/>
                </a:solidFill>
                <a:ea typeface="宋体" panose="02010600030101010101" pitchFamily="2" charset="-122"/>
                <a:sym typeface="+mn-ea"/>
              </a:rPr>
              <a:t>会话质检筛选</a:t>
            </a:r>
            <a:endParaRPr lang="zh-CN" altLang="zh-CN" smtClean="0">
              <a:solidFill>
                <a:srgbClr val="000000"/>
              </a:solidFill>
              <a:ea typeface="宋体" panose="02010600030101010101" pitchFamily="2" charset="-122"/>
              <a:sym typeface="+mn-ea"/>
            </a:endParaRPr>
          </a:p>
        </p:txBody>
      </p:sp>
      <p:pic>
        <p:nvPicPr>
          <p:cNvPr id="3" name="图片 2"/>
          <p:cNvPicPr>
            <a:picLocks noChangeAspect="1"/>
          </p:cNvPicPr>
          <p:nvPr/>
        </p:nvPicPr>
        <p:blipFill>
          <a:blip r:embed="rId2" cstate="print"/>
          <a:stretch>
            <a:fillRect/>
          </a:stretch>
        </p:blipFill>
        <p:spPr>
          <a:xfrm>
            <a:off x="814070" y="1276350"/>
            <a:ext cx="7407275" cy="3434080"/>
          </a:xfrm>
          <a:prstGeom prst="rect">
            <a:avLst/>
          </a:prstGeom>
        </p:spPr>
      </p:pic>
      <p:sp>
        <p:nvSpPr>
          <p:cNvPr id="4" name="文本框 3"/>
          <p:cNvSpPr txBox="1"/>
          <p:nvPr/>
        </p:nvSpPr>
        <p:spPr>
          <a:xfrm>
            <a:off x="281305" y="4751070"/>
            <a:ext cx="8305165" cy="1476375"/>
          </a:xfrm>
          <a:prstGeom prst="rect">
            <a:avLst/>
          </a:prstGeom>
          <a:noFill/>
        </p:spPr>
        <p:txBody>
          <a:bodyPr wrap="square" rtlCol="0">
            <a:spAutoFit/>
          </a:bodyPr>
          <a:lstStyle/>
          <a:p>
            <a:r>
              <a:rPr lang="zh-CN" altLang="en-US"/>
              <a:t>会话质量检查是管理员对客服会话质量检查的记录。</a:t>
            </a:r>
          </a:p>
          <a:p>
            <a:r>
              <a:rPr lang="zh-CN" altLang="en-US"/>
              <a:t>质检结果页面主要是查询客服的质检考核情况。</a:t>
            </a:r>
          </a:p>
          <a:p>
            <a:r>
              <a:rPr lang="zh-CN" altLang="en-US"/>
              <a:t>质检结果页面提供搜索、时间范围筛选、解决状态、咨询分类、客服对象、满意度等多维度的筛选条件查询。</a:t>
            </a:r>
          </a:p>
          <a:p>
            <a:r>
              <a:rPr lang="zh-CN" altLang="en-US"/>
              <a:t>查询结果包含会话开始时间、用户名、咨询分类、接待客服、质检状态等信息。</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页脚占位符 4"/>
          <p:cNvSpPr>
            <a:spLocks noGrp="1"/>
          </p:cNvSpPr>
          <p:nvPr>
            <p:ph type="ftr" sz="quarter" idx="11"/>
          </p:nvPr>
        </p:nvSpPr>
        <p:spPr/>
        <p:txBody>
          <a:bodyPr/>
          <a:lstStyle/>
          <a:p>
            <a:pPr>
              <a:defRPr/>
            </a:pPr>
            <a:r>
              <a:rPr lang="en-US" altLang="zh-CN"/>
              <a:t>Company Logo</a:t>
            </a:r>
          </a:p>
        </p:txBody>
      </p:sp>
      <p:sp>
        <p:nvSpPr>
          <p:cNvPr id="14339" name="Rectangle 2"/>
          <p:cNvSpPr>
            <a:spLocks noGrp="1" noChangeArrowheads="1"/>
          </p:cNvSpPr>
          <p:nvPr>
            <p:ph type="title"/>
          </p:nvPr>
        </p:nvSpPr>
        <p:spPr/>
        <p:txBody>
          <a:bodyPr/>
          <a:lstStyle/>
          <a:p>
            <a:pPr eaLnBrk="1" hangingPunct="1"/>
            <a:r>
              <a:rPr lang="zh-CN" altLang="zh-CN" sz="3600">
                <a:solidFill>
                  <a:srgbClr val="000000"/>
                </a:solidFill>
                <a:ea typeface="宋体" panose="02010600030101010101" pitchFamily="2" charset="-122"/>
                <a:sym typeface="+mn-ea"/>
              </a:rPr>
              <a:t>会话质量管理</a:t>
            </a:r>
            <a:r>
              <a:rPr lang="en-US" altLang="zh-CN" sz="3600">
                <a:solidFill>
                  <a:srgbClr val="000000"/>
                </a:solidFill>
                <a:ea typeface="宋体" panose="02010600030101010101" pitchFamily="2" charset="-122"/>
                <a:sym typeface="+mn-ea"/>
              </a:rPr>
              <a:t>--</a:t>
            </a:r>
            <a:r>
              <a:rPr lang="zh-CN" altLang="zh-CN" sz="3600">
                <a:solidFill>
                  <a:srgbClr val="000000"/>
                </a:solidFill>
                <a:ea typeface="宋体" panose="02010600030101010101" pitchFamily="2" charset="-122"/>
                <a:sym typeface="+mn-ea"/>
              </a:rPr>
              <a:t>质检结果筛选</a:t>
            </a:r>
            <a:endParaRPr lang="en-US" altLang="zh-CN" sz="2000" smtClean="0">
              <a:ea typeface="宋体" panose="02010600030101010101" pitchFamily="2" charset="-122"/>
            </a:endParaRPr>
          </a:p>
        </p:txBody>
      </p:sp>
      <p:pic>
        <p:nvPicPr>
          <p:cNvPr id="2" name="图片 1" descr="Y_$55__QPFS~S_{}[WVZ)TJ"/>
          <p:cNvPicPr>
            <a:picLocks noChangeAspect="1"/>
          </p:cNvPicPr>
          <p:nvPr/>
        </p:nvPicPr>
        <p:blipFill>
          <a:blip r:embed="rId2" cstate="print"/>
          <a:stretch>
            <a:fillRect/>
          </a:stretch>
        </p:blipFill>
        <p:spPr>
          <a:xfrm>
            <a:off x="403860" y="1283335"/>
            <a:ext cx="8264525" cy="3830955"/>
          </a:xfrm>
          <a:prstGeom prst="rect">
            <a:avLst/>
          </a:prstGeom>
        </p:spPr>
      </p:pic>
      <p:sp>
        <p:nvSpPr>
          <p:cNvPr id="4" name="文本框 3"/>
          <p:cNvSpPr txBox="1"/>
          <p:nvPr/>
        </p:nvSpPr>
        <p:spPr>
          <a:xfrm>
            <a:off x="700405" y="5243830"/>
            <a:ext cx="7210425" cy="922020"/>
          </a:xfrm>
          <a:prstGeom prst="rect">
            <a:avLst/>
          </a:prstGeom>
          <a:noFill/>
        </p:spPr>
        <p:txBody>
          <a:bodyPr wrap="square" rtlCol="0">
            <a:spAutoFit/>
          </a:bodyPr>
          <a:lstStyle/>
          <a:p>
            <a:r>
              <a:rPr lang="zh-CN" altLang="en-US"/>
              <a:t>质检结果页面主要是查询客服的质检考核情况（已质检的会话）。</a:t>
            </a:r>
          </a:p>
          <a:p>
            <a:r>
              <a:rPr lang="zh-CN" altLang="en-US"/>
              <a:t>质检结果页面提供搜索、时间范围筛选、解决状态、咨询分类（会话类型）、客服对象、满意度等多维度的筛选条件查询。</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页脚占位符 4"/>
          <p:cNvSpPr>
            <a:spLocks noGrp="1"/>
          </p:cNvSpPr>
          <p:nvPr>
            <p:ph type="ftr" sz="quarter" idx="11"/>
          </p:nvPr>
        </p:nvSpPr>
        <p:spPr/>
        <p:txBody>
          <a:bodyPr/>
          <a:lstStyle/>
          <a:p>
            <a:pPr>
              <a:defRPr/>
            </a:pPr>
            <a:r>
              <a:rPr lang="en-US" altLang="zh-CN"/>
              <a:t>Company Logo</a:t>
            </a:r>
          </a:p>
        </p:txBody>
      </p:sp>
      <p:sp>
        <p:nvSpPr>
          <p:cNvPr id="15363" name="Rectangle 2"/>
          <p:cNvSpPr>
            <a:spLocks noGrp="1" noChangeArrowheads="1"/>
          </p:cNvSpPr>
          <p:nvPr>
            <p:ph type="title"/>
          </p:nvPr>
        </p:nvSpPr>
        <p:spPr>
          <a:xfrm>
            <a:off x="457200" y="461645"/>
            <a:ext cx="7995285" cy="563880"/>
          </a:xfrm>
        </p:spPr>
        <p:txBody>
          <a:bodyPr/>
          <a:lstStyle/>
          <a:p>
            <a:pPr eaLnBrk="1" hangingPunct="1"/>
            <a:r>
              <a:rPr lang="zh-CN" altLang="zh-CN" sz="3600">
                <a:solidFill>
                  <a:srgbClr val="000000"/>
                </a:solidFill>
                <a:ea typeface="宋体" panose="02010600030101010101" pitchFamily="2" charset="-122"/>
                <a:sym typeface="+mn-ea"/>
              </a:rPr>
              <a:t>会话质量管理</a:t>
            </a:r>
            <a:r>
              <a:rPr lang="en-US" altLang="zh-CN" sz="3600">
                <a:solidFill>
                  <a:srgbClr val="000000"/>
                </a:solidFill>
                <a:ea typeface="宋体" panose="02010600030101010101" pitchFamily="2" charset="-122"/>
                <a:sym typeface="+mn-ea"/>
              </a:rPr>
              <a:t>--</a:t>
            </a:r>
            <a:r>
              <a:rPr lang="zh-CN" altLang="zh-CN" sz="3600">
                <a:solidFill>
                  <a:srgbClr val="000000"/>
                </a:solidFill>
                <a:ea typeface="宋体" panose="02010600030101010101" pitchFamily="2" charset="-122"/>
                <a:sym typeface="+mn-ea"/>
              </a:rPr>
              <a:t>质检评分和禁忌项设置</a:t>
            </a:r>
            <a:endParaRPr lang="en-US" altLang="zh-CN" sz="2000" smtClean="0">
              <a:ea typeface="宋体" panose="02010600030101010101" pitchFamily="2" charset="-122"/>
            </a:endParaRPr>
          </a:p>
        </p:txBody>
      </p:sp>
      <p:pic>
        <p:nvPicPr>
          <p:cNvPr id="4" name="图片 3" descr="B1RB9R6]KV5[410CIAIT%IB"/>
          <p:cNvPicPr>
            <a:picLocks noChangeAspect="1"/>
          </p:cNvPicPr>
          <p:nvPr/>
        </p:nvPicPr>
        <p:blipFill>
          <a:blip r:embed="rId2" cstate="print"/>
          <a:stretch>
            <a:fillRect/>
          </a:stretch>
        </p:blipFill>
        <p:spPr>
          <a:xfrm>
            <a:off x="782320" y="1215390"/>
            <a:ext cx="6707505" cy="3661410"/>
          </a:xfrm>
          <a:prstGeom prst="rect">
            <a:avLst/>
          </a:prstGeom>
        </p:spPr>
      </p:pic>
      <p:sp>
        <p:nvSpPr>
          <p:cNvPr id="2" name="文本框 1"/>
          <p:cNvSpPr txBox="1"/>
          <p:nvPr/>
        </p:nvSpPr>
        <p:spPr>
          <a:xfrm>
            <a:off x="818515" y="5190490"/>
            <a:ext cx="7066280" cy="922020"/>
          </a:xfrm>
          <a:prstGeom prst="rect">
            <a:avLst/>
          </a:prstGeom>
          <a:noFill/>
        </p:spPr>
        <p:txBody>
          <a:bodyPr wrap="square" rtlCol="0">
            <a:spAutoFit/>
          </a:bodyPr>
          <a:lstStyle/>
          <a:p>
            <a:r>
              <a:rPr lang="zh-CN" altLang="en-US"/>
              <a:t>质检设定主要是自定义设置会话的考核指标及对应的指标分数。</a:t>
            </a:r>
          </a:p>
          <a:p>
            <a:r>
              <a:rPr lang="zh-CN" altLang="en-US"/>
              <a:t>通过质检可以设置评分规则，禁忌项设置。评分规则如服务态度、专业度、服务质量、响应速度、服务效率、服务周期等。</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页脚占位符 4"/>
          <p:cNvSpPr>
            <a:spLocks noGrp="1"/>
          </p:cNvSpPr>
          <p:nvPr>
            <p:ph type="ftr" sz="quarter" idx="11"/>
          </p:nvPr>
        </p:nvSpPr>
        <p:spPr/>
        <p:txBody>
          <a:bodyPr/>
          <a:lstStyle/>
          <a:p>
            <a:pPr>
              <a:defRPr/>
            </a:pPr>
            <a:r>
              <a:rPr lang="en-US" altLang="zh-CN"/>
              <a:t>Company Logo</a:t>
            </a:r>
          </a:p>
        </p:txBody>
      </p:sp>
      <p:pic>
        <p:nvPicPr>
          <p:cNvPr id="2" name="图片 1" descr=")@BGC(BSB$~3F)0)VV7%_%H"/>
          <p:cNvPicPr>
            <a:picLocks noChangeAspect="1"/>
          </p:cNvPicPr>
          <p:nvPr/>
        </p:nvPicPr>
        <p:blipFill>
          <a:blip r:embed="rId2" cstate="print"/>
          <a:stretch>
            <a:fillRect/>
          </a:stretch>
        </p:blipFill>
        <p:spPr>
          <a:xfrm>
            <a:off x="524510" y="1213485"/>
            <a:ext cx="7641590" cy="4171315"/>
          </a:xfrm>
          <a:prstGeom prst="rect">
            <a:avLst/>
          </a:prstGeom>
        </p:spPr>
      </p:pic>
      <p:sp>
        <p:nvSpPr>
          <p:cNvPr id="4" name="Rectangle 2"/>
          <p:cNvSpPr>
            <a:spLocks noGrp="1" noChangeArrowheads="1"/>
          </p:cNvSpPr>
          <p:nvPr>
            <p:ph type="title"/>
          </p:nvPr>
        </p:nvSpPr>
        <p:spPr/>
        <p:txBody>
          <a:bodyPr/>
          <a:lstStyle/>
          <a:p>
            <a:pPr eaLnBrk="1" hangingPunct="1"/>
            <a:r>
              <a:rPr lang="zh-CN" altLang="en-US">
                <a:solidFill>
                  <a:srgbClr val="000000"/>
                </a:solidFill>
                <a:ea typeface="宋体" panose="02010600030101010101" pitchFamily="2" charset="-122"/>
                <a:sym typeface="+mn-ea"/>
              </a:rPr>
              <a:t>系统运维管理</a:t>
            </a:r>
            <a:r>
              <a:rPr lang="en-US" altLang="zh-CN">
                <a:solidFill>
                  <a:srgbClr val="000000"/>
                </a:solidFill>
                <a:ea typeface="宋体" panose="02010600030101010101" pitchFamily="2" charset="-122"/>
                <a:sym typeface="+mn-ea"/>
              </a:rPr>
              <a:t>--</a:t>
            </a:r>
            <a:r>
              <a:rPr lang="zh-CN" altLang="en-US">
                <a:solidFill>
                  <a:srgbClr val="000000"/>
                </a:solidFill>
                <a:ea typeface="宋体" panose="02010600030101010101" pitchFamily="2" charset="-122"/>
                <a:sym typeface="+mn-ea"/>
              </a:rPr>
              <a:t>服务器监控</a:t>
            </a:r>
            <a:endParaRPr lang="en-US" altLang="zh-CN" smtClean="0">
              <a:ea typeface="宋体" panose="02010600030101010101" pitchFamily="2" charset="-122"/>
            </a:endParaRPr>
          </a:p>
        </p:txBody>
      </p:sp>
      <p:sp>
        <p:nvSpPr>
          <p:cNvPr id="6" name="文本框 5"/>
          <p:cNvSpPr txBox="1"/>
          <p:nvPr/>
        </p:nvSpPr>
        <p:spPr>
          <a:xfrm>
            <a:off x="948055" y="5564505"/>
            <a:ext cx="6576695" cy="645160"/>
          </a:xfrm>
          <a:prstGeom prst="rect">
            <a:avLst/>
          </a:prstGeom>
          <a:noFill/>
        </p:spPr>
        <p:txBody>
          <a:bodyPr wrap="square" rtlCol="0">
            <a:spAutoFit/>
          </a:bodyPr>
          <a:lstStyle/>
          <a:p>
            <a:r>
              <a:rPr lang="zh-CN" altLang="en-US"/>
              <a:t>服务器监控为运维和开发人员查看后台服务节点的运行状态，并可以通过后台</a:t>
            </a:r>
            <a:r>
              <a:rPr lang="en-US" altLang="zh-CN"/>
              <a:t>web</a:t>
            </a:r>
            <a:r>
              <a:rPr lang="zh-CN" altLang="en-US">
                <a:ea typeface="宋体" panose="02010600030101010101" pitchFamily="2" charset="-122"/>
              </a:rPr>
              <a:t>服务</a:t>
            </a:r>
            <a:r>
              <a:rPr lang="zh-CN" altLang="en-US"/>
              <a:t>界面挂起、关闭、重启后台服务节点。</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页脚占位符 4"/>
          <p:cNvSpPr>
            <a:spLocks noGrp="1"/>
          </p:cNvSpPr>
          <p:nvPr>
            <p:ph type="ftr" sz="quarter" idx="11"/>
          </p:nvPr>
        </p:nvSpPr>
        <p:spPr/>
        <p:txBody>
          <a:bodyPr/>
          <a:lstStyle/>
          <a:p>
            <a:pPr>
              <a:defRPr/>
            </a:pPr>
            <a:r>
              <a:rPr lang="en-US" altLang="zh-CN"/>
              <a:t>Company Logo</a:t>
            </a:r>
          </a:p>
        </p:txBody>
      </p:sp>
      <p:sp>
        <p:nvSpPr>
          <p:cNvPr id="17411" name="Rectangle 2"/>
          <p:cNvSpPr>
            <a:spLocks noGrp="1" noChangeArrowheads="1"/>
          </p:cNvSpPr>
          <p:nvPr>
            <p:ph type="title"/>
          </p:nvPr>
        </p:nvSpPr>
        <p:spPr/>
        <p:txBody>
          <a:bodyPr/>
          <a:lstStyle/>
          <a:p>
            <a:pPr eaLnBrk="1" hangingPunct="1"/>
            <a:r>
              <a:rPr lang="zh-CN" altLang="en-US">
                <a:solidFill>
                  <a:srgbClr val="000000"/>
                </a:solidFill>
                <a:ea typeface="宋体" panose="02010600030101010101" pitchFamily="2" charset="-122"/>
                <a:sym typeface="+mn-ea"/>
              </a:rPr>
              <a:t>系统运维管理</a:t>
            </a:r>
            <a:r>
              <a:rPr lang="en-US" altLang="zh-CN">
                <a:solidFill>
                  <a:srgbClr val="000000"/>
                </a:solidFill>
                <a:ea typeface="宋体" panose="02010600030101010101" pitchFamily="2" charset="-122"/>
                <a:sym typeface="+mn-ea"/>
              </a:rPr>
              <a:t>--</a:t>
            </a:r>
            <a:r>
              <a:rPr lang="zh-CN" altLang="en-US">
                <a:solidFill>
                  <a:srgbClr val="000000"/>
                </a:solidFill>
                <a:ea typeface="宋体" panose="02010600030101010101" pitchFamily="2" charset="-122"/>
                <a:sym typeface="+mn-ea"/>
              </a:rPr>
              <a:t>服务器配置管理</a:t>
            </a:r>
            <a:endParaRPr lang="zh-CN" altLang="en-US" smtClean="0">
              <a:solidFill>
                <a:srgbClr val="000000"/>
              </a:solidFill>
              <a:ea typeface="宋体" panose="02010600030101010101" pitchFamily="2" charset="-122"/>
              <a:sym typeface="+mn-ea"/>
            </a:endParaRPr>
          </a:p>
        </p:txBody>
      </p:sp>
      <p:pic>
        <p:nvPicPr>
          <p:cNvPr id="3" name="图片 2" descr="_)7Y[6EOFK]KNDVEN0`4{JL"/>
          <p:cNvPicPr>
            <a:picLocks noChangeAspect="1"/>
          </p:cNvPicPr>
          <p:nvPr/>
        </p:nvPicPr>
        <p:blipFill>
          <a:blip r:embed="rId2" cstate="print"/>
          <a:stretch>
            <a:fillRect/>
          </a:stretch>
        </p:blipFill>
        <p:spPr>
          <a:xfrm>
            <a:off x="490855" y="1188720"/>
            <a:ext cx="7818755" cy="4267835"/>
          </a:xfrm>
          <a:prstGeom prst="rect">
            <a:avLst/>
          </a:prstGeom>
        </p:spPr>
      </p:pic>
      <p:sp>
        <p:nvSpPr>
          <p:cNvPr id="6" name="文本框 5"/>
          <p:cNvSpPr txBox="1"/>
          <p:nvPr/>
        </p:nvSpPr>
        <p:spPr>
          <a:xfrm>
            <a:off x="948055" y="5564505"/>
            <a:ext cx="6576695" cy="922020"/>
          </a:xfrm>
          <a:prstGeom prst="rect">
            <a:avLst/>
          </a:prstGeom>
          <a:noFill/>
        </p:spPr>
        <p:txBody>
          <a:bodyPr wrap="square" rtlCol="0">
            <a:spAutoFit/>
          </a:bodyPr>
          <a:lstStyle/>
          <a:p>
            <a:r>
              <a:rPr lang="zh-CN" altLang="en-US"/>
              <a:t>服务器配置管理为运维和开发人员动态通过后台</a:t>
            </a:r>
            <a:r>
              <a:rPr lang="en-US" altLang="zh-CN"/>
              <a:t>web</a:t>
            </a:r>
            <a:r>
              <a:rPr lang="zh-CN" altLang="en-US">
                <a:ea typeface="宋体" panose="02010600030101010101" pitchFamily="2" charset="-122"/>
              </a:rPr>
              <a:t>界面不停机的</a:t>
            </a:r>
            <a:r>
              <a:rPr lang="zh-CN" altLang="en-US"/>
              <a:t>修改后台服务节点的逻辑配置、日志级别和需要加载的动态库等。</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页脚占位符 3"/>
          <p:cNvSpPr>
            <a:spLocks noGrp="1"/>
          </p:cNvSpPr>
          <p:nvPr>
            <p:ph type="ftr" sz="quarter" idx="11"/>
          </p:nvPr>
        </p:nvSpPr>
        <p:spPr/>
        <p:txBody>
          <a:bodyPr/>
          <a:lstStyle/>
          <a:p>
            <a:pPr>
              <a:defRPr/>
            </a:pPr>
            <a:r>
              <a:rPr lang="en-US" altLang="zh-CN"/>
              <a:t>Company Logo</a:t>
            </a:r>
          </a:p>
        </p:txBody>
      </p:sp>
      <p:sp>
        <p:nvSpPr>
          <p:cNvPr id="17411" name="Rectangle 2"/>
          <p:cNvSpPr>
            <a:spLocks noGrp="1" noChangeArrowheads="1"/>
          </p:cNvSpPr>
          <p:nvPr>
            <p:ph type="title"/>
          </p:nvPr>
        </p:nvSpPr>
        <p:spPr/>
        <p:txBody>
          <a:bodyPr/>
          <a:lstStyle/>
          <a:p>
            <a:pPr eaLnBrk="1" hangingPunct="1"/>
            <a:r>
              <a:rPr lang="zh-CN" altLang="en-US">
                <a:solidFill>
                  <a:srgbClr val="000000"/>
                </a:solidFill>
                <a:ea typeface="宋体" panose="02010600030101010101" pitchFamily="2" charset="-122"/>
                <a:sym typeface="+mn-ea"/>
              </a:rPr>
              <a:t>系统运维管理</a:t>
            </a:r>
            <a:r>
              <a:rPr lang="en-US" altLang="zh-CN">
                <a:solidFill>
                  <a:srgbClr val="000000"/>
                </a:solidFill>
                <a:ea typeface="宋体" panose="02010600030101010101" pitchFamily="2" charset="-122"/>
                <a:sym typeface="+mn-ea"/>
              </a:rPr>
              <a:t>--</a:t>
            </a:r>
            <a:r>
              <a:rPr lang="zh-CN" altLang="en-US">
                <a:solidFill>
                  <a:srgbClr val="000000"/>
                </a:solidFill>
                <a:ea typeface="宋体" panose="02010600030101010101" pitchFamily="2" charset="-122"/>
                <a:sym typeface="+mn-ea"/>
              </a:rPr>
              <a:t>服务器配置修改日志</a:t>
            </a:r>
            <a:endParaRPr lang="zh-CN" altLang="en-US" smtClean="0">
              <a:solidFill>
                <a:srgbClr val="000000"/>
              </a:solidFill>
              <a:ea typeface="宋体" panose="02010600030101010101" pitchFamily="2" charset="-122"/>
              <a:sym typeface="+mn-ea"/>
            </a:endParaRPr>
          </a:p>
        </p:txBody>
      </p:sp>
      <p:pic>
        <p:nvPicPr>
          <p:cNvPr id="3" name="图片 2" descr="E[L$3$~OOZ)0J%I2P}[OTX5"/>
          <p:cNvPicPr>
            <a:picLocks noChangeAspect="1"/>
          </p:cNvPicPr>
          <p:nvPr/>
        </p:nvPicPr>
        <p:blipFill>
          <a:blip r:embed="rId2" cstate="print"/>
          <a:stretch>
            <a:fillRect/>
          </a:stretch>
        </p:blipFill>
        <p:spPr>
          <a:xfrm>
            <a:off x="781050" y="1182370"/>
            <a:ext cx="7385050" cy="4030980"/>
          </a:xfrm>
          <a:prstGeom prst="rect">
            <a:avLst/>
          </a:prstGeom>
        </p:spPr>
      </p:pic>
      <p:sp>
        <p:nvSpPr>
          <p:cNvPr id="2" name="文本框 1"/>
          <p:cNvSpPr txBox="1"/>
          <p:nvPr/>
        </p:nvSpPr>
        <p:spPr>
          <a:xfrm>
            <a:off x="1134110" y="5370830"/>
            <a:ext cx="6605270" cy="645160"/>
          </a:xfrm>
          <a:prstGeom prst="rect">
            <a:avLst/>
          </a:prstGeom>
          <a:noFill/>
        </p:spPr>
        <p:txBody>
          <a:bodyPr wrap="square" rtlCol="0">
            <a:spAutoFit/>
          </a:bodyPr>
          <a:lstStyle/>
          <a:p>
            <a:r>
              <a:rPr lang="zh-CN" altLang="en-US"/>
              <a:t>服务器配置修改日志为开发、运维人员修改服务逻辑配置后，记录下来的用户行为日志。</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页脚占位符 4"/>
          <p:cNvSpPr>
            <a:spLocks noGrp="1"/>
          </p:cNvSpPr>
          <p:nvPr>
            <p:ph type="ftr" sz="quarter" idx="11"/>
          </p:nvPr>
        </p:nvSpPr>
        <p:spPr/>
        <p:txBody>
          <a:bodyPr/>
          <a:lstStyle/>
          <a:p>
            <a:pPr>
              <a:defRPr/>
            </a:pPr>
            <a:r>
              <a:rPr lang="en-US" altLang="zh-CN"/>
              <a:t>Company Logo</a:t>
            </a:r>
          </a:p>
        </p:txBody>
      </p:sp>
      <p:sp>
        <p:nvSpPr>
          <p:cNvPr id="19459" name="Rectangle 2"/>
          <p:cNvSpPr>
            <a:spLocks noGrp="1" noChangeArrowheads="1"/>
          </p:cNvSpPr>
          <p:nvPr>
            <p:ph type="title"/>
          </p:nvPr>
        </p:nvSpPr>
        <p:spPr/>
        <p:txBody>
          <a:bodyPr/>
          <a:lstStyle/>
          <a:p>
            <a:pPr eaLnBrk="1" hangingPunct="1"/>
            <a:r>
              <a:rPr lang="zh-CN" altLang="en-US">
                <a:solidFill>
                  <a:srgbClr val="000000"/>
                </a:solidFill>
                <a:ea typeface="宋体" panose="02010600030101010101" pitchFamily="2" charset="-122"/>
                <a:sym typeface="+mn-ea"/>
              </a:rPr>
              <a:t>后台框架设计</a:t>
            </a:r>
            <a:r>
              <a:rPr lang="en-US" altLang="zh-CN">
                <a:solidFill>
                  <a:srgbClr val="000000"/>
                </a:solidFill>
                <a:ea typeface="宋体" panose="02010600030101010101" pitchFamily="2" charset="-122"/>
                <a:sym typeface="+mn-ea"/>
              </a:rPr>
              <a:t>--</a:t>
            </a:r>
            <a:r>
              <a:rPr lang="zh-CN" altLang="en-US">
                <a:solidFill>
                  <a:srgbClr val="000000"/>
                </a:solidFill>
                <a:ea typeface="宋体" panose="02010600030101010101" pitchFamily="2" charset="-122"/>
                <a:sym typeface="+mn-ea"/>
              </a:rPr>
              <a:t>框架总体设计图</a:t>
            </a:r>
            <a:endParaRPr lang="zh-CN" altLang="en-US" smtClean="0">
              <a:solidFill>
                <a:srgbClr val="000000"/>
              </a:solidFill>
              <a:ea typeface="宋体" panose="02010600030101010101" pitchFamily="2" charset="-122"/>
              <a:sym typeface="+mn-ea"/>
            </a:endParaRPr>
          </a:p>
        </p:txBody>
      </p:sp>
      <p:graphicFrame>
        <p:nvGraphicFramePr>
          <p:cNvPr id="3" name="对象 -2147482620"/>
          <p:cNvGraphicFramePr>
            <a:graphicFrameLocks/>
          </p:cNvGraphicFramePr>
          <p:nvPr/>
        </p:nvGraphicFramePr>
        <p:xfrm>
          <a:off x="318770" y="1240790"/>
          <a:ext cx="7955915" cy="5464175"/>
        </p:xfrm>
        <a:graphic>
          <a:graphicData uri="http://schemas.openxmlformats.org/presentationml/2006/ole">
            <p:oleObj spid="_x0000_s1025" r:id="rId3" imgW="11375298" imgH="8212590" progId="">
              <p:embed/>
            </p:oleObj>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页脚占位符 4"/>
          <p:cNvSpPr>
            <a:spLocks noGrp="1"/>
          </p:cNvSpPr>
          <p:nvPr>
            <p:ph type="ftr" sz="quarter" idx="11"/>
          </p:nvPr>
        </p:nvSpPr>
        <p:spPr/>
        <p:txBody>
          <a:bodyPr/>
          <a:lstStyle/>
          <a:p>
            <a:pPr>
              <a:defRPr/>
            </a:pPr>
            <a:r>
              <a:rPr lang="en-US" altLang="zh-CN"/>
              <a:t>Company Logo</a:t>
            </a:r>
          </a:p>
        </p:txBody>
      </p:sp>
      <p:sp>
        <p:nvSpPr>
          <p:cNvPr id="19459" name="Rectangle 2"/>
          <p:cNvSpPr>
            <a:spLocks noGrp="1" noChangeArrowheads="1"/>
          </p:cNvSpPr>
          <p:nvPr>
            <p:ph type="title"/>
          </p:nvPr>
        </p:nvSpPr>
        <p:spPr/>
        <p:txBody>
          <a:bodyPr/>
          <a:lstStyle/>
          <a:p>
            <a:pPr eaLnBrk="1" hangingPunct="1"/>
            <a:r>
              <a:rPr lang="zh-CN" altLang="en-US" dirty="0">
                <a:solidFill>
                  <a:srgbClr val="000000"/>
                </a:solidFill>
                <a:ea typeface="宋体" panose="02010600030101010101" pitchFamily="2" charset="-122"/>
                <a:sym typeface="+mn-ea"/>
              </a:rPr>
              <a:t>后台框架设计</a:t>
            </a:r>
            <a:r>
              <a:rPr lang="en-US" altLang="zh-CN" dirty="0">
                <a:solidFill>
                  <a:srgbClr val="000000"/>
                </a:solidFill>
                <a:ea typeface="宋体" panose="02010600030101010101" pitchFamily="2" charset="-122"/>
                <a:sym typeface="+mn-ea"/>
              </a:rPr>
              <a:t>--</a:t>
            </a:r>
            <a:r>
              <a:rPr lang="zh-CN" altLang="en-US" dirty="0">
                <a:solidFill>
                  <a:srgbClr val="000000"/>
                </a:solidFill>
                <a:ea typeface="宋体" panose="02010600030101010101" pitchFamily="2" charset="-122"/>
                <a:sym typeface="+mn-ea"/>
              </a:rPr>
              <a:t>节点类型说明</a:t>
            </a:r>
            <a:endParaRPr lang="zh-CN" altLang="en-US" dirty="0" smtClean="0">
              <a:solidFill>
                <a:srgbClr val="000000"/>
              </a:solidFill>
              <a:ea typeface="宋体" panose="02010600030101010101" pitchFamily="2" charset="-122"/>
              <a:sym typeface="+mn-ea"/>
            </a:endParaRPr>
          </a:p>
        </p:txBody>
      </p:sp>
      <p:sp>
        <p:nvSpPr>
          <p:cNvPr id="4" name="文本框 3"/>
          <p:cNvSpPr txBox="1"/>
          <p:nvPr/>
        </p:nvSpPr>
        <p:spPr>
          <a:xfrm>
            <a:off x="34925" y="1325880"/>
            <a:ext cx="9083040" cy="5631180"/>
          </a:xfrm>
          <a:prstGeom prst="rect">
            <a:avLst/>
          </a:prstGeom>
          <a:noFill/>
        </p:spPr>
        <p:txBody>
          <a:bodyPr wrap="square" rtlCol="0">
            <a:spAutoFit/>
          </a:bodyPr>
          <a:lstStyle/>
          <a:p>
            <a:r>
              <a:rPr lang="zh-CN" altLang="en-US" dirty="0"/>
              <a:t>后台服务所有的节点都需要线上部署两个或以上，所有节点无单点。</a:t>
            </a:r>
          </a:p>
          <a:p>
            <a:r>
              <a:rPr lang="zh-CN" altLang="en-US" dirty="0"/>
              <a:t>访问层之上使用nginx作为服务代理提供高可用。</a:t>
            </a:r>
          </a:p>
          <a:p>
            <a:r>
              <a:rPr lang="zh-CN" altLang="en-US" dirty="0"/>
              <a:t>Center为中心服务节点，双节点热备份。</a:t>
            </a:r>
          </a:p>
          <a:p>
            <a:r>
              <a:rPr lang="zh-CN" altLang="en-US" dirty="0"/>
              <a:t>Logic为主要逻辑服务类型节点。</a:t>
            </a:r>
          </a:p>
          <a:p>
            <a:r>
              <a:rPr lang="zh-CN" altLang="en-US" dirty="0"/>
              <a:t>Login为登录服务类型节点。</a:t>
            </a:r>
          </a:p>
          <a:p>
            <a:r>
              <a:rPr lang="zh-CN" altLang="en-US" dirty="0">
                <a:sym typeface="+mn-ea"/>
              </a:rPr>
              <a:t>DataProxy为存储代理服务节点，作为包括Redis代理和mysql的前端代理。DbAgentWrite、DbAgentRead为mysql的写、读代理服务节点。</a:t>
            </a:r>
            <a:endParaRPr lang="zh-CN" altLang="en-US" dirty="0"/>
          </a:p>
          <a:p>
            <a:endParaRPr lang="zh-CN" altLang="en-US" dirty="0"/>
          </a:p>
          <a:p>
            <a:r>
              <a:rPr lang="zh-CN" altLang="en-US" dirty="0"/>
              <a:t>Robot为机器人智能引擎服务节点，处理问题智能匹配,使用中文搜索匹配方式和热门问题完全匹配方式。中文搜索为全内存处理。</a:t>
            </a:r>
          </a:p>
          <a:p>
            <a:endParaRPr lang="zh-CN" altLang="en-US" dirty="0"/>
          </a:p>
          <a:p>
            <a:r>
              <a:rPr lang="zh-CN" altLang="en-US" dirty="0"/>
              <a:t>ESagentS、ESagentR、ESagentW 分别是日志统计类型节点、日志读、写节点，日志存储到ElasticSearch集群。写日志时保存本地文件，可由shell脚本批量提交。</a:t>
            </a:r>
          </a:p>
          <a:p>
            <a:endParaRPr lang="zh-CN" altLang="en-US" dirty="0"/>
          </a:p>
          <a:p>
            <a:r>
              <a:rPr lang="zh-CN" altLang="en-US" dirty="0"/>
              <a:t>FileServer为文件上传代理服务节点，中转文件数据存储到FastDfs集群。</a:t>
            </a:r>
          </a:p>
          <a:p>
            <a:endParaRPr lang="zh-CN" altLang="en-US" dirty="0"/>
          </a:p>
          <a:p>
            <a:r>
              <a:rPr lang="zh-CN" altLang="en-US" dirty="0"/>
              <a:t>缓存使用</a:t>
            </a:r>
            <a:r>
              <a:rPr lang="en-US" altLang="zh-CN" dirty="0"/>
              <a:t>redis cluster</a:t>
            </a:r>
            <a:r>
              <a:rPr lang="zh-CN" altLang="en-US" dirty="0">
                <a:ea typeface="宋体" panose="02010600030101010101" pitchFamily="2" charset="-122"/>
              </a:rPr>
              <a:t>集群，支持多主多从集群。</a:t>
            </a:r>
          </a:p>
          <a:p>
            <a:r>
              <a:rPr lang="zh-CN" altLang="en-US" dirty="0">
                <a:ea typeface="宋体" panose="02010600030101010101" pitchFamily="2" charset="-122"/>
              </a:rPr>
              <a:t>持久性存储使用</a:t>
            </a:r>
            <a:r>
              <a:rPr lang="en-US" altLang="zh-CN" dirty="0">
                <a:ea typeface="宋体" panose="02010600030101010101" pitchFamily="2" charset="-122"/>
              </a:rPr>
              <a:t>MariaDB Galera Cluster</a:t>
            </a:r>
            <a:r>
              <a:rPr lang="zh-CN" altLang="en-US" dirty="0">
                <a:ea typeface="宋体" panose="02010600030101010101" pitchFamily="2" charset="-122"/>
                <a:sym typeface="+mn-ea"/>
              </a:rPr>
              <a:t>，支持多主集群</a:t>
            </a:r>
            <a:r>
              <a:rPr lang="zh-CN" altLang="en-US" dirty="0">
                <a:ea typeface="宋体" panose="02010600030101010101" pitchFamily="2" charset="-122"/>
              </a:rPr>
              <a:t>。</a:t>
            </a:r>
          </a:p>
          <a:p>
            <a:endParaRPr lang="zh-CN" altLang="en-US" dirty="0"/>
          </a:p>
          <a:p>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页脚占位符 4"/>
          <p:cNvSpPr>
            <a:spLocks noGrp="1"/>
          </p:cNvSpPr>
          <p:nvPr>
            <p:ph type="ftr" sz="quarter" idx="11"/>
          </p:nvPr>
        </p:nvSpPr>
        <p:spPr/>
        <p:txBody>
          <a:bodyPr/>
          <a:lstStyle/>
          <a:p>
            <a:pPr>
              <a:defRPr/>
            </a:pPr>
            <a:r>
              <a:rPr lang="en-US" altLang="zh-CN"/>
              <a:t>Company Logo</a:t>
            </a:r>
          </a:p>
        </p:txBody>
      </p:sp>
      <p:sp>
        <p:nvSpPr>
          <p:cNvPr id="19459" name="Rectangle 2"/>
          <p:cNvSpPr>
            <a:spLocks noGrp="1" noChangeArrowheads="1"/>
          </p:cNvSpPr>
          <p:nvPr>
            <p:ph type="title"/>
          </p:nvPr>
        </p:nvSpPr>
        <p:spPr>
          <a:xfrm>
            <a:off x="457200" y="533400"/>
            <a:ext cx="4690864" cy="563563"/>
          </a:xfrm>
        </p:spPr>
        <p:txBody>
          <a:bodyPr/>
          <a:lstStyle/>
          <a:p>
            <a:pPr eaLnBrk="1" hangingPunct="1"/>
            <a:r>
              <a:rPr lang="zh-CN" altLang="en-US" dirty="0">
                <a:solidFill>
                  <a:srgbClr val="000000"/>
                </a:solidFill>
                <a:ea typeface="宋体" panose="02010600030101010101" pitchFamily="2" charset="-122"/>
                <a:sym typeface="+mn-ea"/>
              </a:rPr>
              <a:t>后台框架设计</a:t>
            </a:r>
            <a:r>
              <a:rPr lang="en-US" altLang="zh-CN" dirty="0">
                <a:solidFill>
                  <a:srgbClr val="000000"/>
                </a:solidFill>
                <a:ea typeface="宋体" panose="02010600030101010101" pitchFamily="2" charset="-122"/>
                <a:sym typeface="+mn-ea"/>
              </a:rPr>
              <a:t>--</a:t>
            </a:r>
            <a:r>
              <a:rPr lang="zh-CN" altLang="en-US" dirty="0">
                <a:solidFill>
                  <a:srgbClr val="000000"/>
                </a:solidFill>
                <a:ea typeface="宋体" panose="02010600030101010101" pitchFamily="2" charset="-122"/>
                <a:sym typeface="+mn-ea"/>
              </a:rPr>
              <a:t>网络框架</a:t>
            </a:r>
            <a:endParaRPr lang="zh-CN" altLang="en-US" dirty="0" smtClean="0">
              <a:solidFill>
                <a:srgbClr val="000000"/>
              </a:solidFill>
              <a:ea typeface="宋体" panose="02010600030101010101" pitchFamily="2" charset="-122"/>
              <a:sym typeface="+mn-ea"/>
            </a:endParaRPr>
          </a:p>
        </p:txBody>
      </p:sp>
      <p:graphicFrame>
        <p:nvGraphicFramePr>
          <p:cNvPr id="4" name="对象 3"/>
          <p:cNvGraphicFramePr>
            <a:graphicFrameLocks/>
          </p:cNvGraphicFramePr>
          <p:nvPr/>
        </p:nvGraphicFramePr>
        <p:xfrm>
          <a:off x="617220" y="1397000"/>
          <a:ext cx="3182620" cy="4545330"/>
        </p:xfrm>
        <a:graphic>
          <a:graphicData uri="http://schemas.openxmlformats.org/presentationml/2006/ole">
            <p:oleObj spid="_x0000_s37889" r:id="rId3" imgW="5231665" imgH="6635520" progId="">
              <p:embed/>
            </p:oleObj>
          </a:graphicData>
        </a:graphic>
      </p:graphicFrame>
      <p:sp>
        <p:nvSpPr>
          <p:cNvPr id="6" name="文本框 5"/>
          <p:cNvSpPr txBox="1"/>
          <p:nvPr/>
        </p:nvSpPr>
        <p:spPr>
          <a:xfrm>
            <a:off x="3891280" y="1390650"/>
            <a:ext cx="5024120" cy="3969385"/>
          </a:xfrm>
          <a:prstGeom prst="rect">
            <a:avLst/>
          </a:prstGeom>
          <a:noFill/>
        </p:spPr>
        <p:txBody>
          <a:bodyPr wrap="square" rtlCol="0">
            <a:spAutoFit/>
          </a:bodyPr>
          <a:lstStyle/>
          <a:p>
            <a:r>
              <a:rPr lang="zh-CN" altLang="en-US" dirty="0"/>
              <a:t>进程交互</a:t>
            </a:r>
          </a:p>
          <a:p>
            <a:r>
              <a:rPr lang="en-US" altLang="zh-CN" dirty="0"/>
              <a:t>starship</a:t>
            </a:r>
            <a:r>
              <a:rPr lang="zh-CN" altLang="en-US" dirty="0"/>
              <a:t>服务器在使用Master-Worker模型时，会涉及到主进程和工作进程的交互和工作进程之间的交互。</a:t>
            </a:r>
          </a:p>
          <a:p>
            <a:r>
              <a:rPr lang="zh-CN" altLang="en-US" dirty="0"/>
              <a:t>这两类交互目前使用</a:t>
            </a:r>
            <a:r>
              <a:rPr lang="en-US" altLang="zh-CN" dirty="0"/>
              <a:t>socket</a:t>
            </a:r>
            <a:r>
              <a:rPr lang="zh-CN" altLang="en-US" dirty="0">
                <a:ea typeface="宋体" panose="02010600030101010101" pitchFamily="2" charset="-122"/>
              </a:rPr>
              <a:t>方式</a:t>
            </a:r>
            <a:r>
              <a:rPr lang="zh-CN" altLang="en-US" dirty="0"/>
              <a:t>。</a:t>
            </a:r>
          </a:p>
          <a:p>
            <a:r>
              <a:rPr lang="zh-CN" altLang="en-US" dirty="0"/>
              <a:t>1.Master-Worker交互</a:t>
            </a:r>
          </a:p>
          <a:p>
            <a:r>
              <a:rPr lang="zh-CN" altLang="en-US" dirty="0">
                <a:sym typeface="+mn-ea"/>
              </a:rPr>
              <a:t>Worker上报运行负载数据</a:t>
            </a:r>
          </a:p>
          <a:p>
            <a:r>
              <a:rPr lang="zh-CN" altLang="en-US" dirty="0">
                <a:sym typeface="+mn-ea"/>
              </a:rPr>
              <a:t>Worker请求重新加载配置</a:t>
            </a:r>
          </a:p>
          <a:p>
            <a:r>
              <a:rPr lang="zh-CN" altLang="en-US" dirty="0">
                <a:sym typeface="+mn-ea"/>
              </a:rPr>
              <a:t>Master转移新接收连接到指定Worker，或者负载最小Worker</a:t>
            </a:r>
            <a:endParaRPr lang="zh-CN" altLang="en-US" dirty="0"/>
          </a:p>
          <a:p>
            <a:r>
              <a:rPr lang="zh-CN" altLang="en-US" dirty="0"/>
              <a:t>2.worker-worker交互</a:t>
            </a:r>
          </a:p>
          <a:p>
            <a:r>
              <a:rPr lang="zh-CN" altLang="en-US" dirty="0"/>
              <a:t>任意 </a:t>
            </a:r>
            <a:r>
              <a:rPr lang="zh-CN" altLang="en-US" dirty="0">
                <a:sym typeface="+mn-ea"/>
              </a:rPr>
              <a:t>worker可以发送给任意worker，即便不在同一个节点。</a:t>
            </a:r>
          </a:p>
          <a:p>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页脚占位符 4"/>
          <p:cNvSpPr>
            <a:spLocks noGrp="1"/>
          </p:cNvSpPr>
          <p:nvPr>
            <p:ph type="ftr" sz="quarter" idx="11"/>
          </p:nvPr>
        </p:nvSpPr>
        <p:spPr/>
        <p:txBody>
          <a:bodyPr/>
          <a:lstStyle/>
          <a:p>
            <a:pPr>
              <a:defRPr/>
            </a:pPr>
            <a:r>
              <a:rPr lang="en-US" altLang="zh-CN"/>
              <a:t>Company Logo</a:t>
            </a:r>
          </a:p>
        </p:txBody>
      </p:sp>
      <p:sp>
        <p:nvSpPr>
          <p:cNvPr id="19459" name="Rectangle 2"/>
          <p:cNvSpPr>
            <a:spLocks noGrp="1" noChangeArrowheads="1"/>
          </p:cNvSpPr>
          <p:nvPr>
            <p:ph type="title"/>
          </p:nvPr>
        </p:nvSpPr>
        <p:spPr>
          <a:xfrm>
            <a:off x="457200" y="533400"/>
            <a:ext cx="5554960" cy="563563"/>
          </a:xfrm>
        </p:spPr>
        <p:txBody>
          <a:bodyPr/>
          <a:lstStyle/>
          <a:p>
            <a:pPr eaLnBrk="1" hangingPunct="1"/>
            <a:r>
              <a:rPr lang="zh-CN" altLang="en-US" dirty="0">
                <a:solidFill>
                  <a:srgbClr val="000000"/>
                </a:solidFill>
                <a:ea typeface="宋体" panose="02010600030101010101" pitchFamily="2" charset="-122"/>
                <a:sym typeface="+mn-ea"/>
              </a:rPr>
              <a:t>后台框架设计</a:t>
            </a:r>
            <a:r>
              <a:rPr lang="en-US" altLang="zh-CN" dirty="0">
                <a:solidFill>
                  <a:srgbClr val="000000"/>
                </a:solidFill>
                <a:ea typeface="宋体" panose="02010600030101010101" pitchFamily="2" charset="-122"/>
                <a:sym typeface="+mn-ea"/>
              </a:rPr>
              <a:t>--</a:t>
            </a:r>
            <a:r>
              <a:rPr lang="zh-CN" altLang="en-US" dirty="0">
                <a:solidFill>
                  <a:srgbClr val="000000"/>
                </a:solidFill>
                <a:ea typeface="宋体" panose="02010600030101010101" pitchFamily="2" charset="-122"/>
                <a:sym typeface="+mn-ea"/>
              </a:rPr>
              <a:t>事件驱动模型</a:t>
            </a:r>
            <a:endParaRPr lang="en-US" altLang="zh-CN" dirty="0" smtClean="0">
              <a:solidFill>
                <a:srgbClr val="000000"/>
              </a:solidFill>
              <a:ea typeface="宋体" panose="02010600030101010101" pitchFamily="2" charset="-122"/>
              <a:sym typeface="+mn-ea"/>
            </a:endParaRPr>
          </a:p>
        </p:txBody>
      </p:sp>
      <p:sp>
        <p:nvSpPr>
          <p:cNvPr id="10" name="文本框 9"/>
          <p:cNvSpPr txBox="1"/>
          <p:nvPr/>
        </p:nvSpPr>
        <p:spPr>
          <a:xfrm>
            <a:off x="3731260" y="1374140"/>
            <a:ext cx="4647565" cy="2861310"/>
          </a:xfrm>
          <a:prstGeom prst="rect">
            <a:avLst/>
          </a:prstGeom>
          <a:noFill/>
        </p:spPr>
        <p:txBody>
          <a:bodyPr wrap="square" rtlCol="0">
            <a:spAutoFit/>
          </a:bodyPr>
          <a:lstStyle/>
          <a:p>
            <a:r>
              <a:rPr lang="zh-CN" altLang="en-US" dirty="0"/>
              <a:t>使用事件驱动模型实现事件处理的异步和非阻塞。</a:t>
            </a:r>
          </a:p>
          <a:p>
            <a:r>
              <a:rPr lang="zh-CN" altLang="en-US" dirty="0"/>
              <a:t>基于</a:t>
            </a:r>
            <a:r>
              <a:rPr lang="en-US" altLang="zh-CN" dirty="0"/>
              <a:t>Libev</a:t>
            </a:r>
            <a:r>
              <a:rPr lang="zh-CN" altLang="en-US" dirty="0">
                <a:ea typeface="宋体" panose="02010600030101010101" pitchFamily="2" charset="-122"/>
              </a:rPr>
              <a:t>事件库，</a:t>
            </a:r>
            <a:r>
              <a:rPr lang="zh-CN" altLang="en-US" dirty="0">
                <a:ea typeface="宋体" panose="02010600030101010101" pitchFamily="2" charset="-122"/>
                <a:sym typeface="+mn-ea"/>
              </a:rPr>
              <a:t>Reactor模式的框架</a:t>
            </a:r>
            <a:r>
              <a:rPr lang="en-US" altLang="zh-CN" dirty="0">
                <a:ea typeface="宋体" panose="02010600030101010101" pitchFamily="2" charset="-122"/>
                <a:sym typeface="+mn-ea"/>
              </a:rPr>
              <a:t>,</a:t>
            </a:r>
            <a:r>
              <a:rPr lang="zh-CN" altLang="en-US" dirty="0">
                <a:ea typeface="宋体" panose="02010600030101010101" pitchFamily="2" charset="-122"/>
              </a:rPr>
              <a:t>使用非阻塞</a:t>
            </a:r>
            <a:r>
              <a:rPr lang="en-US" altLang="zh-CN" dirty="0">
                <a:ea typeface="宋体" panose="02010600030101010101" pitchFamily="2" charset="-122"/>
              </a:rPr>
              <a:t>IO</a:t>
            </a:r>
            <a:r>
              <a:rPr lang="zh-CN" altLang="en-US" dirty="0">
                <a:ea typeface="宋体" panose="02010600030101010101" pitchFamily="2" charset="-122"/>
              </a:rPr>
              <a:t>和</a:t>
            </a:r>
            <a:r>
              <a:rPr lang="en-US" altLang="zh-CN" dirty="0">
                <a:ea typeface="宋体" panose="02010600030101010101" pitchFamily="2" charset="-122"/>
              </a:rPr>
              <a:t>IO</a:t>
            </a:r>
            <a:r>
              <a:rPr lang="zh-CN" altLang="en-US" dirty="0">
                <a:ea typeface="宋体" panose="02010600030101010101" pitchFamily="2" charset="-122"/>
              </a:rPr>
              <a:t>多路复用，</a:t>
            </a:r>
            <a:r>
              <a:rPr lang="zh-CN" altLang="en-US" dirty="0">
                <a:ea typeface="宋体" panose="02010600030101010101" pitchFamily="2" charset="-122"/>
                <a:sym typeface="+mn-ea"/>
              </a:rPr>
              <a:t>应用于</a:t>
            </a:r>
            <a:r>
              <a:rPr lang="zh-CN" altLang="en-US" dirty="0">
                <a:ea typeface="宋体" panose="02010600030101010101" pitchFamily="2" charset="-122"/>
              </a:rPr>
              <a:t>IO密集场景，</a:t>
            </a:r>
          </a:p>
          <a:p>
            <a:r>
              <a:rPr lang="zh-CN" altLang="en-US" dirty="0">
                <a:ea typeface="宋体" panose="02010600030101010101" pitchFamily="2" charset="-122"/>
              </a:rPr>
              <a:t>提高并发量和吞吐量。</a:t>
            </a:r>
          </a:p>
          <a:p>
            <a:r>
              <a:rPr lang="zh-CN" altLang="en-US" dirty="0">
                <a:ea typeface="宋体" panose="02010600030101010101" pitchFamily="2" charset="-122"/>
              </a:rPr>
              <a:t>参与者包括：</a:t>
            </a:r>
          </a:p>
          <a:p>
            <a:r>
              <a:rPr lang="zh-CN" altLang="en-US" dirty="0">
                <a:ea typeface="宋体" panose="02010600030101010101" pitchFamily="2" charset="-122"/>
              </a:rPr>
              <a:t>文件描述符、同步事件分离器（</a:t>
            </a:r>
            <a:r>
              <a:rPr lang="en-US" altLang="zh-CN" dirty="0">
                <a:ea typeface="宋体" panose="02010600030101010101" pitchFamily="2" charset="-122"/>
              </a:rPr>
              <a:t>epoll</a:t>
            </a:r>
            <a:r>
              <a:rPr lang="zh-CN" altLang="en-US" dirty="0">
                <a:ea typeface="宋体" panose="02010600030101010101" pitchFamily="2" charset="-122"/>
              </a:rPr>
              <a:t>）、</a:t>
            </a:r>
            <a:r>
              <a:rPr lang="zh-CN" altLang="en-US" dirty="0">
                <a:ea typeface="宋体" panose="02010600030101010101" pitchFamily="2" charset="-122"/>
                <a:sym typeface="+mn-ea"/>
              </a:rPr>
              <a:t>事件</a:t>
            </a:r>
            <a:r>
              <a:rPr lang="zh-CN" altLang="en-US" dirty="0">
                <a:ea typeface="宋体" panose="02010600030101010101" pitchFamily="2" charset="-122"/>
              </a:rPr>
              <a:t>处理器（</a:t>
            </a:r>
            <a:r>
              <a:rPr lang="en-US" altLang="zh-CN" dirty="0">
                <a:ea typeface="宋体" panose="02010600030101010101" pitchFamily="2" charset="-122"/>
              </a:rPr>
              <a:t>ev_io</a:t>
            </a:r>
            <a:r>
              <a:rPr lang="zh-CN" altLang="en-US" dirty="0">
                <a:ea typeface="宋体" panose="02010600030101010101" pitchFamily="2" charset="-122"/>
              </a:rPr>
              <a:t>等）、Reactor管理器（ev_run）。参考图如下：</a:t>
            </a:r>
          </a:p>
          <a:p>
            <a:endParaRPr lang="zh-CN" altLang="en-US" dirty="0">
              <a:ea typeface="宋体" panose="02010600030101010101" pitchFamily="2" charset="-122"/>
            </a:endParaRPr>
          </a:p>
        </p:txBody>
      </p:sp>
      <p:graphicFrame>
        <p:nvGraphicFramePr>
          <p:cNvPr id="13" name="对象 12"/>
          <p:cNvGraphicFramePr>
            <a:graphicFrameLocks/>
          </p:cNvGraphicFramePr>
          <p:nvPr/>
        </p:nvGraphicFramePr>
        <p:xfrm>
          <a:off x="395605" y="1206500"/>
          <a:ext cx="3035300" cy="5218430"/>
        </p:xfrm>
        <a:graphic>
          <a:graphicData uri="http://schemas.openxmlformats.org/presentationml/2006/ole">
            <p:oleObj spid="_x0000_s39938" r:id="rId3" imgW="5339718" imgH="9263700" progId="">
              <p:embed/>
            </p:oleObj>
          </a:graphicData>
        </a:graphic>
      </p:graphicFrame>
      <p:graphicFrame>
        <p:nvGraphicFramePr>
          <p:cNvPr id="3" name="对象 2"/>
          <p:cNvGraphicFramePr>
            <a:graphicFrameLocks/>
          </p:cNvGraphicFramePr>
          <p:nvPr/>
        </p:nvGraphicFramePr>
        <p:xfrm>
          <a:off x="3927475" y="4082415"/>
          <a:ext cx="3947795" cy="1387475"/>
        </p:xfrm>
        <a:graphic>
          <a:graphicData uri="http://schemas.openxmlformats.org/presentationml/2006/ole">
            <p:oleObj spid="_x0000_s39937" r:id="rId4" imgW="4495238" imgH="1838095" progId="PBrush">
              <p:embed/>
            </p:oleObj>
          </a:graphicData>
        </a:graphic>
      </p:graphicFrame>
      <p:sp>
        <p:nvSpPr>
          <p:cNvPr id="5" name="文本框 4"/>
          <p:cNvSpPr txBox="1"/>
          <p:nvPr/>
        </p:nvSpPr>
        <p:spPr>
          <a:xfrm>
            <a:off x="3733800" y="5502910"/>
            <a:ext cx="4832985" cy="922020"/>
          </a:xfrm>
          <a:prstGeom prst="rect">
            <a:avLst/>
          </a:prstGeom>
          <a:noFill/>
        </p:spPr>
        <p:txBody>
          <a:bodyPr wrap="square" rtlCol="0">
            <a:spAutoFit/>
          </a:bodyPr>
          <a:lstStyle/>
          <a:p>
            <a:r>
              <a:rPr lang="zh-CN" altLang="en-US" dirty="0"/>
              <a:t>模型结构为： 一个事件循环，以事件驱动和事件回调方式实现业务的逻辑。</a:t>
            </a:r>
          </a:p>
          <a:p>
            <a:r>
              <a:rPr lang="zh-CN" altLang="en-US" dirty="0">
                <a:ea typeface="宋体" panose="02010600030101010101" pitchFamily="2" charset="-122"/>
                <a:sym typeface="+mn-ea"/>
              </a:rPr>
              <a:t>目前使用同步事件分离器使用</a:t>
            </a:r>
            <a:r>
              <a:rPr lang="en-US" altLang="zh-CN" dirty="0">
                <a:ea typeface="宋体" panose="02010600030101010101" pitchFamily="2" charset="-122"/>
                <a:sym typeface="+mn-ea"/>
              </a:rPr>
              <a:t>epoll</a:t>
            </a:r>
            <a:r>
              <a:rPr lang="zh-CN" altLang="en-US" dirty="0">
                <a:ea typeface="宋体" panose="02010600030101010101" pitchFamily="2" charset="-122"/>
                <a:sym typeface="+mn-ea"/>
              </a:rPr>
              <a:t>水平模式。</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页脚占位符 4"/>
          <p:cNvSpPr>
            <a:spLocks noGrp="1"/>
          </p:cNvSpPr>
          <p:nvPr>
            <p:ph type="ftr" sz="quarter" idx="11"/>
          </p:nvPr>
        </p:nvSpPr>
        <p:spPr/>
        <p:txBody>
          <a:bodyPr/>
          <a:lstStyle/>
          <a:p>
            <a:pPr>
              <a:defRPr/>
            </a:pPr>
            <a:endParaRPr lang="en-US" altLang="zh-CN" dirty="0"/>
          </a:p>
        </p:txBody>
      </p:sp>
      <p:sp>
        <p:nvSpPr>
          <p:cNvPr id="19459" name="Rectangle 2"/>
          <p:cNvSpPr>
            <a:spLocks noGrp="1" noChangeArrowheads="1"/>
          </p:cNvSpPr>
          <p:nvPr>
            <p:ph type="title"/>
          </p:nvPr>
        </p:nvSpPr>
        <p:spPr>
          <a:xfrm>
            <a:off x="457200" y="533400"/>
            <a:ext cx="5122912" cy="563563"/>
          </a:xfrm>
        </p:spPr>
        <p:txBody>
          <a:bodyPr/>
          <a:lstStyle/>
          <a:p>
            <a:pPr eaLnBrk="1" hangingPunct="1"/>
            <a:r>
              <a:rPr lang="zh-CN" altLang="en-US" dirty="0">
                <a:solidFill>
                  <a:srgbClr val="000000"/>
                </a:solidFill>
                <a:ea typeface="宋体" panose="02010600030101010101" pitchFamily="2" charset="-122"/>
                <a:sym typeface="+mn-ea"/>
              </a:rPr>
              <a:t>后台框架设计</a:t>
            </a:r>
            <a:r>
              <a:rPr lang="en-US" altLang="zh-CN" dirty="0">
                <a:solidFill>
                  <a:srgbClr val="000000"/>
                </a:solidFill>
                <a:ea typeface="宋体" panose="02010600030101010101" pitchFamily="2" charset="-122"/>
                <a:sym typeface="+mn-ea"/>
              </a:rPr>
              <a:t>--</a:t>
            </a:r>
            <a:r>
              <a:rPr lang="zh-CN" altLang="en-US" dirty="0">
                <a:solidFill>
                  <a:srgbClr val="000000"/>
                </a:solidFill>
                <a:ea typeface="宋体" panose="02010600030101010101" pitchFamily="2" charset="-122"/>
                <a:sym typeface="+mn-ea"/>
              </a:rPr>
              <a:t>握手协议</a:t>
            </a:r>
            <a:endParaRPr lang="zh-CN" altLang="en-US" dirty="0" smtClean="0">
              <a:solidFill>
                <a:srgbClr val="000000"/>
              </a:solidFill>
              <a:ea typeface="宋体" panose="02010600030101010101" pitchFamily="2" charset="-122"/>
              <a:sym typeface="+mn-ea"/>
            </a:endParaRPr>
          </a:p>
        </p:txBody>
      </p:sp>
      <p:graphicFrame>
        <p:nvGraphicFramePr>
          <p:cNvPr id="3" name="对象 2"/>
          <p:cNvGraphicFramePr>
            <a:graphicFrameLocks/>
          </p:cNvGraphicFramePr>
          <p:nvPr/>
        </p:nvGraphicFramePr>
        <p:xfrm>
          <a:off x="490855" y="1370965"/>
          <a:ext cx="4568825" cy="4365625"/>
        </p:xfrm>
        <a:graphic>
          <a:graphicData uri="http://schemas.openxmlformats.org/presentationml/2006/ole">
            <p:oleObj spid="_x0000_s40961" r:id="rId3" imgW="6419709" imgH="7013520" progId="">
              <p:embed/>
            </p:oleObj>
          </a:graphicData>
        </a:graphic>
      </p:graphicFrame>
      <p:sp>
        <p:nvSpPr>
          <p:cNvPr id="5" name="文本框 4"/>
          <p:cNvSpPr txBox="1"/>
          <p:nvPr/>
        </p:nvSpPr>
        <p:spPr>
          <a:xfrm>
            <a:off x="5246370" y="1703705"/>
            <a:ext cx="3538855" cy="1198880"/>
          </a:xfrm>
          <a:prstGeom prst="rect">
            <a:avLst/>
          </a:prstGeom>
          <a:noFill/>
        </p:spPr>
        <p:txBody>
          <a:bodyPr wrap="square" rtlCol="0">
            <a:spAutoFit/>
          </a:bodyPr>
          <a:lstStyle/>
          <a:p>
            <a:r>
              <a:rPr lang="zh-CN" altLang="en-US" dirty="0"/>
              <a:t>服务内部连接，使用</a:t>
            </a:r>
            <a:r>
              <a:rPr lang="en-US" altLang="zh-CN" dirty="0"/>
              <a:t>4</a:t>
            </a:r>
            <a:r>
              <a:rPr lang="zh-CN" altLang="en-US" dirty="0">
                <a:ea typeface="宋体" panose="02010600030101010101" pitchFamily="2" charset="-122"/>
              </a:rPr>
              <a:t>次握手协议：</a:t>
            </a:r>
          </a:p>
          <a:p>
            <a:r>
              <a:rPr lang="en-US" altLang="zh-CN" dirty="0">
                <a:ea typeface="宋体" panose="02010600030101010101" pitchFamily="2" charset="-122"/>
              </a:rPr>
              <a:t>1</a:t>
            </a:r>
            <a:r>
              <a:rPr lang="zh-CN" altLang="en-US" dirty="0">
                <a:ea typeface="宋体" panose="02010600030101010101" pitchFamily="2" charset="-122"/>
              </a:rPr>
              <a:t>）建立了网络连接</a:t>
            </a:r>
          </a:p>
          <a:p>
            <a:r>
              <a:rPr lang="en-US" altLang="zh-CN" dirty="0">
                <a:ea typeface="宋体" panose="02010600030101010101" pitchFamily="2" charset="-122"/>
              </a:rPr>
              <a:t>2</a:t>
            </a:r>
            <a:r>
              <a:rPr lang="zh-CN" altLang="en-US" dirty="0">
                <a:ea typeface="宋体" panose="02010600030101010101" pitchFamily="2" charset="-122"/>
              </a:rPr>
              <a:t>）双方获取了对方工作者的信息</a:t>
            </a:r>
          </a:p>
          <a:p>
            <a:endParaRPr lang="zh-CN" altLang="en-US" dirty="0">
              <a:ea typeface="宋体" panose="02010600030101010101"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页脚占位符 4"/>
          <p:cNvSpPr>
            <a:spLocks noGrp="1"/>
          </p:cNvSpPr>
          <p:nvPr>
            <p:ph type="ftr" sz="quarter" idx="11"/>
          </p:nvPr>
        </p:nvSpPr>
        <p:spPr/>
        <p:txBody>
          <a:bodyPr/>
          <a:lstStyle/>
          <a:p>
            <a:pPr>
              <a:defRPr/>
            </a:pPr>
            <a:r>
              <a:rPr lang="en-US" altLang="zh-CN"/>
              <a:t>Company Logo</a:t>
            </a:r>
          </a:p>
        </p:txBody>
      </p:sp>
      <p:sp>
        <p:nvSpPr>
          <p:cNvPr id="19459" name="Rectangle 2"/>
          <p:cNvSpPr>
            <a:spLocks noGrp="1" noChangeArrowheads="1"/>
          </p:cNvSpPr>
          <p:nvPr>
            <p:ph type="title"/>
          </p:nvPr>
        </p:nvSpPr>
        <p:spPr/>
        <p:txBody>
          <a:bodyPr/>
          <a:lstStyle/>
          <a:p>
            <a:pPr eaLnBrk="1" hangingPunct="1"/>
            <a:r>
              <a:rPr lang="zh-CN" altLang="en-US" dirty="0">
                <a:solidFill>
                  <a:srgbClr val="000000"/>
                </a:solidFill>
                <a:ea typeface="宋体" panose="02010600030101010101" pitchFamily="2" charset="-122"/>
                <a:sym typeface="+mn-ea"/>
              </a:rPr>
              <a:t>后台框架</a:t>
            </a:r>
            <a:r>
              <a:rPr lang="zh-CN" altLang="en-US" dirty="0" smtClean="0">
                <a:solidFill>
                  <a:srgbClr val="000000"/>
                </a:solidFill>
                <a:ea typeface="宋体" panose="02010600030101010101" pitchFamily="2" charset="-122"/>
                <a:sym typeface="+mn-ea"/>
              </a:rPr>
              <a:t>设计</a:t>
            </a:r>
            <a:r>
              <a:rPr lang="en-US" altLang="zh-CN" dirty="0" smtClean="0">
                <a:solidFill>
                  <a:srgbClr val="000000"/>
                </a:solidFill>
                <a:ea typeface="宋体" panose="02010600030101010101" pitchFamily="2" charset="-122"/>
                <a:sym typeface="+mn-ea"/>
              </a:rPr>
              <a:t>—</a:t>
            </a:r>
            <a:r>
              <a:rPr lang="zh-CN" altLang="en-US" dirty="0" smtClean="0">
                <a:solidFill>
                  <a:srgbClr val="000000"/>
                </a:solidFill>
                <a:ea typeface="宋体" panose="02010600030101010101" pitchFamily="2" charset="-122"/>
                <a:sym typeface="+mn-ea"/>
              </a:rPr>
              <a:t>中心控制服务</a:t>
            </a:r>
          </a:p>
        </p:txBody>
      </p:sp>
      <p:sp>
        <p:nvSpPr>
          <p:cNvPr id="8" name="TextBox 7"/>
          <p:cNvSpPr txBox="1"/>
          <p:nvPr/>
        </p:nvSpPr>
        <p:spPr>
          <a:xfrm>
            <a:off x="5220072" y="4509120"/>
            <a:ext cx="3923928" cy="1200329"/>
          </a:xfrm>
          <a:prstGeom prst="rect">
            <a:avLst/>
          </a:prstGeom>
          <a:noFill/>
        </p:spPr>
        <p:txBody>
          <a:bodyPr wrap="square" rtlCol="0">
            <a:spAutoFit/>
          </a:bodyPr>
          <a:lstStyle/>
          <a:p>
            <a:r>
              <a:rPr lang="zh-CN" altLang="en-US" dirty="0" smtClean="0"/>
              <a:t>中心节点双机热备份：</a:t>
            </a:r>
            <a:endParaRPr lang="en-US" altLang="zh-CN" dirty="0" smtClean="0"/>
          </a:p>
          <a:p>
            <a:r>
              <a:rPr lang="zh-CN" altLang="zh-CN" dirty="0" smtClean="0"/>
              <a:t>如果主节点宕机，而从节点在线，则会发生主从切换。</a:t>
            </a:r>
          </a:p>
          <a:p>
            <a:r>
              <a:rPr lang="zh-CN" altLang="en-US" dirty="0" smtClean="0"/>
              <a:t>中心节点定期上报状态到</a:t>
            </a:r>
            <a:r>
              <a:rPr lang="en-US" altLang="zh-CN" dirty="0" smtClean="0"/>
              <a:t>DB</a:t>
            </a:r>
            <a:r>
              <a:rPr lang="zh-CN" altLang="en-US" dirty="0" smtClean="0"/>
              <a:t>。</a:t>
            </a:r>
            <a:endParaRPr lang="zh-CN" altLang="en-US" dirty="0"/>
          </a:p>
        </p:txBody>
      </p:sp>
      <p:pic>
        <p:nvPicPr>
          <p:cNvPr id="63492" name="Picture 4"/>
          <p:cNvPicPr>
            <a:picLocks noChangeAspect="1" noChangeArrowheads="1"/>
          </p:cNvPicPr>
          <p:nvPr/>
        </p:nvPicPr>
        <p:blipFill>
          <a:blip r:embed="rId2" cstate="print"/>
          <a:srcRect/>
          <a:stretch>
            <a:fillRect/>
          </a:stretch>
        </p:blipFill>
        <p:spPr bwMode="auto">
          <a:xfrm>
            <a:off x="179512" y="4077072"/>
            <a:ext cx="4865167" cy="2305794"/>
          </a:xfrm>
          <a:prstGeom prst="rect">
            <a:avLst/>
          </a:prstGeom>
          <a:noFill/>
          <a:ln w="9525">
            <a:noFill/>
            <a:miter lim="800000"/>
            <a:headEnd/>
            <a:tailEnd/>
          </a:ln>
        </p:spPr>
      </p:pic>
      <p:pic>
        <p:nvPicPr>
          <p:cNvPr id="63494" name="Picture 6"/>
          <p:cNvPicPr>
            <a:picLocks noChangeAspect="1" noChangeArrowheads="1"/>
          </p:cNvPicPr>
          <p:nvPr/>
        </p:nvPicPr>
        <p:blipFill>
          <a:blip r:embed="rId3" cstate="print"/>
          <a:srcRect/>
          <a:stretch>
            <a:fillRect/>
          </a:stretch>
        </p:blipFill>
        <p:spPr bwMode="auto">
          <a:xfrm>
            <a:off x="251520" y="1268760"/>
            <a:ext cx="3816424" cy="2708207"/>
          </a:xfrm>
          <a:prstGeom prst="rect">
            <a:avLst/>
          </a:prstGeom>
          <a:noFill/>
          <a:ln w="9525">
            <a:noFill/>
            <a:miter lim="800000"/>
            <a:headEnd/>
            <a:tailEnd/>
          </a:ln>
        </p:spPr>
      </p:pic>
      <p:sp>
        <p:nvSpPr>
          <p:cNvPr id="12" name="TextBox 11"/>
          <p:cNvSpPr txBox="1"/>
          <p:nvPr/>
        </p:nvSpPr>
        <p:spPr>
          <a:xfrm>
            <a:off x="4788024" y="1916832"/>
            <a:ext cx="3456384" cy="923330"/>
          </a:xfrm>
          <a:prstGeom prst="rect">
            <a:avLst/>
          </a:prstGeom>
          <a:noFill/>
        </p:spPr>
        <p:txBody>
          <a:bodyPr wrap="square" rtlCol="0">
            <a:spAutoFit/>
          </a:bodyPr>
          <a:lstStyle/>
          <a:p>
            <a:r>
              <a:rPr lang="zh-CN" altLang="en-US" dirty="0" smtClean="0"/>
              <a:t>中心节点：</a:t>
            </a:r>
            <a:endParaRPr lang="en-US" altLang="zh-CN" dirty="0" smtClean="0"/>
          </a:p>
          <a:p>
            <a:r>
              <a:rPr lang="zh-CN" altLang="en-US" dirty="0" smtClean="0"/>
              <a:t>监控集群健康</a:t>
            </a:r>
            <a:endParaRPr lang="en-US" altLang="zh-CN" dirty="0" smtClean="0"/>
          </a:p>
          <a:p>
            <a:r>
              <a:rPr lang="zh-CN" altLang="en-US" dirty="0" smtClean="0"/>
              <a:t>管理集群路由</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页脚占位符 4"/>
          <p:cNvSpPr>
            <a:spLocks noGrp="1"/>
          </p:cNvSpPr>
          <p:nvPr>
            <p:ph type="ftr" sz="quarter" idx="11"/>
          </p:nvPr>
        </p:nvSpPr>
        <p:spPr/>
        <p:txBody>
          <a:bodyPr/>
          <a:lstStyle/>
          <a:p>
            <a:pPr>
              <a:defRPr/>
            </a:pPr>
            <a:r>
              <a:rPr lang="en-US" altLang="zh-CN"/>
              <a:t>Company Logo</a:t>
            </a:r>
          </a:p>
        </p:txBody>
      </p:sp>
      <p:sp>
        <p:nvSpPr>
          <p:cNvPr id="19459" name="Rectangle 2"/>
          <p:cNvSpPr>
            <a:spLocks noGrp="1" noChangeArrowheads="1"/>
          </p:cNvSpPr>
          <p:nvPr>
            <p:ph type="title"/>
          </p:nvPr>
        </p:nvSpPr>
        <p:spPr/>
        <p:txBody>
          <a:bodyPr/>
          <a:lstStyle/>
          <a:p>
            <a:pPr eaLnBrk="1" hangingPunct="1"/>
            <a:r>
              <a:rPr lang="zh-CN" altLang="en-US">
                <a:solidFill>
                  <a:srgbClr val="000000"/>
                </a:solidFill>
                <a:ea typeface="宋体" panose="02010600030101010101" pitchFamily="2" charset="-122"/>
                <a:sym typeface="+mn-ea"/>
              </a:rPr>
              <a:t>后台框架设计</a:t>
            </a:r>
            <a:r>
              <a:rPr lang="en-US" altLang="zh-CN">
                <a:solidFill>
                  <a:srgbClr val="000000"/>
                </a:solidFill>
                <a:ea typeface="宋体" panose="02010600030101010101" pitchFamily="2" charset="-122"/>
                <a:sym typeface="+mn-ea"/>
              </a:rPr>
              <a:t>--</a:t>
            </a:r>
            <a:r>
              <a:rPr lang="zh-CN" altLang="en-US">
                <a:solidFill>
                  <a:srgbClr val="000000"/>
                </a:solidFill>
                <a:ea typeface="宋体" panose="02010600030101010101" pitchFamily="2" charset="-122"/>
                <a:sym typeface="+mn-ea"/>
              </a:rPr>
              <a:t>解码器</a:t>
            </a:r>
            <a:endParaRPr lang="zh-CN" altLang="en-US" smtClean="0">
              <a:solidFill>
                <a:srgbClr val="000000"/>
              </a:solidFill>
              <a:ea typeface="宋体" panose="02010600030101010101" pitchFamily="2" charset="-122"/>
              <a:sym typeface="+mn-ea"/>
            </a:endParaRPr>
          </a:p>
        </p:txBody>
      </p:sp>
      <p:sp>
        <p:nvSpPr>
          <p:cNvPr id="3" name="文本框 2"/>
          <p:cNvSpPr txBox="1"/>
          <p:nvPr/>
        </p:nvSpPr>
        <p:spPr>
          <a:xfrm>
            <a:off x="707390" y="1445260"/>
            <a:ext cx="7196455" cy="5077460"/>
          </a:xfrm>
          <a:prstGeom prst="rect">
            <a:avLst/>
          </a:prstGeom>
          <a:noFill/>
        </p:spPr>
        <p:txBody>
          <a:bodyPr wrap="square" rtlCol="0">
            <a:spAutoFit/>
          </a:bodyPr>
          <a:lstStyle/>
          <a:p>
            <a:r>
              <a:rPr lang="zh-CN" altLang="en-US" dirty="0"/>
              <a:t>目前支持协议：</a:t>
            </a:r>
          </a:p>
          <a:p>
            <a:r>
              <a:rPr lang="en-US" altLang="zh-CN" dirty="0"/>
              <a:t>1</a:t>
            </a:r>
            <a:r>
              <a:rPr lang="zh-CN" altLang="en-US" dirty="0">
                <a:ea typeface="宋体" panose="02010600030101010101" pitchFamily="2" charset="-122"/>
              </a:rPr>
              <a:t>）</a:t>
            </a:r>
            <a:r>
              <a:rPr lang="zh-CN" altLang="en-US" dirty="0"/>
              <a:t>自定义</a:t>
            </a:r>
            <a:r>
              <a:rPr lang="en-US" altLang="zh-CN" dirty="0"/>
              <a:t>pb</a:t>
            </a:r>
            <a:r>
              <a:rPr lang="zh-CN" altLang="en-US" dirty="0">
                <a:ea typeface="宋体" panose="02010600030101010101" pitchFamily="2" charset="-122"/>
              </a:rPr>
              <a:t>协议（</a:t>
            </a:r>
            <a:r>
              <a:rPr lang="zh-CN" altLang="en-US" dirty="0">
                <a:ea typeface="宋体" panose="02010600030101010101" pitchFamily="2" charset="-122"/>
                <a:sym typeface="+mn-ea"/>
              </a:rPr>
              <a:t>消息头为二进制、消息体为</a:t>
            </a:r>
            <a:r>
              <a:rPr lang="en-US" altLang="zh-CN" dirty="0">
                <a:ea typeface="宋体" panose="02010600030101010101" pitchFamily="2" charset="-122"/>
                <a:sym typeface="+mn-ea"/>
              </a:rPr>
              <a:t>pb</a:t>
            </a:r>
            <a:r>
              <a:rPr lang="zh-CN" altLang="en-US" dirty="0">
                <a:ea typeface="宋体" panose="02010600030101010101" pitchFamily="2" charset="-122"/>
              </a:rPr>
              <a:t>）</a:t>
            </a:r>
          </a:p>
          <a:p>
            <a:r>
              <a:rPr lang="en-US" altLang="zh-CN" dirty="0">
                <a:ea typeface="宋体" panose="02010600030101010101" pitchFamily="2" charset="-122"/>
              </a:rPr>
              <a:t>2</a:t>
            </a:r>
            <a:r>
              <a:rPr lang="zh-CN" altLang="en-US" dirty="0">
                <a:ea typeface="宋体" panose="02010600030101010101" pitchFamily="2" charset="-122"/>
              </a:rPr>
              <a:t>）</a:t>
            </a:r>
            <a:r>
              <a:rPr lang="en-US" altLang="zh-CN" dirty="0">
                <a:ea typeface="宋体" panose="02010600030101010101" pitchFamily="2" charset="-122"/>
              </a:rPr>
              <a:t>websocket</a:t>
            </a:r>
            <a:r>
              <a:rPr lang="zh-CN" altLang="en-US" dirty="0">
                <a:ea typeface="宋体" panose="02010600030101010101" pitchFamily="2" charset="-122"/>
              </a:rPr>
              <a:t>协议，</a:t>
            </a:r>
            <a:r>
              <a:rPr lang="zh-CN" altLang="en-US" dirty="0">
                <a:ea typeface="宋体" panose="02010600030101010101" pitchFamily="2" charset="-122"/>
                <a:sym typeface="+mn-ea"/>
              </a:rPr>
              <a:t>消息头为二进制、</a:t>
            </a:r>
            <a:r>
              <a:rPr lang="zh-CN" altLang="en-US" dirty="0">
                <a:ea typeface="宋体" panose="02010600030101010101" pitchFamily="2" charset="-122"/>
              </a:rPr>
              <a:t>自定义数据体为</a:t>
            </a:r>
            <a:r>
              <a:rPr lang="en-US" altLang="zh-CN" dirty="0">
                <a:ea typeface="宋体" panose="02010600030101010101" pitchFamily="2" charset="-122"/>
              </a:rPr>
              <a:t>json</a:t>
            </a:r>
            <a:r>
              <a:rPr lang="zh-CN" altLang="en-US" dirty="0">
                <a:ea typeface="宋体" panose="02010600030101010101" pitchFamily="2" charset="-122"/>
                <a:sym typeface="+mn-ea"/>
              </a:rPr>
              <a:t>格式</a:t>
            </a:r>
            <a:endParaRPr lang="zh-CN" altLang="en-US" dirty="0">
              <a:ea typeface="宋体" panose="02010600030101010101" pitchFamily="2" charset="-122"/>
            </a:endParaRPr>
          </a:p>
          <a:p>
            <a:r>
              <a:rPr lang="en-US" altLang="zh-CN" dirty="0">
                <a:ea typeface="宋体" panose="02010600030101010101" pitchFamily="2" charset="-122"/>
                <a:sym typeface="+mn-ea"/>
              </a:rPr>
              <a:t>3</a:t>
            </a:r>
            <a:r>
              <a:rPr lang="zh-CN" altLang="en-US" dirty="0">
                <a:ea typeface="宋体" panose="02010600030101010101" pitchFamily="2" charset="-122"/>
                <a:sym typeface="+mn-ea"/>
              </a:rPr>
              <a:t>）</a:t>
            </a:r>
            <a:r>
              <a:rPr lang="en-US" altLang="zh-CN" dirty="0">
                <a:ea typeface="宋体" panose="02010600030101010101" pitchFamily="2" charset="-122"/>
                <a:sym typeface="+mn-ea"/>
              </a:rPr>
              <a:t>websocket</a:t>
            </a:r>
            <a:r>
              <a:rPr lang="zh-CN" altLang="en-US" dirty="0">
                <a:ea typeface="宋体" panose="02010600030101010101" pitchFamily="2" charset="-122"/>
                <a:sym typeface="+mn-ea"/>
              </a:rPr>
              <a:t>协议，消息头为二进制、自定义数据体为</a:t>
            </a:r>
            <a:r>
              <a:rPr lang="en-US" altLang="zh-CN" dirty="0">
                <a:ea typeface="宋体" panose="02010600030101010101" pitchFamily="2" charset="-122"/>
                <a:sym typeface="+mn-ea"/>
              </a:rPr>
              <a:t>pb</a:t>
            </a:r>
            <a:r>
              <a:rPr lang="zh-CN" altLang="en-US" dirty="0">
                <a:ea typeface="宋体" panose="02010600030101010101" pitchFamily="2" charset="-122"/>
                <a:sym typeface="+mn-ea"/>
              </a:rPr>
              <a:t>格式</a:t>
            </a:r>
          </a:p>
          <a:p>
            <a:r>
              <a:rPr lang="en-US" altLang="zh-CN" dirty="0">
                <a:ea typeface="宋体" panose="02010600030101010101" pitchFamily="2" charset="-122"/>
                <a:sym typeface="+mn-ea"/>
              </a:rPr>
              <a:t>4</a:t>
            </a:r>
            <a:r>
              <a:rPr lang="zh-CN" altLang="en-US" dirty="0">
                <a:ea typeface="宋体" panose="02010600030101010101" pitchFamily="2" charset="-122"/>
                <a:sym typeface="+mn-ea"/>
              </a:rPr>
              <a:t>）</a:t>
            </a:r>
            <a:r>
              <a:rPr lang="en-US" altLang="zh-CN" dirty="0">
                <a:ea typeface="宋体" panose="02010600030101010101" pitchFamily="2" charset="-122"/>
                <a:sym typeface="+mn-ea"/>
              </a:rPr>
              <a:t>http</a:t>
            </a:r>
            <a:r>
              <a:rPr lang="zh-CN" altLang="en-US" dirty="0">
                <a:ea typeface="宋体" panose="02010600030101010101" pitchFamily="2" charset="-122"/>
                <a:sym typeface="+mn-ea"/>
              </a:rPr>
              <a:t>协议（</a:t>
            </a:r>
            <a:r>
              <a:rPr lang="en-US" altLang="zh-CN" dirty="0">
                <a:ea typeface="宋体" panose="02010600030101010101" pitchFamily="2" charset="-122"/>
                <a:sym typeface="+mn-ea"/>
              </a:rPr>
              <a:t>http 1.1</a:t>
            </a:r>
            <a:r>
              <a:rPr lang="zh-CN" altLang="en-US" dirty="0">
                <a:ea typeface="宋体" panose="02010600030101010101" pitchFamily="2" charset="-122"/>
                <a:sym typeface="+mn-ea"/>
              </a:rPr>
              <a:t>，支持</a:t>
            </a:r>
            <a:r>
              <a:rPr lang="en-US" altLang="zh-CN" dirty="0">
                <a:ea typeface="宋体" panose="02010600030101010101" pitchFamily="2" charset="-122"/>
                <a:sym typeface="+mn-ea"/>
              </a:rPr>
              <a:t>chunked编码</a:t>
            </a:r>
            <a:r>
              <a:rPr lang="zh-CN" altLang="en-US" dirty="0">
                <a:ea typeface="宋体" panose="02010600030101010101" pitchFamily="2" charset="-122"/>
                <a:sym typeface="+mn-ea"/>
              </a:rPr>
              <a:t>）</a:t>
            </a:r>
          </a:p>
          <a:p>
            <a:r>
              <a:rPr lang="en-US" altLang="zh-CN" dirty="0">
                <a:ea typeface="宋体" panose="02010600030101010101" pitchFamily="2" charset="-122"/>
                <a:sym typeface="+mn-ea"/>
              </a:rPr>
              <a:t>5</a:t>
            </a:r>
            <a:r>
              <a:rPr lang="zh-CN" altLang="en-US" dirty="0">
                <a:ea typeface="宋体" panose="02010600030101010101" pitchFamily="2" charset="-122"/>
                <a:sym typeface="+mn-ea"/>
              </a:rPr>
              <a:t>）内部</a:t>
            </a:r>
            <a:r>
              <a:rPr lang="en-US" altLang="zh-CN" dirty="0">
                <a:ea typeface="宋体" panose="02010600030101010101" pitchFamily="2" charset="-122"/>
                <a:sym typeface="+mn-ea"/>
              </a:rPr>
              <a:t>pb</a:t>
            </a:r>
            <a:r>
              <a:rPr lang="zh-CN" altLang="en-US" dirty="0">
                <a:ea typeface="宋体" panose="02010600030101010101" pitchFamily="2" charset="-122"/>
                <a:sym typeface="+mn-ea"/>
              </a:rPr>
              <a:t>协议（不开放，消息头和消息体都为</a:t>
            </a:r>
            <a:r>
              <a:rPr lang="en-US" altLang="zh-CN" dirty="0">
                <a:ea typeface="宋体" panose="02010600030101010101" pitchFamily="2" charset="-122"/>
                <a:sym typeface="+mn-ea"/>
              </a:rPr>
              <a:t>pb</a:t>
            </a:r>
            <a:r>
              <a:rPr lang="zh-CN" altLang="en-US" dirty="0">
                <a:ea typeface="宋体" panose="02010600030101010101" pitchFamily="2" charset="-122"/>
                <a:sym typeface="+mn-ea"/>
              </a:rPr>
              <a:t>）</a:t>
            </a:r>
          </a:p>
          <a:p>
            <a:endParaRPr lang="zh-CN" altLang="en-US" dirty="0">
              <a:ea typeface="宋体" panose="02010600030101010101" pitchFamily="2" charset="-122"/>
              <a:sym typeface="+mn-ea"/>
            </a:endParaRPr>
          </a:p>
          <a:p>
            <a:r>
              <a:rPr lang="zh-CN" altLang="en-US" dirty="0">
                <a:ea typeface="宋体" panose="02010600030101010101" pitchFamily="2" charset="-122"/>
                <a:sym typeface="+mn-ea"/>
              </a:rPr>
              <a:t>自定义消息体支持</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ZIP</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GZIP</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压缩算法，</a:t>
            </a:r>
            <a:r>
              <a:rPr lang="en-US" altLang="zh-CN" dirty="0">
                <a:latin typeface="宋体" panose="02010600030101010101" pitchFamily="2" charset="-122"/>
                <a:ea typeface="宋体" panose="02010600030101010101" pitchFamily="2" charset="-122"/>
                <a:cs typeface="宋体" panose="02010600030101010101" pitchFamily="2" charset="-122"/>
                <a:sym typeface="+mn-ea"/>
              </a:rPr>
              <a:t>RC5</a:t>
            </a:r>
            <a:r>
              <a:rPr lang="zh-CN" altLang="en-US" dirty="0">
                <a:latin typeface="宋体" panose="02010600030101010101" pitchFamily="2" charset="-122"/>
                <a:ea typeface="宋体" panose="02010600030101010101" pitchFamily="2" charset="-122"/>
                <a:cs typeface="宋体" panose="02010600030101010101" pitchFamily="2" charset="-122"/>
                <a:sym typeface="+mn-ea"/>
              </a:rPr>
              <a:t>加密算法。</a:t>
            </a:r>
            <a:endParaRPr lang="zh-CN" altLang="en-US" dirty="0">
              <a:ea typeface="宋体" panose="02010600030101010101" pitchFamily="2" charset="-122"/>
              <a:sym typeface="+mn-ea"/>
            </a:endParaRPr>
          </a:p>
          <a:p>
            <a:endParaRPr lang="zh-CN" altLang="en-US" dirty="0">
              <a:ea typeface="宋体" panose="02010600030101010101" pitchFamily="2" charset="-122"/>
            </a:endParaRPr>
          </a:p>
          <a:p>
            <a:r>
              <a:rPr lang="zh-CN" altLang="en-US" dirty="0">
                <a:sym typeface="+mn-ea"/>
              </a:rPr>
              <a:t>接入层节点</a:t>
            </a:r>
            <a:r>
              <a:rPr dirty="0">
                <a:sym typeface="+mn-ea"/>
              </a:rPr>
              <a:t>的连接初始化时支持协议编解码器的替换</a:t>
            </a:r>
            <a:r>
              <a:rPr lang="zh-CN" dirty="0">
                <a:ea typeface="宋体" panose="02010600030101010101" pitchFamily="2" charset="-122"/>
                <a:sym typeface="+mn-ea"/>
              </a:rPr>
              <a:t>。</a:t>
            </a:r>
          </a:p>
          <a:p>
            <a:r>
              <a:rPr lang="zh-CN" dirty="0">
                <a:ea typeface="宋体" panose="02010600030101010101" pitchFamily="2" charset="-122"/>
                <a:sym typeface="+mn-ea"/>
              </a:rPr>
              <a:t>目前</a:t>
            </a:r>
            <a:r>
              <a:rPr dirty="0">
                <a:sym typeface="+mn-ea"/>
              </a:rPr>
              <a:t>支持的是websocket json</a:t>
            </a:r>
            <a:r>
              <a:rPr lang="zh-CN" dirty="0">
                <a:ea typeface="宋体" panose="02010600030101010101" pitchFamily="2" charset="-122"/>
                <a:sym typeface="+mn-ea"/>
              </a:rPr>
              <a:t>（</a:t>
            </a:r>
            <a:r>
              <a:rPr lang="en-US" altLang="zh-CN" dirty="0">
                <a:ea typeface="宋体" panose="02010600030101010101" pitchFamily="2" charset="-122"/>
                <a:sym typeface="+mn-ea"/>
              </a:rPr>
              <a:t>2</a:t>
            </a:r>
            <a:r>
              <a:rPr lang="zh-CN" dirty="0">
                <a:ea typeface="宋体" panose="02010600030101010101" pitchFamily="2" charset="-122"/>
                <a:sym typeface="+mn-ea"/>
              </a:rPr>
              <a:t>）或者</a:t>
            </a:r>
            <a:r>
              <a:rPr dirty="0">
                <a:sym typeface="+mn-ea"/>
              </a:rPr>
              <a:t>websocket pb</a:t>
            </a:r>
            <a:r>
              <a:rPr lang="zh-CN" dirty="0">
                <a:ea typeface="宋体" panose="02010600030101010101" pitchFamily="2" charset="-122"/>
                <a:sym typeface="+mn-ea"/>
              </a:rPr>
              <a:t>（</a:t>
            </a:r>
            <a:r>
              <a:rPr lang="en-US" altLang="zh-CN" dirty="0">
                <a:ea typeface="宋体" panose="02010600030101010101" pitchFamily="2" charset="-122"/>
                <a:sym typeface="+mn-ea"/>
              </a:rPr>
              <a:t>3</a:t>
            </a:r>
            <a:r>
              <a:rPr lang="zh-CN" dirty="0">
                <a:ea typeface="宋体" panose="02010600030101010101" pitchFamily="2" charset="-122"/>
                <a:sym typeface="+mn-ea"/>
              </a:rPr>
              <a:t>）</a:t>
            </a:r>
            <a:r>
              <a:rPr dirty="0">
                <a:sym typeface="+mn-ea"/>
              </a:rPr>
              <a:t>与http</a:t>
            </a:r>
            <a:r>
              <a:rPr lang="zh-CN" dirty="0">
                <a:ea typeface="宋体" panose="02010600030101010101" pitchFamily="2" charset="-122"/>
                <a:sym typeface="+mn-ea"/>
              </a:rPr>
              <a:t>（</a:t>
            </a:r>
            <a:r>
              <a:rPr lang="en-US" altLang="zh-CN" dirty="0">
                <a:ea typeface="宋体" panose="02010600030101010101" pitchFamily="2" charset="-122"/>
                <a:sym typeface="+mn-ea"/>
              </a:rPr>
              <a:t>4</a:t>
            </a:r>
            <a:r>
              <a:rPr lang="zh-CN" dirty="0">
                <a:ea typeface="宋体" panose="02010600030101010101" pitchFamily="2" charset="-122"/>
                <a:sym typeface="+mn-ea"/>
              </a:rPr>
              <a:t>）或者</a:t>
            </a:r>
            <a:r>
              <a:rPr lang="zh-CN" altLang="en-US" dirty="0">
                <a:sym typeface="+mn-ea"/>
              </a:rPr>
              <a:t>自定义</a:t>
            </a:r>
            <a:r>
              <a:rPr lang="en-US" altLang="zh-CN" dirty="0">
                <a:sym typeface="+mn-ea"/>
              </a:rPr>
              <a:t>pb</a:t>
            </a:r>
            <a:r>
              <a:rPr lang="zh-CN" altLang="en-US" dirty="0">
                <a:ea typeface="宋体" panose="02010600030101010101" pitchFamily="2" charset="-122"/>
                <a:sym typeface="+mn-ea"/>
              </a:rPr>
              <a:t>协议（</a:t>
            </a:r>
            <a:r>
              <a:rPr lang="en-US" altLang="zh-CN" dirty="0">
                <a:ea typeface="宋体" panose="02010600030101010101" pitchFamily="2" charset="-122"/>
                <a:sym typeface="+mn-ea"/>
              </a:rPr>
              <a:t>1</a:t>
            </a:r>
            <a:r>
              <a:rPr lang="zh-CN" altLang="en-US" dirty="0">
                <a:ea typeface="宋体" panose="02010600030101010101" pitchFamily="2" charset="-122"/>
                <a:sym typeface="+mn-ea"/>
              </a:rPr>
              <a:t>）</a:t>
            </a:r>
            <a:endParaRPr dirty="0">
              <a:sym typeface="+mn-ea"/>
            </a:endParaRPr>
          </a:p>
          <a:p>
            <a:endParaRPr lang="zh-CN" altLang="en-US" dirty="0">
              <a:ea typeface="宋体" panose="02010600030101010101" pitchFamily="2" charset="-122"/>
            </a:endParaRPr>
          </a:p>
          <a:p>
            <a:r>
              <a:rPr lang="zh-CN" altLang="en-US" dirty="0">
                <a:sym typeface="+mn-ea"/>
              </a:rPr>
              <a:t>接入层节点被连接后，在接收到第一个消息时，判断消息的结构，从而自动切换解码器。连接初始化完成后，则不再切换。</a:t>
            </a:r>
          </a:p>
          <a:p>
            <a:endParaRPr lang="zh-CN" altLang="en-US" dirty="0"/>
          </a:p>
          <a:p>
            <a:r>
              <a:rPr lang="zh-CN" altLang="en-US" dirty="0">
                <a:sym typeface="+mn-ea"/>
              </a:rPr>
              <a:t>如可自动判断是</a:t>
            </a:r>
            <a:r>
              <a:rPr dirty="0">
                <a:sym typeface="+mn-ea"/>
              </a:rPr>
              <a:t>websocket </a:t>
            </a:r>
            <a:r>
              <a:rPr lang="zh-CN" dirty="0">
                <a:ea typeface="宋体" panose="02010600030101010101" pitchFamily="2" charset="-122"/>
                <a:sym typeface="+mn-ea"/>
              </a:rPr>
              <a:t>协议还是</a:t>
            </a:r>
            <a:r>
              <a:rPr lang="en-US" altLang="zh-CN" dirty="0">
                <a:ea typeface="宋体" panose="02010600030101010101" pitchFamily="2" charset="-122"/>
                <a:sym typeface="+mn-ea"/>
              </a:rPr>
              <a:t>http</a:t>
            </a:r>
            <a:r>
              <a:rPr lang="zh-CN" altLang="en-US" dirty="0">
                <a:ea typeface="宋体" panose="02010600030101010101" pitchFamily="2" charset="-122"/>
                <a:sym typeface="+mn-ea"/>
              </a:rPr>
              <a:t>协议还是自定义</a:t>
            </a:r>
            <a:r>
              <a:rPr lang="en-US" altLang="zh-CN" dirty="0">
                <a:ea typeface="宋体" panose="02010600030101010101" pitchFamily="2" charset="-122"/>
                <a:sym typeface="+mn-ea"/>
              </a:rPr>
              <a:t>pb</a:t>
            </a:r>
            <a:r>
              <a:rPr lang="zh-CN" altLang="en-US" dirty="0">
                <a:ea typeface="宋体" panose="02010600030101010101" pitchFamily="2" charset="-122"/>
                <a:sym typeface="+mn-ea"/>
              </a:rPr>
              <a:t>协议。</a:t>
            </a:r>
          </a:p>
          <a:p>
            <a:endParaRPr lang="zh-CN" altLang="en-US" dirty="0">
              <a:ea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页脚占位符 4"/>
          <p:cNvSpPr>
            <a:spLocks noGrp="1"/>
          </p:cNvSpPr>
          <p:nvPr>
            <p:ph type="ftr" sz="quarter" idx="11"/>
          </p:nvPr>
        </p:nvSpPr>
        <p:spPr/>
        <p:txBody>
          <a:bodyPr/>
          <a:lstStyle/>
          <a:p>
            <a:pPr>
              <a:defRPr/>
            </a:pPr>
            <a:r>
              <a:rPr lang="en-US" altLang="zh-CN"/>
              <a:t>Company Logo</a:t>
            </a:r>
          </a:p>
        </p:txBody>
      </p:sp>
      <p:sp>
        <p:nvSpPr>
          <p:cNvPr id="19459" name="Rectangle 2"/>
          <p:cNvSpPr>
            <a:spLocks noGrp="1" noChangeArrowheads="1"/>
          </p:cNvSpPr>
          <p:nvPr>
            <p:ph type="title"/>
          </p:nvPr>
        </p:nvSpPr>
        <p:spPr/>
        <p:txBody>
          <a:bodyPr/>
          <a:lstStyle/>
          <a:p>
            <a:pPr eaLnBrk="1" hangingPunct="1"/>
            <a:r>
              <a:rPr lang="zh-CN" altLang="en-US" dirty="0">
                <a:solidFill>
                  <a:srgbClr val="000000"/>
                </a:solidFill>
                <a:ea typeface="宋体" panose="02010600030101010101" pitchFamily="2" charset="-122"/>
                <a:sym typeface="+mn-ea"/>
              </a:rPr>
              <a:t>后台框架设计</a:t>
            </a:r>
            <a:r>
              <a:rPr lang="en-US" altLang="zh-CN" dirty="0">
                <a:solidFill>
                  <a:srgbClr val="000000"/>
                </a:solidFill>
                <a:ea typeface="宋体" panose="02010600030101010101" pitchFamily="2" charset="-122"/>
                <a:sym typeface="+mn-ea"/>
              </a:rPr>
              <a:t>--</a:t>
            </a:r>
            <a:r>
              <a:rPr lang="zh-CN" altLang="en-US" dirty="0">
                <a:solidFill>
                  <a:srgbClr val="000000"/>
                </a:solidFill>
                <a:ea typeface="宋体" panose="02010600030101010101" pitchFamily="2" charset="-122"/>
                <a:sym typeface="+mn-ea"/>
              </a:rPr>
              <a:t>框架性能</a:t>
            </a:r>
            <a:endParaRPr lang="zh-CN" altLang="en-US" dirty="0" smtClean="0">
              <a:solidFill>
                <a:srgbClr val="000000"/>
              </a:solidFill>
              <a:ea typeface="宋体" panose="02010600030101010101" pitchFamily="2" charset="-122"/>
              <a:sym typeface="+mn-ea"/>
            </a:endParaRPr>
          </a:p>
        </p:txBody>
      </p:sp>
      <p:sp>
        <p:nvSpPr>
          <p:cNvPr id="4" name="文本框 3"/>
          <p:cNvSpPr txBox="1"/>
          <p:nvPr/>
        </p:nvSpPr>
        <p:spPr>
          <a:xfrm>
            <a:off x="339725" y="1254125"/>
            <a:ext cx="8220075" cy="646331"/>
          </a:xfrm>
          <a:prstGeom prst="rect">
            <a:avLst/>
          </a:prstGeom>
          <a:noFill/>
        </p:spPr>
        <p:txBody>
          <a:bodyPr wrap="square" rtlCol="0">
            <a:spAutoFit/>
          </a:bodyPr>
          <a:lstStyle/>
          <a:p>
            <a:r>
              <a:rPr lang="zh-CN" altLang="en-US" dirty="0" smtClean="0">
                <a:ea typeface="宋体" panose="02010600030101010101" pitchFamily="2" charset="-122"/>
                <a:sym typeface="+mn-ea"/>
              </a:rPr>
              <a:t>测试</a:t>
            </a:r>
            <a:r>
              <a:rPr lang="zh-CN" altLang="en-US" dirty="0">
                <a:ea typeface="宋体" panose="02010600030101010101" pitchFamily="2" charset="-122"/>
                <a:sym typeface="+mn-ea"/>
              </a:rPr>
              <a:t>物理机是6核cpu，16G内存，300.0 GB硬盘，1000Mb网卡和路由。以下测试各个类型节点均为单节点单工作进程</a:t>
            </a:r>
            <a:r>
              <a:rPr lang="zh-CN" altLang="en-US" dirty="0" smtClean="0">
                <a:ea typeface="宋体" panose="02010600030101010101" pitchFamily="2" charset="-122"/>
                <a:sym typeface="+mn-ea"/>
              </a:rPr>
              <a:t>（同类型可</a:t>
            </a:r>
            <a:r>
              <a:rPr lang="zh-CN" altLang="en-US" dirty="0">
                <a:ea typeface="宋体" panose="02010600030101010101" pitchFamily="2" charset="-122"/>
                <a:sym typeface="+mn-ea"/>
              </a:rPr>
              <a:t>支持拓展多节点多工作进程）</a:t>
            </a:r>
            <a:r>
              <a:rPr lang="zh-CN" altLang="en-US" dirty="0" smtClean="0">
                <a:ea typeface="宋体" panose="02010600030101010101" pitchFamily="2" charset="-122"/>
                <a:sym typeface="+mn-ea"/>
              </a:rPr>
              <a:t>。</a:t>
            </a:r>
            <a:endParaRPr lang="en-US" altLang="zh-CN" dirty="0">
              <a:ea typeface="宋体" panose="02010600030101010101" pitchFamily="2" charset="-122"/>
              <a:sym typeface="+mn-ea"/>
            </a:endParaRPr>
          </a:p>
        </p:txBody>
      </p:sp>
      <p:graphicFrame>
        <p:nvGraphicFramePr>
          <p:cNvPr id="11" name="表格 10"/>
          <p:cNvGraphicFramePr>
            <a:graphicFrameLocks noGrp="1"/>
          </p:cNvGraphicFramePr>
          <p:nvPr/>
        </p:nvGraphicFramePr>
        <p:xfrm>
          <a:off x="611560" y="2348880"/>
          <a:ext cx="7781293" cy="3495446"/>
        </p:xfrm>
        <a:graphic>
          <a:graphicData uri="http://schemas.openxmlformats.org/drawingml/2006/table">
            <a:tbl>
              <a:tblPr firstRow="1" bandRow="1">
                <a:tableStyleId>{5C22544A-7EE6-4342-B048-85BDC9FD1C3A}</a:tableStyleId>
              </a:tblPr>
              <a:tblGrid>
                <a:gridCol w="2196075"/>
                <a:gridCol w="1392633"/>
                <a:gridCol w="642754"/>
                <a:gridCol w="768531"/>
                <a:gridCol w="2781300"/>
              </a:tblGrid>
              <a:tr h="560462">
                <a:tc>
                  <a:txBody>
                    <a:bodyPr/>
                    <a:lstStyle/>
                    <a:p>
                      <a:r>
                        <a:rPr lang="zh-CN" altLang="en-US" sz="1200" dirty="0" smtClean="0"/>
                        <a:t>服务</a:t>
                      </a:r>
                      <a:endParaRPr lang="zh-CN" altLang="en-US" sz="1200" dirty="0"/>
                    </a:p>
                  </a:txBody>
                  <a:tcPr/>
                </a:tc>
                <a:tc>
                  <a:txBody>
                    <a:bodyPr/>
                    <a:lstStyle/>
                    <a:p>
                      <a:r>
                        <a:rPr lang="zh-CN" altLang="en-US" sz="1200" dirty="0" smtClean="0"/>
                        <a:t>功能</a:t>
                      </a:r>
                      <a:endParaRPr lang="zh-CN" altLang="en-US" sz="1200" dirty="0"/>
                    </a:p>
                  </a:txBody>
                  <a:tcPr/>
                </a:tc>
                <a:tc>
                  <a:txBody>
                    <a:bodyPr/>
                    <a:lstStyle/>
                    <a:p>
                      <a:r>
                        <a:rPr lang="zh-CN" altLang="en-US" sz="1200" dirty="0" smtClean="0"/>
                        <a:t>并发连接</a:t>
                      </a:r>
                      <a:endParaRPr lang="zh-CN" altLang="en-US" sz="1200" dirty="0"/>
                    </a:p>
                  </a:txBody>
                  <a:tcPr/>
                </a:tc>
                <a:tc>
                  <a:txBody>
                    <a:bodyPr/>
                    <a:lstStyle/>
                    <a:p>
                      <a:r>
                        <a:rPr lang="zh-CN" altLang="en-US" sz="1200" dirty="0" smtClean="0"/>
                        <a:t>每连接的请求数</a:t>
                      </a:r>
                      <a:endParaRPr lang="zh-CN" altLang="en-US" sz="1200" dirty="0"/>
                    </a:p>
                  </a:txBody>
                  <a:tcPr/>
                </a:tc>
                <a:tc>
                  <a:txBody>
                    <a:bodyPr/>
                    <a:lstStyle/>
                    <a:p>
                      <a:r>
                        <a:rPr lang="zh-CN" altLang="en-US" sz="1200" dirty="0" smtClean="0"/>
                        <a:t>高峰平均并发</a:t>
                      </a:r>
                      <a:r>
                        <a:rPr lang="en-US" altLang="zh-CN" sz="1200" dirty="0" smtClean="0"/>
                        <a:t>(</a:t>
                      </a:r>
                      <a:r>
                        <a:rPr lang="zh-CN" altLang="zh-CN" sz="1200" dirty="0" smtClean="0">
                          <a:ea typeface="宋体" panose="02010600030101010101" pitchFamily="2" charset="-122"/>
                          <a:sym typeface="+mn-ea"/>
                        </a:rPr>
                        <a:t>trans/sec</a:t>
                      </a:r>
                      <a:r>
                        <a:rPr lang="en-US" altLang="zh-CN" sz="1200" dirty="0" smtClean="0"/>
                        <a:t>)</a:t>
                      </a:r>
                      <a:endParaRPr lang="zh-CN" altLang="en-US" sz="1200" dirty="0"/>
                    </a:p>
                  </a:txBody>
                  <a:tcPr/>
                </a:tc>
              </a:tr>
              <a:tr h="392324">
                <a:tc>
                  <a:txBody>
                    <a:bodyPr/>
                    <a:lstStyle/>
                    <a:p>
                      <a:r>
                        <a:rPr lang="en-US" altLang="zh-CN" sz="1200" dirty="0" smtClean="0"/>
                        <a:t>Web</a:t>
                      </a:r>
                      <a:r>
                        <a:rPr lang="zh-CN" altLang="en-US" sz="1200" dirty="0" smtClean="0"/>
                        <a:t>服务器代理（</a:t>
                      </a:r>
                      <a:r>
                        <a:rPr lang="en-US" altLang="zh-CN" sz="1200" dirty="0" smtClean="0"/>
                        <a:t>http</a:t>
                      </a:r>
                      <a:r>
                        <a:rPr lang="zh-CN" altLang="en-US" sz="1200" dirty="0" smtClean="0"/>
                        <a:t>解码）</a:t>
                      </a:r>
                      <a:endParaRPr lang="zh-CN" altLang="en-US" sz="1200" dirty="0"/>
                    </a:p>
                  </a:txBody>
                  <a:tcPr/>
                </a:tc>
                <a:tc>
                  <a:txBody>
                    <a:bodyPr/>
                    <a:lstStyle/>
                    <a:p>
                      <a:r>
                        <a:rPr lang="zh-CN" altLang="en-US" sz="1200" dirty="0" smtClean="0"/>
                        <a:t>返回默认响应</a:t>
                      </a:r>
                      <a:endParaRPr lang="zh-CN" altLang="en-US" sz="1200" dirty="0"/>
                    </a:p>
                  </a:txBody>
                  <a:tcPr/>
                </a:tc>
                <a:tc>
                  <a:txBody>
                    <a:bodyPr/>
                    <a:lstStyle/>
                    <a:p>
                      <a:r>
                        <a:rPr lang="en-US" altLang="zh-CN" sz="1200" dirty="0" smtClean="0"/>
                        <a:t>300</a:t>
                      </a:r>
                      <a:endParaRPr lang="zh-CN" altLang="en-US" sz="1200" dirty="0"/>
                    </a:p>
                  </a:txBody>
                  <a:tcPr/>
                </a:tc>
                <a:tc>
                  <a:txBody>
                    <a:bodyPr/>
                    <a:lstStyle/>
                    <a:p>
                      <a:r>
                        <a:rPr lang="en-US" altLang="zh-CN" sz="1200" dirty="0" smtClean="0">
                          <a:ea typeface="宋体" panose="02010600030101010101" pitchFamily="2" charset="-122"/>
                        </a:rPr>
                        <a:t>300</a:t>
                      </a:r>
                      <a:endParaRPr lang="zh-CN" altLang="en-US" sz="1200" dirty="0"/>
                    </a:p>
                  </a:txBody>
                  <a:tcPr/>
                </a:tc>
                <a:tc>
                  <a:txBody>
                    <a:bodyPr/>
                    <a:lstStyle/>
                    <a:p>
                      <a:r>
                        <a:rPr lang="en-US" altLang="zh-CN" sz="1200" dirty="0" smtClean="0"/>
                        <a:t>23255.81</a:t>
                      </a:r>
                      <a:r>
                        <a:rPr lang="en-US" altLang="zh-CN" sz="1200" dirty="0" smtClean="0">
                          <a:sym typeface="+mn-ea"/>
                        </a:rPr>
                        <a:t>qps(</a:t>
                      </a:r>
                      <a:r>
                        <a:rPr lang="zh-CN" altLang="en-US" sz="1200" dirty="0" smtClean="0">
                          <a:sym typeface="+mn-ea"/>
                        </a:rPr>
                        <a:t>原来</a:t>
                      </a:r>
                      <a:r>
                        <a:rPr lang="zh-CN" altLang="en-US" sz="1200" dirty="0" smtClean="0"/>
                        <a:t>8973.08</a:t>
                      </a:r>
                      <a:r>
                        <a:rPr lang="en-US" altLang="zh-CN" sz="1200" dirty="0" smtClean="0">
                          <a:sym typeface="+mn-ea"/>
                        </a:rPr>
                        <a:t>)</a:t>
                      </a:r>
                      <a:endParaRPr lang="zh-CN" altLang="en-US" sz="1200" dirty="0"/>
                    </a:p>
                  </a:txBody>
                  <a:tcPr/>
                </a:tc>
              </a:tr>
              <a:tr h="728601">
                <a:tc>
                  <a:txBody>
                    <a:bodyPr/>
                    <a:lstStyle/>
                    <a:p>
                      <a:r>
                        <a:rPr lang="zh-CN" altLang="en-US" sz="1200" dirty="0" smtClean="0"/>
                        <a:t>从web服务器代理，经过</a:t>
                      </a:r>
                      <a:r>
                        <a:rPr lang="en-US" altLang="zh-CN" sz="1200" dirty="0" err="1" smtClean="0"/>
                        <a:t>dataproxy</a:t>
                      </a:r>
                      <a:r>
                        <a:rPr lang="zh-CN" altLang="en-US" sz="1200" dirty="0" smtClean="0">
                          <a:ea typeface="宋体" panose="02010600030101010101" pitchFamily="2" charset="-122"/>
                        </a:rPr>
                        <a:t>代理，</a:t>
                      </a:r>
                      <a:r>
                        <a:rPr lang="zh-CN" altLang="en-US" sz="1200" dirty="0" smtClean="0"/>
                        <a:t>redis，dbagentwrite代理，mysql</a:t>
                      </a:r>
                      <a:endParaRPr lang="zh-CN" altLang="en-US" sz="1200" dirty="0"/>
                    </a:p>
                  </a:txBody>
                  <a:tcPr/>
                </a:tc>
                <a:tc>
                  <a:txBody>
                    <a:bodyPr/>
                    <a:lstStyle/>
                    <a:p>
                      <a:r>
                        <a:rPr lang="zh-CN" altLang="en-US" sz="1200" dirty="0" smtClean="0"/>
                        <a:t>发送写数据请求</a:t>
                      </a:r>
                      <a:endParaRPr lang="zh-CN" altLang="en-US" sz="1200" dirty="0"/>
                    </a:p>
                  </a:txBody>
                  <a:tcPr/>
                </a:tc>
                <a:tc>
                  <a:txBody>
                    <a:bodyPr/>
                    <a:lstStyle/>
                    <a:p>
                      <a:r>
                        <a:rPr lang="en-US" altLang="zh-CN" sz="1200" dirty="0" smtClean="0"/>
                        <a:t>400</a:t>
                      </a:r>
                      <a:endParaRPr lang="zh-CN" altLang="en-US" sz="1200" dirty="0"/>
                    </a:p>
                  </a:txBody>
                  <a:tcPr/>
                </a:tc>
                <a:tc>
                  <a:txBody>
                    <a:bodyPr/>
                    <a:lstStyle/>
                    <a:p>
                      <a:r>
                        <a:rPr lang="en-US" altLang="zh-CN" sz="1200" dirty="0" smtClean="0">
                          <a:ea typeface="宋体" panose="02010600030101010101" pitchFamily="2" charset="-122"/>
                        </a:rPr>
                        <a:t>300</a:t>
                      </a:r>
                      <a:endParaRPr lang="zh-CN" altLang="en-US" sz="1200" dirty="0"/>
                    </a:p>
                  </a:txBody>
                  <a:tcPr/>
                </a:tc>
                <a:tc>
                  <a:txBody>
                    <a:bodyPr/>
                    <a:lstStyle/>
                    <a:p>
                      <a:r>
                        <a:rPr lang="zh-CN" altLang="en-US" sz="1200" dirty="0" smtClean="0"/>
                        <a:t>1861.16 </a:t>
                      </a:r>
                      <a:endParaRPr lang="zh-CN" altLang="en-US" sz="1200" dirty="0"/>
                    </a:p>
                  </a:txBody>
                  <a:tcPr/>
                </a:tc>
              </a:tr>
              <a:tr h="728601">
                <a:tc>
                  <a:txBody>
                    <a:bodyPr/>
                    <a:lstStyle/>
                    <a:p>
                      <a:r>
                        <a:rPr lang="zh-CN" altLang="en-US" sz="1200" dirty="0" smtClean="0">
                          <a:sym typeface="+mn-ea"/>
                        </a:rPr>
                        <a:t>从web服务器代理，异步发送</a:t>
                      </a:r>
                      <a:r>
                        <a:rPr lang="en-US" altLang="zh-CN" sz="1200" dirty="0" err="1" smtClean="0">
                          <a:sym typeface="+mn-ea"/>
                        </a:rPr>
                        <a:t>dataproxy</a:t>
                      </a:r>
                      <a:r>
                        <a:rPr lang="zh-CN" altLang="en-US" sz="1200" dirty="0" smtClean="0">
                          <a:ea typeface="宋体" panose="02010600030101010101" pitchFamily="2" charset="-122"/>
                          <a:sym typeface="+mn-ea"/>
                        </a:rPr>
                        <a:t>代理，</a:t>
                      </a:r>
                      <a:r>
                        <a:rPr lang="zh-CN" altLang="en-US" sz="1200" dirty="0" smtClean="0">
                          <a:sym typeface="+mn-ea"/>
                        </a:rPr>
                        <a:t>redis，dbagent</a:t>
                      </a:r>
                      <a:r>
                        <a:rPr lang="en-US" altLang="zh-CN" sz="1200" dirty="0" smtClean="0">
                          <a:sym typeface="+mn-ea"/>
                        </a:rPr>
                        <a:t>read</a:t>
                      </a:r>
                      <a:r>
                        <a:rPr lang="zh-CN" altLang="en-US" sz="1200" dirty="0" smtClean="0">
                          <a:sym typeface="+mn-ea"/>
                        </a:rPr>
                        <a:t>代理，mysql</a:t>
                      </a:r>
                      <a:endParaRPr lang="zh-CN" altLang="en-US" sz="1200" dirty="0"/>
                    </a:p>
                  </a:txBody>
                  <a:tcPr/>
                </a:tc>
                <a:tc>
                  <a:txBody>
                    <a:bodyPr/>
                    <a:lstStyle/>
                    <a:p>
                      <a:r>
                        <a:rPr lang="zh-CN" altLang="en-US" sz="1200" dirty="0" smtClean="0">
                          <a:sym typeface="+mn-ea"/>
                        </a:rPr>
                        <a:t>发送读取数据请求</a:t>
                      </a:r>
                      <a:endParaRPr lang="zh-CN" altLang="en-US" sz="1200" dirty="0"/>
                    </a:p>
                  </a:txBody>
                  <a:tcPr/>
                </a:tc>
                <a:tc>
                  <a:txBody>
                    <a:bodyPr/>
                    <a:lstStyle/>
                    <a:p>
                      <a:r>
                        <a:rPr lang="en-US" altLang="zh-CN" sz="1200" dirty="0" smtClean="0"/>
                        <a:t>1000 </a:t>
                      </a:r>
                      <a:endParaRPr lang="zh-CN" altLang="en-US" sz="1200" dirty="0"/>
                    </a:p>
                  </a:txBody>
                  <a:tcPr/>
                </a:tc>
                <a:tc>
                  <a:txBody>
                    <a:bodyPr/>
                    <a:lstStyle/>
                    <a:p>
                      <a:r>
                        <a:rPr lang="en-US" altLang="zh-CN" sz="1200" dirty="0" smtClean="0"/>
                        <a:t>300 </a:t>
                      </a:r>
                      <a:endParaRPr lang="zh-CN" altLang="en-US" sz="1200" dirty="0"/>
                    </a:p>
                  </a:txBody>
                  <a:tcPr/>
                </a:tc>
                <a:tc>
                  <a:txBody>
                    <a:bodyPr/>
                    <a:lstStyle/>
                    <a:p>
                      <a:r>
                        <a:rPr lang="zh-CN" altLang="zh-CN" sz="1200" dirty="0" smtClean="0">
                          <a:ea typeface="宋体" panose="02010600030101010101" pitchFamily="2" charset="-122"/>
                        </a:rPr>
                        <a:t>929.34</a:t>
                      </a:r>
                      <a:endParaRPr lang="zh-CN" altLang="en-US" sz="1200" dirty="0"/>
                    </a:p>
                  </a:txBody>
                  <a:tcPr/>
                </a:tc>
              </a:tr>
              <a:tr h="896740">
                <a:tc>
                  <a:txBody>
                    <a:bodyPr/>
                    <a:lstStyle/>
                    <a:p>
                      <a:r>
                        <a:rPr lang="zh-CN" altLang="en-US" sz="1200" dirty="0" smtClean="0">
                          <a:sym typeface="+mn-ea"/>
                        </a:rPr>
                        <a:t>从web服务器代理，异步发送</a:t>
                      </a:r>
                      <a:r>
                        <a:rPr lang="en-US" altLang="zh-CN" sz="1200" dirty="0" err="1" smtClean="0">
                          <a:sym typeface="+mn-ea"/>
                        </a:rPr>
                        <a:t>dataproxy</a:t>
                      </a:r>
                      <a:r>
                        <a:rPr lang="zh-CN" altLang="en-US" sz="1200" dirty="0" smtClean="0">
                          <a:ea typeface="宋体" panose="02010600030101010101" pitchFamily="2" charset="-122"/>
                          <a:sym typeface="+mn-ea"/>
                        </a:rPr>
                        <a:t>代理，</a:t>
                      </a:r>
                      <a:r>
                        <a:rPr lang="zh-CN" altLang="en-US" sz="1200" dirty="0" smtClean="0">
                          <a:sym typeface="+mn-ea"/>
                        </a:rPr>
                        <a:t>redis（数据存在于</a:t>
                      </a:r>
                      <a:r>
                        <a:rPr lang="en-US" altLang="zh-CN" sz="1200" dirty="0" err="1" smtClean="0">
                          <a:sym typeface="+mn-ea"/>
                        </a:rPr>
                        <a:t>redis</a:t>
                      </a:r>
                      <a:r>
                        <a:rPr lang="zh-CN" altLang="en-US" sz="1200" dirty="0" smtClean="0">
                          <a:ea typeface="宋体" panose="02010600030101010101" pitchFamily="2" charset="-122"/>
                          <a:sym typeface="+mn-ea"/>
                        </a:rPr>
                        <a:t>中</a:t>
                      </a:r>
                      <a:r>
                        <a:rPr lang="zh-CN" altLang="en-US" sz="1200" dirty="0" smtClean="0">
                          <a:sym typeface="+mn-ea"/>
                        </a:rPr>
                        <a:t>）</a:t>
                      </a:r>
                      <a:endParaRPr lang="zh-CN" altLang="en-US" sz="1200" dirty="0"/>
                    </a:p>
                  </a:txBody>
                  <a:tcPr/>
                </a:tc>
                <a:tc>
                  <a:txBody>
                    <a:bodyPr/>
                    <a:lstStyle/>
                    <a:p>
                      <a:r>
                        <a:rPr lang="zh-CN" altLang="en-US" sz="1200" dirty="0" smtClean="0">
                          <a:sym typeface="+mn-ea"/>
                        </a:rPr>
                        <a:t>发送读取数据请求</a:t>
                      </a:r>
                      <a:endParaRPr lang="zh-CN" altLang="en-US" sz="1200" dirty="0"/>
                    </a:p>
                  </a:txBody>
                  <a:tcPr/>
                </a:tc>
                <a:tc>
                  <a:txBody>
                    <a:bodyPr/>
                    <a:lstStyle/>
                    <a:p>
                      <a:r>
                        <a:rPr lang="en-US" altLang="zh-CN" sz="1200" dirty="0" smtClean="0"/>
                        <a:t>300 </a:t>
                      </a:r>
                      <a:endParaRPr lang="zh-CN" altLang="en-US" sz="1200" dirty="0"/>
                    </a:p>
                  </a:txBody>
                  <a:tcPr/>
                </a:tc>
                <a:tc>
                  <a:txBody>
                    <a:bodyPr/>
                    <a:lstStyle/>
                    <a:p>
                      <a:r>
                        <a:rPr lang="en-US" altLang="zh-CN" sz="1200" dirty="0" smtClean="0"/>
                        <a:t>300</a:t>
                      </a:r>
                      <a:endParaRPr lang="zh-CN" altLang="en-US" sz="1200" dirty="0"/>
                    </a:p>
                  </a:txBody>
                  <a:tcPr/>
                </a:tc>
                <a:tc>
                  <a:txBody>
                    <a:bodyPr/>
                    <a:lstStyle/>
                    <a:p>
                      <a:r>
                        <a:rPr lang="zh-CN" altLang="en-US" sz="1200" dirty="0" smtClean="0"/>
                        <a:t>14657.98</a:t>
                      </a:r>
                      <a:r>
                        <a:rPr lang="zh-CN" altLang="en-US" sz="1200" dirty="0" smtClean="0">
                          <a:ea typeface="宋体" panose="02010600030101010101" pitchFamily="2" charset="-122"/>
                          <a:sym typeface="+mn-ea"/>
                        </a:rPr>
                        <a:t>（</a:t>
                      </a:r>
                      <a:r>
                        <a:rPr lang="en-US" altLang="zh-CN" sz="1200" dirty="0" smtClean="0">
                          <a:ea typeface="宋体" panose="02010600030101010101" pitchFamily="2" charset="-122"/>
                          <a:sym typeface="+mn-ea"/>
                        </a:rPr>
                        <a:t>string</a:t>
                      </a:r>
                      <a:r>
                        <a:rPr lang="zh-CN" altLang="en-US" sz="1200" dirty="0" smtClean="0">
                          <a:ea typeface="宋体" panose="02010600030101010101" pitchFamily="2" charset="-122"/>
                          <a:sym typeface="+mn-ea"/>
                        </a:rPr>
                        <a:t>类型读）</a:t>
                      </a:r>
                      <a:endParaRPr lang="en-US" altLang="zh-CN" sz="1200" dirty="0" smtClean="0">
                        <a:ea typeface="宋体" panose="02010600030101010101" pitchFamily="2" charset="-122"/>
                        <a:sym typeface="+mn-ea"/>
                      </a:endParaRPr>
                    </a:p>
                    <a:p>
                      <a:r>
                        <a:rPr lang="en-US" altLang="zh-CN" sz="1200" dirty="0" smtClean="0">
                          <a:ea typeface="宋体" panose="02010600030101010101" pitchFamily="2" charset="-122"/>
                          <a:sym typeface="+mn-ea"/>
                        </a:rPr>
                        <a:t>12228.26 </a:t>
                      </a:r>
                      <a:r>
                        <a:rPr lang="zh-CN" altLang="en-US" sz="1200" dirty="0" smtClean="0">
                          <a:ea typeface="宋体" panose="02010600030101010101" pitchFamily="2" charset="-122"/>
                          <a:sym typeface="+mn-ea"/>
                        </a:rPr>
                        <a:t>（</a:t>
                      </a:r>
                      <a:r>
                        <a:rPr lang="en-US" altLang="zh-CN" sz="1200" dirty="0" smtClean="0">
                          <a:ea typeface="宋体" panose="02010600030101010101" pitchFamily="2" charset="-122"/>
                          <a:sym typeface="+mn-ea"/>
                        </a:rPr>
                        <a:t>string</a:t>
                      </a:r>
                      <a:r>
                        <a:rPr lang="zh-CN" altLang="en-US" sz="1200" dirty="0" smtClean="0">
                          <a:ea typeface="宋体" panose="02010600030101010101" pitchFamily="2" charset="-122"/>
                          <a:sym typeface="+mn-ea"/>
                        </a:rPr>
                        <a:t>类型写）</a:t>
                      </a:r>
                      <a:endParaRPr lang="en-US" altLang="zh-CN" sz="1200" dirty="0" smtClean="0">
                        <a:ea typeface="宋体" panose="02010600030101010101" pitchFamily="2" charset="-122"/>
                        <a:sym typeface="+mn-ea"/>
                      </a:endParaRPr>
                    </a:p>
                    <a:p>
                      <a:r>
                        <a:rPr lang="zh-CN" altLang="en-US" sz="1200" dirty="0" smtClean="0">
                          <a:ea typeface="宋体" panose="02010600030101010101" pitchFamily="2" charset="-122"/>
                        </a:rPr>
                        <a:t>（原来：</a:t>
                      </a:r>
                      <a:r>
                        <a:rPr lang="zh-CN" altLang="zh-CN" sz="1200" dirty="0" smtClean="0">
                          <a:ea typeface="宋体" panose="02010600030101010101" pitchFamily="2" charset="-122"/>
                        </a:rPr>
                        <a:t>3770</a:t>
                      </a:r>
                      <a:r>
                        <a:rPr lang="zh-CN" altLang="zh-CN" sz="1200" dirty="0" smtClean="0">
                          <a:ea typeface="宋体" panose="02010600030101010101" pitchFamily="2" charset="-122"/>
                        </a:rPr>
                        <a:t>.42（hmget获取哈希表单个键的</a:t>
                      </a:r>
                      <a:r>
                        <a:rPr lang="en-US" altLang="zh-CN" sz="1200" dirty="0" smtClean="0">
                          <a:ea typeface="宋体" panose="02010600030101010101" pitchFamily="2" charset="-122"/>
                        </a:rPr>
                        <a:t>20</a:t>
                      </a:r>
                      <a:r>
                        <a:rPr lang="zh-CN" altLang="en-US" sz="1200" dirty="0" smtClean="0">
                          <a:ea typeface="宋体" panose="02010600030101010101" pitchFamily="2" charset="-122"/>
                        </a:rPr>
                        <a:t>多个</a:t>
                      </a:r>
                      <a:r>
                        <a:rPr lang="en-US" altLang="zh-CN" sz="1200" dirty="0" smtClean="0">
                          <a:ea typeface="宋体" panose="02010600030101010101" pitchFamily="2" charset="-122"/>
                        </a:rPr>
                        <a:t>fields</a:t>
                      </a:r>
                      <a:r>
                        <a:rPr lang="zh-CN" altLang="zh-CN" sz="1200" dirty="0" smtClean="0">
                          <a:ea typeface="宋体" panose="02010600030101010101" pitchFamily="2" charset="-122"/>
                        </a:rPr>
                        <a:t>）</a:t>
                      </a:r>
                      <a:endParaRPr lang="en-US" altLang="zh-CN" sz="1200" dirty="0" smtClean="0">
                        <a:ea typeface="宋体" panose="02010600030101010101" pitchFamily="2" charset="-122"/>
                      </a:endParaRPr>
                    </a:p>
                    <a:p>
                      <a:r>
                        <a:rPr lang="en-US" altLang="zh-CN" sz="1200" dirty="0" smtClean="0">
                          <a:ea typeface="宋体" panose="02010600030101010101" pitchFamily="2" charset="-122"/>
                        </a:rPr>
                        <a:t>6000+</a:t>
                      </a:r>
                      <a:r>
                        <a:rPr lang="zh-CN" altLang="en-US" sz="1200" dirty="0" smtClean="0">
                          <a:ea typeface="宋体" panose="02010600030101010101" pitchFamily="2" charset="-122"/>
                        </a:rPr>
                        <a:t>（</a:t>
                      </a:r>
                      <a:r>
                        <a:rPr lang="zh-CN" altLang="zh-CN" sz="1200" dirty="0" smtClean="0">
                          <a:ea typeface="宋体" panose="02010600030101010101" pitchFamily="2" charset="-122"/>
                        </a:rPr>
                        <a:t>简单</a:t>
                      </a:r>
                      <a:r>
                        <a:rPr lang="en-US" altLang="zh-CN" sz="1200" dirty="0" smtClean="0">
                          <a:ea typeface="宋体" panose="02010600030101010101" pitchFamily="2" charset="-122"/>
                        </a:rPr>
                        <a:t>string</a:t>
                      </a:r>
                      <a:r>
                        <a:rPr lang="zh-CN" altLang="en-US" sz="1200" dirty="0" smtClean="0">
                          <a:ea typeface="宋体" panose="02010600030101010101" pitchFamily="2" charset="-122"/>
                        </a:rPr>
                        <a:t>类型</a:t>
                      </a:r>
                      <a:r>
                        <a:rPr lang="zh-CN" altLang="en-US" sz="1200" dirty="0" smtClean="0">
                          <a:ea typeface="宋体" panose="02010600030101010101" pitchFamily="2" charset="-122"/>
                        </a:rPr>
                        <a:t>））</a:t>
                      </a:r>
                      <a:endParaRPr lang="zh-CN" altLang="en-US" sz="1200" dirty="0"/>
                    </a:p>
                  </a:txBody>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页脚占位符 4"/>
          <p:cNvSpPr>
            <a:spLocks noGrp="1"/>
          </p:cNvSpPr>
          <p:nvPr>
            <p:ph type="ftr" sz="quarter" idx="11"/>
          </p:nvPr>
        </p:nvSpPr>
        <p:spPr/>
        <p:txBody>
          <a:bodyPr/>
          <a:lstStyle/>
          <a:p>
            <a:pPr>
              <a:defRPr/>
            </a:pPr>
            <a:r>
              <a:rPr lang="en-US" altLang="zh-CN"/>
              <a:t>Company Logo</a:t>
            </a:r>
          </a:p>
        </p:txBody>
      </p:sp>
      <p:sp>
        <p:nvSpPr>
          <p:cNvPr id="19459" name="Rectangle 2"/>
          <p:cNvSpPr>
            <a:spLocks noGrp="1" noChangeArrowheads="1"/>
          </p:cNvSpPr>
          <p:nvPr>
            <p:ph type="title"/>
          </p:nvPr>
        </p:nvSpPr>
        <p:spPr/>
        <p:txBody>
          <a:bodyPr/>
          <a:lstStyle/>
          <a:p>
            <a:pPr eaLnBrk="1" hangingPunct="1"/>
            <a:r>
              <a:rPr lang="zh-CN" altLang="en-US" dirty="0">
                <a:solidFill>
                  <a:srgbClr val="000000"/>
                </a:solidFill>
                <a:ea typeface="宋体" panose="02010600030101010101" pitchFamily="2" charset="-122"/>
                <a:sym typeface="+mn-ea"/>
              </a:rPr>
              <a:t>后台框架</a:t>
            </a:r>
            <a:r>
              <a:rPr lang="zh-CN" altLang="en-US" dirty="0" smtClean="0">
                <a:solidFill>
                  <a:srgbClr val="000000"/>
                </a:solidFill>
                <a:ea typeface="宋体" panose="02010600030101010101" pitchFamily="2" charset="-122"/>
                <a:sym typeface="+mn-ea"/>
              </a:rPr>
              <a:t>设计</a:t>
            </a:r>
            <a:r>
              <a:rPr lang="en-US" altLang="zh-CN" dirty="0" smtClean="0">
                <a:solidFill>
                  <a:srgbClr val="000000"/>
                </a:solidFill>
                <a:ea typeface="宋体" panose="02010600030101010101" pitchFamily="2" charset="-122"/>
                <a:sym typeface="+mn-ea"/>
              </a:rPr>
              <a:t>—</a:t>
            </a:r>
            <a:r>
              <a:rPr lang="zh-CN" altLang="en-US" dirty="0" smtClean="0">
                <a:solidFill>
                  <a:srgbClr val="000000"/>
                </a:solidFill>
                <a:ea typeface="宋体" panose="02010600030101010101" pitchFamily="2" charset="-122"/>
                <a:sym typeface="+mn-ea"/>
              </a:rPr>
              <a:t>第三方服务性能</a:t>
            </a:r>
          </a:p>
        </p:txBody>
      </p:sp>
      <p:graphicFrame>
        <p:nvGraphicFramePr>
          <p:cNvPr id="9" name="表格 8"/>
          <p:cNvGraphicFramePr>
            <a:graphicFrameLocks noGrp="1"/>
          </p:cNvGraphicFramePr>
          <p:nvPr/>
        </p:nvGraphicFramePr>
        <p:xfrm>
          <a:off x="204470" y="1281430"/>
          <a:ext cx="8710295" cy="4765040"/>
        </p:xfrm>
        <a:graphic>
          <a:graphicData uri="http://schemas.openxmlformats.org/drawingml/2006/table">
            <a:tbl>
              <a:tblPr firstRow="1" bandRow="1">
                <a:tableStyleId>{5C22544A-7EE6-4342-B048-85BDC9FD1C3A}</a:tableStyleId>
              </a:tblPr>
              <a:tblGrid>
                <a:gridCol w="2428875"/>
                <a:gridCol w="1541145"/>
                <a:gridCol w="711200"/>
                <a:gridCol w="850265"/>
                <a:gridCol w="3178810"/>
              </a:tblGrid>
              <a:tr h="457200">
                <a:tc>
                  <a:txBody>
                    <a:bodyPr/>
                    <a:lstStyle/>
                    <a:p>
                      <a:r>
                        <a:rPr lang="zh-CN" altLang="en-US" sz="1200" dirty="0" smtClean="0"/>
                        <a:t>服务</a:t>
                      </a:r>
                      <a:endParaRPr lang="zh-CN" altLang="en-US" sz="1200" dirty="0"/>
                    </a:p>
                  </a:txBody>
                  <a:tcPr/>
                </a:tc>
                <a:tc>
                  <a:txBody>
                    <a:bodyPr/>
                    <a:lstStyle/>
                    <a:p>
                      <a:r>
                        <a:rPr lang="zh-CN" altLang="en-US" sz="1200" dirty="0" smtClean="0"/>
                        <a:t>功能</a:t>
                      </a:r>
                      <a:endParaRPr lang="zh-CN" altLang="en-US" sz="1200" dirty="0"/>
                    </a:p>
                  </a:txBody>
                  <a:tcPr/>
                </a:tc>
                <a:tc>
                  <a:txBody>
                    <a:bodyPr/>
                    <a:lstStyle/>
                    <a:p>
                      <a:r>
                        <a:rPr lang="zh-CN" altLang="en-US" sz="1200" dirty="0" smtClean="0"/>
                        <a:t>并发连接</a:t>
                      </a:r>
                      <a:endParaRPr lang="zh-CN" altLang="en-US" sz="1200" dirty="0"/>
                    </a:p>
                  </a:txBody>
                  <a:tcPr/>
                </a:tc>
                <a:tc>
                  <a:txBody>
                    <a:bodyPr/>
                    <a:lstStyle/>
                    <a:p>
                      <a:r>
                        <a:rPr lang="zh-CN" altLang="en-US" sz="1200" dirty="0" smtClean="0"/>
                        <a:t>每连接的请求数</a:t>
                      </a:r>
                      <a:endParaRPr lang="zh-CN" altLang="en-US" sz="1200" dirty="0"/>
                    </a:p>
                  </a:txBody>
                  <a:tcPr/>
                </a:tc>
                <a:tc>
                  <a:txBody>
                    <a:bodyPr/>
                    <a:lstStyle/>
                    <a:p>
                      <a:r>
                        <a:rPr lang="zh-CN" altLang="en-US" sz="1200" dirty="0" smtClean="0"/>
                        <a:t>高峰平均并发</a:t>
                      </a:r>
                      <a:r>
                        <a:rPr lang="en-US" altLang="zh-CN" sz="1200" dirty="0" smtClean="0"/>
                        <a:t>(</a:t>
                      </a:r>
                      <a:r>
                        <a:rPr lang="zh-CN" altLang="zh-CN" sz="1200" dirty="0" smtClean="0">
                          <a:ea typeface="宋体" panose="02010600030101010101" pitchFamily="2" charset="-122"/>
                          <a:sym typeface="+mn-ea"/>
                        </a:rPr>
                        <a:t>trans/sec</a:t>
                      </a:r>
                      <a:r>
                        <a:rPr lang="en-US" altLang="zh-CN" sz="1200" dirty="0" smtClean="0"/>
                        <a:t>)</a:t>
                      </a:r>
                      <a:endParaRPr lang="zh-CN" altLang="en-US" sz="1200" dirty="0"/>
                    </a:p>
                  </a:txBody>
                  <a:tcPr/>
                </a:tc>
              </a:tr>
              <a:tr h="457200">
                <a:tc>
                  <a:txBody>
                    <a:bodyPr/>
                    <a:lstStyle/>
                    <a:p>
                      <a:r>
                        <a:rPr lang="zh-CN" altLang="en-US" sz="1200" dirty="0" smtClean="0">
                          <a:sym typeface="+mn-ea"/>
                        </a:rPr>
                        <a:t>访问单一</a:t>
                      </a:r>
                      <a:r>
                        <a:rPr lang="en-US" altLang="zh-CN" sz="1200" dirty="0" err="1" smtClean="0">
                          <a:sym typeface="+mn-ea"/>
                        </a:rPr>
                        <a:t>nginx</a:t>
                      </a:r>
                      <a:r>
                        <a:rPr lang="en-US" altLang="zh-CN" sz="1200" dirty="0" smtClean="0">
                          <a:sym typeface="+mn-ea"/>
                        </a:rPr>
                        <a:t> http</a:t>
                      </a:r>
                      <a:r>
                        <a:rPr lang="zh-CN" altLang="en-US" sz="1200" dirty="0" smtClean="0">
                          <a:ea typeface="宋体" panose="02010600030101010101" pitchFamily="2" charset="-122"/>
                          <a:sym typeface="+mn-ea"/>
                        </a:rPr>
                        <a:t>服务下的</a:t>
                      </a:r>
                      <a:r>
                        <a:rPr lang="en-US" altLang="zh-CN" sz="1200" dirty="0" err="1" smtClean="0">
                          <a:ea typeface="宋体" panose="02010600030101010101" pitchFamily="2" charset="-122"/>
                          <a:sym typeface="+mn-ea"/>
                        </a:rPr>
                        <a:t>fastdfs</a:t>
                      </a:r>
                      <a:r>
                        <a:rPr lang="zh-CN" altLang="en-US" sz="1200" dirty="0" smtClean="0">
                          <a:ea typeface="宋体" panose="02010600030101010101" pitchFamily="2" charset="-122"/>
                          <a:sym typeface="+mn-ea"/>
                        </a:rPr>
                        <a:t>文件存储</a:t>
                      </a:r>
                      <a:endParaRPr lang="zh-CN" altLang="en-US" sz="1200" dirty="0">
                        <a:ea typeface="宋体" panose="02010600030101010101" pitchFamily="2" charset="-122"/>
                        <a:sym typeface="+mn-ea"/>
                      </a:endParaRPr>
                    </a:p>
                  </a:txBody>
                  <a:tcPr/>
                </a:tc>
                <a:tc>
                  <a:txBody>
                    <a:bodyPr/>
                    <a:lstStyle/>
                    <a:p>
                      <a:r>
                        <a:rPr lang="zh-CN" altLang="en-US" sz="1200" dirty="0" smtClean="0">
                          <a:sym typeface="+mn-ea"/>
                        </a:rPr>
                        <a:t>访问单一图片1.24 MB</a:t>
                      </a:r>
                      <a:endParaRPr lang="zh-CN" altLang="en-US" sz="1200" dirty="0">
                        <a:ea typeface="宋体" panose="02010600030101010101" pitchFamily="2" charset="-122"/>
                        <a:sym typeface="+mn-ea"/>
                      </a:endParaRPr>
                    </a:p>
                  </a:txBody>
                  <a:tcPr/>
                </a:tc>
                <a:tc>
                  <a:txBody>
                    <a:bodyPr/>
                    <a:lstStyle/>
                    <a:p>
                      <a:r>
                        <a:rPr lang="en-US" altLang="zh-CN" sz="1200" dirty="0" smtClean="0"/>
                        <a:t>300 </a:t>
                      </a:r>
                      <a:endParaRPr lang="zh-CN" altLang="en-US" sz="1200" dirty="0"/>
                    </a:p>
                  </a:txBody>
                  <a:tcPr/>
                </a:tc>
                <a:tc>
                  <a:txBody>
                    <a:bodyPr/>
                    <a:lstStyle/>
                    <a:p>
                      <a:r>
                        <a:rPr lang="en-US" altLang="zh-CN" sz="1200" dirty="0" smtClean="0"/>
                        <a:t>300</a:t>
                      </a:r>
                      <a:endParaRPr lang="zh-CN" altLang="en-US" sz="1200" dirty="0"/>
                    </a:p>
                  </a:txBody>
                  <a:tcPr/>
                </a:tc>
                <a:tc>
                  <a:txBody>
                    <a:bodyPr/>
                    <a:lstStyle/>
                    <a:p>
                      <a:r>
                        <a:rPr lang="zh-CN" altLang="en-US" sz="1200" dirty="0" smtClean="0">
                          <a:sym typeface="+mn-ea"/>
                        </a:rPr>
                        <a:t>1106.20 trans/sec</a:t>
                      </a:r>
                      <a:endParaRPr lang="en-US" altLang="zh-CN" sz="1200" dirty="0" smtClean="0">
                        <a:sym typeface="+mn-ea"/>
                      </a:endParaRPr>
                    </a:p>
                    <a:p>
                      <a:r>
                        <a:rPr lang="zh-CN" altLang="en-US" sz="1200" dirty="0" smtClean="0">
                          <a:sym typeface="+mn-ea"/>
                        </a:rPr>
                        <a:t>吞吐量1377.91 MB/sec</a:t>
                      </a:r>
                      <a:endParaRPr lang="zh-CN" altLang="en-US" sz="1200" dirty="0"/>
                    </a:p>
                  </a:txBody>
                  <a:tcPr/>
                </a:tc>
              </a:tr>
              <a:tr h="640080">
                <a:tc>
                  <a:txBody>
                    <a:bodyPr/>
                    <a:lstStyle/>
                    <a:p>
                      <a:r>
                        <a:rPr lang="zh-CN" altLang="en-US" sz="1200" dirty="0" smtClean="0">
                          <a:sym typeface="+mn-ea"/>
                        </a:rPr>
                        <a:t>经过代理</a:t>
                      </a:r>
                      <a:r>
                        <a:rPr lang="en-US" altLang="zh-CN" sz="1200" dirty="0" err="1" smtClean="0">
                          <a:sym typeface="+mn-ea"/>
                        </a:rPr>
                        <a:t>FileServer</a:t>
                      </a:r>
                      <a:r>
                        <a:rPr lang="zh-CN" altLang="en-US" sz="1200" dirty="0" smtClean="0">
                          <a:sym typeface="+mn-ea"/>
                        </a:rPr>
                        <a:t>，获取</a:t>
                      </a:r>
                      <a:r>
                        <a:rPr lang="en-US" altLang="zh-CN" sz="1200" dirty="0" smtClean="0">
                          <a:ea typeface="宋体" panose="02010600030101010101" pitchFamily="2" charset="-122"/>
                          <a:sym typeface="+mn-ea"/>
                        </a:rPr>
                        <a:t>tracker</a:t>
                      </a:r>
                      <a:r>
                        <a:rPr lang="zh-CN" altLang="en-US" sz="1200" dirty="0" smtClean="0">
                          <a:ea typeface="宋体" panose="02010600030101010101" pitchFamily="2" charset="-122"/>
                          <a:sym typeface="+mn-ea"/>
                        </a:rPr>
                        <a:t>服务（</a:t>
                      </a:r>
                      <a:r>
                        <a:rPr lang="en-US" altLang="zh-CN" sz="1200" dirty="0" err="1" smtClean="0">
                          <a:ea typeface="宋体" panose="02010600030101010101" pitchFamily="2" charset="-122"/>
                          <a:sym typeface="+mn-ea"/>
                        </a:rPr>
                        <a:t>fastdfs</a:t>
                      </a:r>
                      <a:r>
                        <a:rPr lang="zh-CN" altLang="en-US" sz="1200" dirty="0" smtClean="0">
                          <a:ea typeface="宋体" panose="02010600030101010101" pitchFamily="2" charset="-122"/>
                          <a:sym typeface="+mn-ea"/>
                        </a:rPr>
                        <a:t>）的路由，再访问</a:t>
                      </a:r>
                      <a:r>
                        <a:rPr lang="en-US" altLang="zh-CN" sz="1200" dirty="0" smtClean="0">
                          <a:ea typeface="宋体" panose="02010600030101010101" pitchFamily="2" charset="-122"/>
                          <a:sym typeface="+mn-ea"/>
                        </a:rPr>
                        <a:t>storage</a:t>
                      </a:r>
                      <a:r>
                        <a:rPr lang="zh-CN" altLang="zh-CN" sz="1200" dirty="0" smtClean="0">
                          <a:ea typeface="宋体" panose="02010600030101010101" pitchFamily="2" charset="-122"/>
                          <a:sym typeface="+mn-ea"/>
                        </a:rPr>
                        <a:t>服务（</a:t>
                      </a:r>
                      <a:r>
                        <a:rPr lang="en-US" altLang="zh-CN" sz="1200" dirty="0" err="1" smtClean="0">
                          <a:ea typeface="宋体" panose="02010600030101010101" pitchFamily="2" charset="-122"/>
                          <a:sym typeface="+mn-ea"/>
                        </a:rPr>
                        <a:t>fastdfs</a:t>
                      </a:r>
                      <a:r>
                        <a:rPr lang="zh-CN" altLang="zh-CN" sz="1200" dirty="0" smtClean="0">
                          <a:ea typeface="宋体" panose="02010600030101010101" pitchFamily="2" charset="-122"/>
                          <a:sym typeface="+mn-ea"/>
                        </a:rPr>
                        <a:t>）</a:t>
                      </a:r>
                    </a:p>
                  </a:txBody>
                  <a:tcPr/>
                </a:tc>
                <a:tc>
                  <a:txBody>
                    <a:bodyPr/>
                    <a:lstStyle/>
                    <a:p>
                      <a:r>
                        <a:rPr lang="zh-CN" altLang="en-US" sz="1200" dirty="0" smtClean="0">
                          <a:sym typeface="+mn-ea"/>
                        </a:rPr>
                        <a:t>上传</a:t>
                      </a:r>
                      <a:r>
                        <a:rPr lang="en-US" altLang="zh-CN" sz="1200" dirty="0" smtClean="0">
                          <a:sym typeface="+mn-ea"/>
                        </a:rPr>
                        <a:t>20</a:t>
                      </a:r>
                      <a:r>
                        <a:rPr lang="zh-CN" altLang="en-US" sz="1200" dirty="0" smtClean="0">
                          <a:ea typeface="宋体" panose="02010600030101010101" pitchFamily="2" charset="-122"/>
                          <a:sym typeface="+mn-ea"/>
                        </a:rPr>
                        <a:t>字节</a:t>
                      </a:r>
                      <a:r>
                        <a:rPr lang="zh-CN" altLang="en-US" sz="1200" dirty="0" smtClean="0">
                          <a:sym typeface="+mn-ea"/>
                        </a:rPr>
                        <a:t>字符串请求</a:t>
                      </a:r>
                      <a:endParaRPr lang="zh-CN" altLang="en-US" sz="1200" dirty="0">
                        <a:ea typeface="宋体" panose="02010600030101010101" pitchFamily="2" charset="-122"/>
                        <a:sym typeface="+mn-ea"/>
                      </a:endParaRPr>
                    </a:p>
                  </a:txBody>
                  <a:tcPr/>
                </a:tc>
                <a:tc>
                  <a:txBody>
                    <a:bodyPr/>
                    <a:lstStyle/>
                    <a:p>
                      <a:r>
                        <a:rPr lang="zh-CN" altLang="en-US" sz="1200" dirty="0" smtClean="0">
                          <a:sym typeface="+mn-ea"/>
                        </a:rPr>
                        <a:t>300</a:t>
                      </a:r>
                      <a:endParaRPr lang="zh-CN" altLang="en-US" sz="1200" dirty="0"/>
                    </a:p>
                  </a:txBody>
                  <a:tcPr/>
                </a:tc>
                <a:tc>
                  <a:txBody>
                    <a:bodyPr/>
                    <a:lstStyle/>
                    <a:p>
                      <a:r>
                        <a:rPr lang="zh-CN" altLang="en-US" sz="1200" dirty="0" smtClean="0">
                          <a:sym typeface="+mn-ea"/>
                        </a:rPr>
                        <a:t>300</a:t>
                      </a:r>
                      <a:endParaRPr lang="zh-CN" altLang="en-US" sz="1200" dirty="0"/>
                    </a:p>
                  </a:txBody>
                  <a:tcPr/>
                </a:tc>
                <a:tc>
                  <a:txBody>
                    <a:bodyPr/>
                    <a:lstStyle/>
                    <a:p>
                      <a:r>
                        <a:rPr lang="zh-CN" altLang="en-US" sz="1200" dirty="0" smtClean="0">
                          <a:sym typeface="+mn-ea"/>
                        </a:rPr>
                        <a:t>1666.67 trans/sec </a:t>
                      </a:r>
                      <a:endParaRPr lang="zh-CN" altLang="en-US" sz="1200" dirty="0"/>
                    </a:p>
                  </a:txBody>
                  <a:tcPr/>
                </a:tc>
              </a:tr>
              <a:tr h="822960">
                <a:tc>
                  <a:txBody>
                    <a:bodyPr/>
                    <a:lstStyle/>
                    <a:p>
                      <a:r>
                        <a:rPr lang="en-US" altLang="zh-CN" sz="1200" dirty="0" err="1" smtClean="0">
                          <a:sym typeface="+mn-ea"/>
                        </a:rPr>
                        <a:t>redis</a:t>
                      </a:r>
                      <a:r>
                        <a:rPr lang="zh-CN" altLang="en-US" sz="1200" dirty="0" smtClean="0">
                          <a:ea typeface="宋体" panose="02010600030101010101" pitchFamily="2" charset="-122"/>
                          <a:sym typeface="+mn-ea"/>
                        </a:rPr>
                        <a:t>单实例</a:t>
                      </a:r>
                      <a:endParaRPr lang="zh-CN" altLang="en-US" sz="1200" dirty="0">
                        <a:ea typeface="宋体" panose="02010600030101010101" pitchFamily="2" charset="-122"/>
                        <a:sym typeface="+mn-ea"/>
                      </a:endParaRPr>
                    </a:p>
                  </a:txBody>
                  <a:tcPr/>
                </a:tc>
                <a:tc>
                  <a:txBody>
                    <a:bodyPr/>
                    <a:lstStyle/>
                    <a:p>
                      <a:r>
                        <a:rPr lang="zh-CN" altLang="en-US" sz="1200" dirty="0" smtClean="0">
                          <a:ea typeface="宋体" panose="02010600030101010101" pitchFamily="2" charset="-122"/>
                          <a:sym typeface="+mn-ea"/>
                        </a:rPr>
                        <a:t>指令测试</a:t>
                      </a:r>
                      <a:endParaRPr lang="zh-CN" altLang="en-US" sz="1200" dirty="0">
                        <a:ea typeface="宋体" panose="02010600030101010101" pitchFamily="2" charset="-122"/>
                        <a:sym typeface="+mn-ea"/>
                      </a:endParaRPr>
                    </a:p>
                  </a:txBody>
                  <a:tcPr/>
                </a:tc>
                <a:tc>
                  <a:txBody>
                    <a:bodyPr/>
                    <a:lstStyle/>
                    <a:p>
                      <a:r>
                        <a:rPr lang="zh-CN" altLang="en-US" sz="1200" dirty="0" smtClean="0">
                          <a:ea typeface="宋体" panose="02010600030101010101" pitchFamily="2" charset="-122"/>
                          <a:sym typeface="+mn-ea"/>
                        </a:rPr>
                        <a:t>1000</a:t>
                      </a:r>
                      <a:endParaRPr lang="zh-CN" altLang="en-US" sz="1200" dirty="0"/>
                    </a:p>
                  </a:txBody>
                  <a:tcPr/>
                </a:tc>
                <a:tc>
                  <a:txBody>
                    <a:bodyPr/>
                    <a:lstStyle/>
                    <a:p>
                      <a:r>
                        <a:rPr lang="en-US" altLang="zh-CN" sz="1200" dirty="0" smtClean="0">
                          <a:ea typeface="宋体" panose="02010600030101010101" pitchFamily="2" charset="-122"/>
                          <a:sym typeface="+mn-ea"/>
                        </a:rPr>
                        <a:t>100000</a:t>
                      </a:r>
                      <a:endParaRPr lang="zh-CN" altLang="en-US" sz="1200" dirty="0"/>
                    </a:p>
                  </a:txBody>
                  <a:tcPr/>
                </a:tc>
                <a:tc>
                  <a:txBody>
                    <a:bodyPr/>
                    <a:lstStyle/>
                    <a:p>
                      <a:r>
                        <a:rPr lang="en-US" altLang="zh-CN" sz="1200" dirty="0" smtClean="0">
                          <a:ea typeface="宋体" panose="02010600030101010101" pitchFamily="2" charset="-122"/>
                          <a:sym typeface="+mn-ea"/>
                        </a:rPr>
                        <a:t>SET: 102145.05 requests per second</a:t>
                      </a:r>
                    </a:p>
                    <a:p>
                      <a:r>
                        <a:rPr lang="en-US" altLang="zh-CN" sz="1200" dirty="0" smtClean="0">
                          <a:ea typeface="宋体" panose="02010600030101010101" pitchFamily="2" charset="-122"/>
                          <a:sym typeface="+mn-ea"/>
                        </a:rPr>
                        <a:t>GET: 101010.10 requests per second</a:t>
                      </a:r>
                    </a:p>
                    <a:p>
                      <a:r>
                        <a:rPr lang="en-US" altLang="zh-CN" sz="1200" dirty="0" smtClean="0"/>
                        <a:t>MSET (10 keys): 55035.77 requests per second</a:t>
                      </a:r>
                      <a:endParaRPr lang="zh-CN" altLang="en-US" sz="1200" dirty="0"/>
                    </a:p>
                  </a:txBody>
                  <a:tcPr/>
                </a:tc>
              </a:tr>
              <a:tr h="1005840">
                <a:tc>
                  <a:txBody>
                    <a:bodyPr/>
                    <a:lstStyle/>
                    <a:p>
                      <a:pPr>
                        <a:buNone/>
                      </a:pPr>
                      <a:r>
                        <a:rPr lang="en-US" altLang="zh-CN" sz="1200" dirty="0">
                          <a:ea typeface="宋体" panose="02010600030101010101" pitchFamily="2" charset="-122"/>
                          <a:sym typeface="+mn-ea"/>
                        </a:rPr>
                        <a:t>shell</a:t>
                      </a:r>
                      <a:r>
                        <a:rPr lang="zh-CN" altLang="en-US" sz="1200" dirty="0">
                          <a:ea typeface="宋体" panose="02010600030101010101" pitchFamily="2" charset="-122"/>
                          <a:sym typeface="+mn-ea"/>
                        </a:rPr>
                        <a:t>客户端发送文件到</a:t>
                      </a:r>
                      <a:r>
                        <a:rPr lang="en-US" altLang="zh-CN" sz="1200" dirty="0">
                          <a:ea typeface="宋体" panose="02010600030101010101" pitchFamily="2" charset="-122"/>
                          <a:sym typeface="+mn-ea"/>
                        </a:rPr>
                        <a:t>ES</a:t>
                      </a:r>
                      <a:r>
                        <a:rPr lang="zh-CN" altLang="en-US" sz="1200" dirty="0">
                          <a:ea typeface="宋体" panose="02010600030101010101" pitchFamily="2" charset="-122"/>
                          <a:sym typeface="+mn-ea"/>
                        </a:rPr>
                        <a:t>单实例</a:t>
                      </a:r>
                    </a:p>
                  </a:txBody>
                  <a:tcPr/>
                </a:tc>
                <a:tc>
                  <a:txBody>
                    <a:bodyPr/>
                    <a:lstStyle/>
                    <a:p>
                      <a:pPr>
                        <a:buNone/>
                      </a:pPr>
                      <a:r>
                        <a:rPr lang="zh-CN" altLang="en-US" sz="1200" dirty="0">
                          <a:ea typeface="宋体" panose="02010600030101010101" pitchFamily="2" charset="-122"/>
                          <a:sym typeface="+mn-ea"/>
                        </a:rPr>
                        <a:t>单进程串行提交文件</a:t>
                      </a:r>
                    </a:p>
                    <a:p>
                      <a:pPr>
                        <a:buNone/>
                      </a:pPr>
                      <a:r>
                        <a:rPr lang="zh-CN" altLang="en-US" sz="1200" dirty="0">
                          <a:ea typeface="宋体" panose="02010600030101010101" pitchFamily="2" charset="-122"/>
                          <a:sym typeface="+mn-ea"/>
                        </a:rPr>
                        <a:t>多进程并行提交文件</a:t>
                      </a:r>
                    </a:p>
                    <a:p>
                      <a:pPr>
                        <a:buNone/>
                      </a:pPr>
                      <a:endParaRPr lang="zh-CN" altLang="en-US" sz="1200" dirty="0">
                        <a:ea typeface="宋体" panose="02010600030101010101" pitchFamily="2" charset="-122"/>
                        <a:sym typeface="+mn-ea"/>
                      </a:endParaRPr>
                    </a:p>
                  </a:txBody>
                  <a:tcPr/>
                </a:tc>
                <a:tc>
                  <a:txBody>
                    <a:bodyPr/>
                    <a:lstStyle/>
                    <a:p>
                      <a:pPr>
                        <a:buNone/>
                      </a:pPr>
                      <a:r>
                        <a:rPr lang="en-US" altLang="zh-CN" sz="1200" dirty="0"/>
                        <a:t>1</a:t>
                      </a:r>
                      <a:r>
                        <a:rPr lang="en-US" altLang="zh-CN" sz="1200" dirty="0">
                          <a:ea typeface="宋体" panose="02010600030101010101" pitchFamily="2" charset="-122"/>
                        </a:rPr>
                        <a:t>/100</a:t>
                      </a:r>
                    </a:p>
                  </a:txBody>
                  <a:tcPr/>
                </a:tc>
                <a:tc>
                  <a:txBody>
                    <a:bodyPr/>
                    <a:lstStyle/>
                    <a:p>
                      <a:pPr>
                        <a:buNone/>
                      </a:pPr>
                      <a:r>
                        <a:rPr lang="zh-CN" altLang="en-US" sz="1200" dirty="0"/>
                        <a:t>100</a:t>
                      </a:r>
                      <a:r>
                        <a:rPr lang="en-US" altLang="zh-CN" sz="1200" dirty="0"/>
                        <a:t>/1</a:t>
                      </a:r>
                    </a:p>
                  </a:txBody>
                  <a:tcPr/>
                </a:tc>
                <a:tc>
                  <a:txBody>
                    <a:bodyPr/>
                    <a:lstStyle/>
                    <a:p>
                      <a:pPr>
                        <a:buNone/>
                      </a:pPr>
                      <a:r>
                        <a:rPr lang="zh-CN" altLang="en-US" sz="1200" dirty="0"/>
                        <a:t>串行：10164 条 /秒</a:t>
                      </a:r>
                    </a:p>
                    <a:p>
                      <a:pPr>
                        <a:buNone/>
                      </a:pPr>
                      <a:r>
                        <a:rPr lang="zh-CN" altLang="en-US" sz="1200" dirty="0"/>
                        <a:t>10.1 文件(239kb</a:t>
                      </a:r>
                      <a:r>
                        <a:rPr lang="en-US" altLang="zh-CN" sz="1200" dirty="0"/>
                        <a:t>/1000</a:t>
                      </a:r>
                      <a:r>
                        <a:rPr lang="zh-CN" altLang="en-US" sz="1200" dirty="0">
                          <a:ea typeface="宋体" panose="02010600030101010101" pitchFamily="2" charset="-122"/>
                        </a:rPr>
                        <a:t>条</a:t>
                      </a:r>
                      <a:r>
                        <a:rPr lang="zh-CN" altLang="en-US" sz="1200" dirty="0"/>
                        <a:t>)/秒</a:t>
                      </a:r>
                    </a:p>
                    <a:p>
                      <a:pPr>
                        <a:buNone/>
                      </a:pPr>
                      <a:r>
                        <a:rPr lang="zh-CN" altLang="en-US" sz="1200" dirty="0">
                          <a:sym typeface="+mn-ea"/>
                        </a:rPr>
                        <a:t>并行：</a:t>
                      </a:r>
                      <a:r>
                        <a:rPr lang="zh-CN" altLang="en-US" sz="1200" dirty="0"/>
                        <a:t>18182 条 /秒</a:t>
                      </a:r>
                    </a:p>
                    <a:p>
                      <a:pPr>
                        <a:buNone/>
                      </a:pPr>
                      <a:r>
                        <a:rPr lang="zh-CN" altLang="en-US" sz="1200" dirty="0"/>
                        <a:t>18.2 文件(239kb)/秒</a:t>
                      </a:r>
                    </a:p>
                  </a:txBody>
                  <a:tcPr/>
                </a:tc>
              </a:tr>
              <a:tr h="690880">
                <a:tc>
                  <a:txBody>
                    <a:bodyPr/>
                    <a:lstStyle/>
                    <a:p>
                      <a:pPr>
                        <a:buNone/>
                      </a:pPr>
                      <a:r>
                        <a:rPr lang="en-US" altLang="zh-CN" sz="1200" dirty="0">
                          <a:ea typeface="宋体" panose="02010600030101010101" pitchFamily="2" charset="-122"/>
                          <a:sym typeface="+mn-ea"/>
                        </a:rPr>
                        <a:t>nodejs</a:t>
                      </a:r>
                      <a:r>
                        <a:rPr lang="zh-CN" altLang="en-US" sz="1200" dirty="0">
                          <a:ea typeface="宋体" panose="02010600030101010101" pitchFamily="2" charset="-122"/>
                          <a:sym typeface="+mn-ea"/>
                        </a:rPr>
                        <a:t>单进程服务</a:t>
                      </a:r>
                    </a:p>
                  </a:txBody>
                  <a:tcPr/>
                </a:tc>
                <a:tc>
                  <a:txBody>
                    <a:bodyPr/>
                    <a:lstStyle/>
                    <a:p>
                      <a:pPr>
                        <a:buNone/>
                      </a:pPr>
                      <a:r>
                        <a:rPr lang="zh-CN" altLang="en-US" sz="1200" dirty="0">
                          <a:ea typeface="宋体" panose="02010600030101010101" pitchFamily="2" charset="-122"/>
                          <a:sym typeface="+mn-ea"/>
                        </a:rPr>
                        <a:t>访问客服登录页面</a:t>
                      </a:r>
                    </a:p>
                  </a:txBody>
                  <a:tcPr/>
                </a:tc>
                <a:tc>
                  <a:txBody>
                    <a:bodyPr/>
                    <a:lstStyle/>
                    <a:p>
                      <a:pPr>
                        <a:buNone/>
                      </a:pPr>
                      <a:r>
                        <a:rPr lang="en-US" altLang="zh-CN" sz="1200" dirty="0">
                          <a:ea typeface="宋体" panose="02010600030101010101" pitchFamily="2" charset="-122"/>
                        </a:rPr>
                        <a:t>200</a:t>
                      </a:r>
                    </a:p>
                  </a:txBody>
                  <a:tcPr/>
                </a:tc>
                <a:tc>
                  <a:txBody>
                    <a:bodyPr/>
                    <a:lstStyle/>
                    <a:p>
                      <a:pPr>
                        <a:buNone/>
                      </a:pPr>
                      <a:r>
                        <a:rPr lang="en-US" altLang="zh-CN" sz="1200" dirty="0"/>
                        <a:t>200</a:t>
                      </a:r>
                    </a:p>
                  </a:txBody>
                  <a:tcPr/>
                </a:tc>
                <a:tc>
                  <a:txBody>
                    <a:bodyPr/>
                    <a:lstStyle/>
                    <a:p>
                      <a:pPr>
                        <a:buNone/>
                      </a:pPr>
                      <a:r>
                        <a:rPr lang="zh-CN" altLang="en-US" sz="1200" dirty="0"/>
                        <a:t>818.67 </a:t>
                      </a:r>
                      <a:r>
                        <a:rPr lang="zh-CN" altLang="en-US" sz="1200" dirty="0" smtClean="0">
                          <a:sym typeface="+mn-ea"/>
                        </a:rPr>
                        <a:t>trans/sec</a:t>
                      </a:r>
                      <a:endParaRPr lang="en-US" altLang="zh-CN" sz="1200" dirty="0" smtClean="0">
                        <a:sym typeface="+mn-ea"/>
                      </a:endParaRPr>
                    </a:p>
                    <a:p>
                      <a:pPr>
                        <a:buNone/>
                      </a:pPr>
                      <a:endParaRPr lang="zh-CN" altLang="en-US" sz="1200" dirty="0"/>
                    </a:p>
                  </a:txBody>
                  <a:tcPr/>
                </a:tc>
              </a:tr>
              <a:tr h="690880">
                <a:tc>
                  <a:txBody>
                    <a:bodyPr/>
                    <a:lstStyle/>
                    <a:p>
                      <a:pPr>
                        <a:buNone/>
                      </a:pPr>
                      <a:r>
                        <a:rPr lang="en-US" altLang="zh-CN" sz="1200" dirty="0">
                          <a:ea typeface="宋体" panose="02010600030101010101" pitchFamily="2" charset="-122"/>
                          <a:sym typeface="+mn-ea"/>
                        </a:rPr>
                        <a:t>nginx</a:t>
                      </a:r>
                      <a:r>
                        <a:rPr lang="zh-CN" altLang="en-US" sz="1200" dirty="0">
                          <a:ea typeface="宋体" panose="02010600030101010101" pitchFamily="2" charset="-122"/>
                          <a:sym typeface="+mn-ea"/>
                        </a:rPr>
                        <a:t>单进程服务</a:t>
                      </a:r>
                    </a:p>
                    <a:p>
                      <a:pPr>
                        <a:buNone/>
                      </a:pPr>
                      <a:endParaRPr lang="en-US" altLang="zh-CN" sz="1200" dirty="0">
                        <a:ea typeface="宋体" panose="02010600030101010101" pitchFamily="2" charset="-122"/>
                        <a:sym typeface="+mn-ea"/>
                      </a:endParaRPr>
                    </a:p>
                  </a:txBody>
                  <a:tcPr/>
                </a:tc>
                <a:tc>
                  <a:txBody>
                    <a:bodyPr/>
                    <a:lstStyle/>
                    <a:p>
                      <a:pPr>
                        <a:buNone/>
                      </a:pPr>
                      <a:r>
                        <a:rPr lang="zh-CN" altLang="en-US" sz="1200" dirty="0">
                          <a:ea typeface="宋体" panose="02010600030101010101" pitchFamily="2" charset="-122"/>
                          <a:sym typeface="+mn-ea"/>
                        </a:rPr>
                        <a:t>访问访客页面</a:t>
                      </a:r>
                    </a:p>
                  </a:txBody>
                  <a:tcPr/>
                </a:tc>
                <a:tc>
                  <a:txBody>
                    <a:bodyPr/>
                    <a:lstStyle/>
                    <a:p>
                      <a:pPr>
                        <a:buNone/>
                      </a:pPr>
                      <a:r>
                        <a:rPr lang="en-US" altLang="zh-CN" sz="1200" dirty="0">
                          <a:ea typeface="宋体" panose="02010600030101010101" pitchFamily="2" charset="-122"/>
                        </a:rPr>
                        <a:t>300</a:t>
                      </a:r>
                    </a:p>
                  </a:txBody>
                  <a:tcPr/>
                </a:tc>
                <a:tc>
                  <a:txBody>
                    <a:bodyPr/>
                    <a:lstStyle/>
                    <a:p>
                      <a:pPr>
                        <a:buNone/>
                      </a:pPr>
                      <a:r>
                        <a:rPr lang="en-US" altLang="zh-CN" sz="1200" dirty="0"/>
                        <a:t>300</a:t>
                      </a:r>
                    </a:p>
                  </a:txBody>
                  <a:tcPr/>
                </a:tc>
                <a:tc>
                  <a:txBody>
                    <a:bodyPr/>
                    <a:lstStyle/>
                    <a:p>
                      <a:pPr>
                        <a:buNone/>
                      </a:pPr>
                      <a:r>
                        <a:rPr lang="zh-CN" altLang="en-US" sz="1200" dirty="0"/>
                        <a:t>9594.88 trans/sec</a:t>
                      </a:r>
                    </a:p>
                  </a:txBody>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页脚占位符 4"/>
          <p:cNvSpPr>
            <a:spLocks noGrp="1"/>
          </p:cNvSpPr>
          <p:nvPr>
            <p:ph type="ftr" sz="quarter" idx="11"/>
          </p:nvPr>
        </p:nvSpPr>
        <p:spPr/>
        <p:txBody>
          <a:bodyPr/>
          <a:lstStyle/>
          <a:p>
            <a:pPr>
              <a:defRPr/>
            </a:pPr>
            <a:r>
              <a:rPr lang="en-US" altLang="zh-CN"/>
              <a:t>Company Logo</a:t>
            </a:r>
          </a:p>
        </p:txBody>
      </p:sp>
      <p:sp>
        <p:nvSpPr>
          <p:cNvPr id="19459" name="Rectangle 2"/>
          <p:cNvSpPr>
            <a:spLocks noGrp="1" noChangeArrowheads="1"/>
          </p:cNvSpPr>
          <p:nvPr>
            <p:ph type="title"/>
          </p:nvPr>
        </p:nvSpPr>
        <p:spPr/>
        <p:txBody>
          <a:bodyPr/>
          <a:lstStyle/>
          <a:p>
            <a:pPr eaLnBrk="1" hangingPunct="1"/>
            <a:r>
              <a:rPr lang="zh-CN" altLang="en-US">
                <a:solidFill>
                  <a:srgbClr val="000000"/>
                </a:solidFill>
                <a:ea typeface="宋体" panose="02010600030101010101" pitchFamily="2" charset="-122"/>
                <a:sym typeface="+mn-ea"/>
              </a:rPr>
              <a:t>后台框架设计</a:t>
            </a:r>
            <a:r>
              <a:rPr lang="en-US" altLang="zh-CN">
                <a:solidFill>
                  <a:srgbClr val="000000"/>
                </a:solidFill>
                <a:ea typeface="宋体" panose="02010600030101010101" pitchFamily="2" charset="-122"/>
                <a:sym typeface="+mn-ea"/>
              </a:rPr>
              <a:t>--</a:t>
            </a:r>
            <a:r>
              <a:rPr lang="zh-CN" altLang="en-US">
                <a:solidFill>
                  <a:srgbClr val="000000"/>
                </a:solidFill>
                <a:ea typeface="宋体" panose="02010600030101010101" pitchFamily="2" charset="-122"/>
                <a:sym typeface="+mn-ea"/>
              </a:rPr>
              <a:t>节点资源占用</a:t>
            </a:r>
            <a:endParaRPr lang="zh-CN" altLang="en-US" smtClean="0">
              <a:solidFill>
                <a:srgbClr val="000000"/>
              </a:solidFill>
              <a:ea typeface="宋体" panose="02010600030101010101" pitchFamily="2" charset="-122"/>
              <a:sym typeface="+mn-ea"/>
            </a:endParaRPr>
          </a:p>
        </p:txBody>
      </p:sp>
      <p:sp>
        <p:nvSpPr>
          <p:cNvPr id="5" name="文本框 4"/>
          <p:cNvSpPr txBox="1"/>
          <p:nvPr/>
        </p:nvSpPr>
        <p:spPr>
          <a:xfrm>
            <a:off x="4411980" y="1631315"/>
            <a:ext cx="4559300" cy="2030095"/>
          </a:xfrm>
          <a:prstGeom prst="rect">
            <a:avLst/>
          </a:prstGeom>
          <a:noFill/>
        </p:spPr>
        <p:txBody>
          <a:bodyPr wrap="square" rtlCol="0">
            <a:spAutoFit/>
          </a:bodyPr>
          <a:lstStyle/>
          <a:p>
            <a:r>
              <a:rPr lang="zh-CN" altLang="en-US" dirty="0" smtClean="0">
                <a:ea typeface="宋体" panose="02010600030101010101" pitchFamily="2" charset="-122"/>
              </a:rPr>
              <a:t>节点资源占用如左：</a:t>
            </a:r>
            <a:endParaRPr lang="en-US" altLang="zh-CN" dirty="0" smtClean="0">
              <a:ea typeface="宋体" panose="02010600030101010101" pitchFamily="2" charset="-122"/>
            </a:endParaRPr>
          </a:p>
          <a:p>
            <a:r>
              <a:rPr lang="zh-CN" altLang="en-US" dirty="0" smtClean="0">
                <a:ea typeface="宋体" panose="02010600030101010101" pitchFamily="2" charset="-122"/>
                <a:sym typeface="+mn-ea"/>
              </a:rPr>
              <a:t>空闲时单节点</a:t>
            </a:r>
            <a:r>
              <a:rPr lang="en-US" altLang="zh-CN" dirty="0" err="1" smtClean="0">
                <a:ea typeface="宋体" panose="02010600030101010101" pitchFamily="2" charset="-122"/>
                <a:sym typeface="+mn-ea"/>
              </a:rPr>
              <a:t>cpu</a:t>
            </a:r>
            <a:r>
              <a:rPr lang="zh-CN" altLang="en-US" dirty="0" smtClean="0">
                <a:ea typeface="宋体" panose="02010600030101010101" pitchFamily="2" charset="-122"/>
                <a:sym typeface="+mn-ea"/>
              </a:rPr>
              <a:t>使用率大致不到单核百分之</a:t>
            </a:r>
            <a:r>
              <a:rPr lang="en-US" altLang="zh-CN" dirty="0" smtClean="0">
                <a:ea typeface="宋体" panose="02010600030101010101" pitchFamily="2" charset="-122"/>
                <a:sym typeface="+mn-ea"/>
              </a:rPr>
              <a:t>3</a:t>
            </a:r>
            <a:r>
              <a:rPr lang="zh-CN" altLang="en-US" dirty="0" smtClean="0">
                <a:ea typeface="宋体" panose="02010600030101010101" pitchFamily="2" charset="-122"/>
                <a:sym typeface="+mn-ea"/>
              </a:rPr>
              <a:t>，内存使用率大致不到百分之</a:t>
            </a:r>
            <a:r>
              <a:rPr lang="en-US" altLang="zh-CN" dirty="0" smtClean="0">
                <a:ea typeface="宋体" panose="02010600030101010101" pitchFamily="2" charset="-122"/>
                <a:sym typeface="+mn-ea"/>
              </a:rPr>
              <a:t>1.</a:t>
            </a:r>
          </a:p>
          <a:p>
            <a:endParaRPr lang="zh-CN" altLang="en-US" dirty="0">
              <a:ea typeface="宋体" panose="02010600030101010101" pitchFamily="2" charset="-122"/>
            </a:endParaRPr>
          </a:p>
          <a:p>
            <a:r>
              <a:rPr lang="zh-CN" altLang="en-US" dirty="0" smtClean="0">
                <a:ea typeface="宋体" panose="02010600030101010101" pitchFamily="2" charset="-122"/>
              </a:rPr>
              <a:t>节点</a:t>
            </a:r>
            <a:r>
              <a:rPr lang="zh-CN" altLang="en-US" dirty="0">
                <a:ea typeface="宋体" panose="02010600030101010101" pitchFamily="2" charset="-122"/>
              </a:rPr>
              <a:t>的其他的逻辑需要的内存占用</a:t>
            </a:r>
            <a:r>
              <a:rPr lang="en-US" altLang="zh-CN" dirty="0">
                <a:ea typeface="宋体" panose="02010600030101010101" pitchFamily="2" charset="-122"/>
              </a:rPr>
              <a:t>\</a:t>
            </a:r>
            <a:r>
              <a:rPr lang="en-US" altLang="zh-CN" dirty="0" err="1">
                <a:ea typeface="宋体" panose="02010600030101010101" pitchFamily="2" charset="-122"/>
              </a:rPr>
              <a:t>cpu</a:t>
            </a:r>
            <a:r>
              <a:rPr lang="zh-CN" altLang="zh-CN" dirty="0">
                <a:ea typeface="宋体" panose="02010600030101010101" pitchFamily="2" charset="-122"/>
              </a:rPr>
              <a:t>占用</a:t>
            </a:r>
            <a:r>
              <a:rPr lang="zh-CN" altLang="en-US" dirty="0">
                <a:ea typeface="宋体" panose="02010600030101010101" pitchFamily="2" charset="-122"/>
              </a:rPr>
              <a:t>，与逻辑本身有关。如中文搜索引擎节点需要全</a:t>
            </a:r>
            <a:r>
              <a:rPr lang="zh-CN" altLang="en-US" dirty="0" smtClean="0">
                <a:ea typeface="宋体" panose="02010600030101010101" pitchFamily="2" charset="-122"/>
              </a:rPr>
              <a:t>加载</a:t>
            </a:r>
            <a:r>
              <a:rPr lang="en-US" altLang="zh-CN" dirty="0" smtClean="0">
                <a:ea typeface="宋体" panose="02010600030101010101" pitchFamily="2" charset="-122"/>
              </a:rPr>
              <a:t>62w</a:t>
            </a:r>
            <a:r>
              <a:rPr lang="zh-CN" altLang="en-US" dirty="0" smtClean="0">
                <a:ea typeface="宋体" panose="02010600030101010101" pitchFamily="2" charset="-122"/>
              </a:rPr>
              <a:t>词库，</a:t>
            </a:r>
            <a:r>
              <a:rPr lang="zh-CN" altLang="en-US" dirty="0">
                <a:ea typeface="宋体" panose="02010600030101010101" pitchFamily="2" charset="-122"/>
              </a:rPr>
              <a:t>则</a:t>
            </a:r>
            <a:r>
              <a:rPr lang="zh-CN" altLang="en-US" dirty="0" smtClean="0">
                <a:ea typeface="宋体" panose="02010600030101010101" pitchFamily="2" charset="-122"/>
              </a:rPr>
              <a:t>需要</a:t>
            </a:r>
            <a:r>
              <a:rPr lang="en-US" altLang="zh-CN" dirty="0" smtClean="0">
                <a:ea typeface="宋体" panose="02010600030101010101" pitchFamily="2" charset="-122"/>
              </a:rPr>
              <a:t>6</a:t>
            </a:r>
            <a:r>
              <a:rPr lang="zh-CN" altLang="en-US" dirty="0" smtClean="0">
                <a:ea typeface="宋体" panose="02010600030101010101" pitchFamily="2" charset="-122"/>
              </a:rPr>
              <a:t>或</a:t>
            </a:r>
            <a:r>
              <a:rPr lang="en-US" altLang="zh-CN" dirty="0" smtClean="0">
                <a:ea typeface="宋体" panose="02010600030101010101" pitchFamily="2" charset="-122"/>
              </a:rPr>
              <a:t>7G</a:t>
            </a:r>
            <a:r>
              <a:rPr lang="zh-CN" altLang="en-US" dirty="0">
                <a:ea typeface="宋体" panose="02010600030101010101" pitchFamily="2" charset="-122"/>
              </a:rPr>
              <a:t>的内存。</a:t>
            </a:r>
          </a:p>
        </p:txBody>
      </p:sp>
      <p:pic>
        <p:nvPicPr>
          <p:cNvPr id="6" name="图片 5" descr="TL`2)%~C1J(_CN0F15CV(8N"/>
          <p:cNvPicPr>
            <a:picLocks noChangeAspect="1"/>
          </p:cNvPicPr>
          <p:nvPr/>
        </p:nvPicPr>
        <p:blipFill>
          <a:blip r:embed="rId2" cstate="print"/>
          <a:stretch>
            <a:fillRect/>
          </a:stretch>
        </p:blipFill>
        <p:spPr>
          <a:xfrm>
            <a:off x="170180" y="1433944"/>
            <a:ext cx="4151630" cy="307467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页脚占位符 4"/>
          <p:cNvSpPr>
            <a:spLocks noGrp="1"/>
          </p:cNvSpPr>
          <p:nvPr>
            <p:ph type="ftr" sz="quarter" idx="11"/>
          </p:nvPr>
        </p:nvSpPr>
        <p:spPr/>
        <p:txBody>
          <a:bodyPr/>
          <a:lstStyle/>
          <a:p>
            <a:pPr>
              <a:defRPr/>
            </a:pPr>
            <a:r>
              <a:rPr lang="en-US" altLang="zh-CN"/>
              <a:t>Company Logo</a:t>
            </a:r>
          </a:p>
        </p:txBody>
      </p:sp>
      <p:sp>
        <p:nvSpPr>
          <p:cNvPr id="19459" name="Rectangle 2"/>
          <p:cNvSpPr>
            <a:spLocks noGrp="1" noChangeArrowheads="1"/>
          </p:cNvSpPr>
          <p:nvPr>
            <p:ph type="title"/>
          </p:nvPr>
        </p:nvSpPr>
        <p:spPr/>
        <p:txBody>
          <a:bodyPr/>
          <a:lstStyle/>
          <a:p>
            <a:pPr eaLnBrk="1" hangingPunct="1"/>
            <a:r>
              <a:rPr lang="zh-CN" altLang="en-US">
                <a:solidFill>
                  <a:srgbClr val="000000"/>
                </a:solidFill>
                <a:ea typeface="宋体" panose="02010600030101010101" pitchFamily="2" charset="-122"/>
                <a:sym typeface="+mn-ea"/>
              </a:rPr>
              <a:t>后台框架设计</a:t>
            </a:r>
            <a:r>
              <a:rPr lang="en-US" altLang="zh-CN">
                <a:solidFill>
                  <a:srgbClr val="000000"/>
                </a:solidFill>
                <a:ea typeface="宋体" panose="02010600030101010101" pitchFamily="2" charset="-122"/>
                <a:sym typeface="+mn-ea"/>
              </a:rPr>
              <a:t>--</a:t>
            </a:r>
            <a:r>
              <a:rPr lang="zh-CN" altLang="en-US">
                <a:solidFill>
                  <a:srgbClr val="000000"/>
                </a:solidFill>
                <a:ea typeface="宋体" panose="02010600030101010101" pitchFamily="2" charset="-122"/>
                <a:sym typeface="+mn-ea"/>
              </a:rPr>
              <a:t>第三方节点资源占用</a:t>
            </a:r>
            <a:endParaRPr lang="zh-CN" altLang="en-US" smtClean="0">
              <a:solidFill>
                <a:srgbClr val="000000"/>
              </a:solidFill>
              <a:ea typeface="宋体" panose="02010600030101010101" pitchFamily="2" charset="-122"/>
              <a:sym typeface="+mn-ea"/>
            </a:endParaRPr>
          </a:p>
        </p:txBody>
      </p:sp>
      <p:pic>
        <p:nvPicPr>
          <p:cNvPr id="3" name="图片 2" descr="]H46OTDUWOT6%D)LOCV5UC4"/>
          <p:cNvPicPr>
            <a:picLocks noChangeAspect="1"/>
          </p:cNvPicPr>
          <p:nvPr/>
        </p:nvPicPr>
        <p:blipFill>
          <a:blip r:embed="rId2" cstate="print"/>
          <a:stretch>
            <a:fillRect/>
          </a:stretch>
        </p:blipFill>
        <p:spPr>
          <a:xfrm>
            <a:off x="222885" y="1320165"/>
            <a:ext cx="7984490" cy="1121410"/>
          </a:xfrm>
          <a:prstGeom prst="rect">
            <a:avLst/>
          </a:prstGeom>
        </p:spPr>
      </p:pic>
      <p:sp>
        <p:nvSpPr>
          <p:cNvPr id="4" name="文本框 3"/>
          <p:cNvSpPr txBox="1"/>
          <p:nvPr/>
        </p:nvSpPr>
        <p:spPr>
          <a:xfrm>
            <a:off x="294640" y="2472055"/>
            <a:ext cx="8689975" cy="645160"/>
          </a:xfrm>
          <a:prstGeom prst="rect">
            <a:avLst/>
          </a:prstGeom>
          <a:noFill/>
        </p:spPr>
        <p:txBody>
          <a:bodyPr wrap="square" rtlCol="0">
            <a:spAutoFit/>
          </a:bodyPr>
          <a:lstStyle/>
          <a:p>
            <a:r>
              <a:rPr lang="zh-CN" altLang="en-US"/>
              <a:t>启动</a:t>
            </a:r>
            <a:r>
              <a:rPr lang="en-US" altLang="zh-CN"/>
              <a:t>ElasticSearch</a:t>
            </a:r>
            <a:r>
              <a:rPr lang="zh-CN" altLang="en-US">
                <a:ea typeface="宋体" panose="02010600030101010101" pitchFamily="2" charset="-122"/>
              </a:rPr>
              <a:t>两个节点的集群，闲时内存分别占用</a:t>
            </a:r>
            <a:r>
              <a:rPr lang="en-US" altLang="zh-CN">
                <a:ea typeface="宋体" panose="02010600030101010101" pitchFamily="2" charset="-122"/>
              </a:rPr>
              <a:t>15%</a:t>
            </a:r>
            <a:r>
              <a:rPr lang="zh-CN" altLang="en-US">
                <a:ea typeface="宋体" panose="02010600030101010101" pitchFamily="2" charset="-122"/>
              </a:rPr>
              <a:t>和</a:t>
            </a:r>
            <a:r>
              <a:rPr lang="en-US" altLang="zh-CN">
                <a:ea typeface="宋体" panose="02010600030101010101" pitchFamily="2" charset="-122"/>
              </a:rPr>
              <a:t>8%</a:t>
            </a:r>
            <a:r>
              <a:rPr lang="zh-CN" altLang="zh-CN">
                <a:ea typeface="宋体" panose="02010600030101010101" pitchFamily="2" charset="-122"/>
              </a:rPr>
              <a:t>，</a:t>
            </a:r>
            <a:r>
              <a:rPr lang="en-US" altLang="zh-CN">
                <a:ea typeface="宋体" panose="02010600030101010101" pitchFamily="2" charset="-122"/>
              </a:rPr>
              <a:t>cpu</a:t>
            </a:r>
            <a:r>
              <a:rPr lang="zh-CN" altLang="en-US">
                <a:ea typeface="宋体" panose="02010600030101010101" pitchFamily="2" charset="-122"/>
              </a:rPr>
              <a:t>占用</a:t>
            </a:r>
            <a:r>
              <a:rPr lang="zh-CN" altLang="zh-CN">
                <a:ea typeface="宋体" panose="02010600030101010101" pitchFamily="2" charset="-122"/>
              </a:rPr>
              <a:t>0.5和</a:t>
            </a:r>
            <a:r>
              <a:rPr lang="en-US" altLang="zh-CN">
                <a:ea typeface="宋体" panose="02010600030101010101" pitchFamily="2" charset="-122"/>
              </a:rPr>
              <a:t>0.4</a:t>
            </a:r>
            <a:r>
              <a:rPr lang="zh-CN" altLang="en-US">
                <a:ea typeface="宋体" panose="02010600030101010101" pitchFamily="2" charset="-122"/>
              </a:rPr>
              <a:t>。</a:t>
            </a:r>
          </a:p>
          <a:p>
            <a:r>
              <a:rPr lang="en-US" altLang="zh-CN">
                <a:ea typeface="宋体" panose="02010600030101010101" pitchFamily="2" charset="-122"/>
              </a:rPr>
              <a:t>nodejs</a:t>
            </a:r>
            <a:r>
              <a:rPr lang="zh-CN" altLang="en-US">
                <a:ea typeface="宋体" panose="02010600030101010101" pitchFamily="2" charset="-122"/>
                <a:sym typeface="+mn-ea"/>
              </a:rPr>
              <a:t>闲时内存占用</a:t>
            </a:r>
            <a:r>
              <a:rPr lang="en-US" altLang="zh-CN">
                <a:ea typeface="宋体" panose="02010600030101010101" pitchFamily="2" charset="-122"/>
                <a:sym typeface="+mn-ea"/>
              </a:rPr>
              <a:t>5.4%,</a:t>
            </a:r>
            <a:r>
              <a:rPr lang="zh-CN" altLang="zh-CN">
                <a:ea typeface="宋体" panose="02010600030101010101" pitchFamily="2" charset="-122"/>
                <a:sym typeface="+mn-ea"/>
              </a:rPr>
              <a:t>几乎没占用</a:t>
            </a:r>
            <a:r>
              <a:rPr lang="en-US" altLang="zh-CN">
                <a:ea typeface="宋体" panose="02010600030101010101" pitchFamily="2" charset="-122"/>
                <a:sym typeface="+mn-ea"/>
              </a:rPr>
              <a:t>cpu</a:t>
            </a:r>
            <a:r>
              <a:rPr lang="zh-CN" altLang="en-US">
                <a:ea typeface="宋体" panose="02010600030101010101" pitchFamily="2" charset="-122"/>
                <a:sym typeface="+mn-ea"/>
              </a:rPr>
              <a:t>。</a:t>
            </a:r>
            <a:endParaRPr lang="zh-CN" altLang="en-US">
              <a:ea typeface="宋体" panose="02010600030101010101" pitchFamily="2" charset="-122"/>
            </a:endParaRPr>
          </a:p>
        </p:txBody>
      </p:sp>
      <p:pic>
        <p:nvPicPr>
          <p:cNvPr id="7" name="图片 6" descr="5`M~X53E41EFF4_DK44%7NC"/>
          <p:cNvPicPr>
            <a:picLocks noChangeAspect="1"/>
          </p:cNvPicPr>
          <p:nvPr/>
        </p:nvPicPr>
        <p:blipFill>
          <a:blip r:embed="rId3" cstate="print"/>
          <a:stretch>
            <a:fillRect/>
          </a:stretch>
        </p:blipFill>
        <p:spPr>
          <a:xfrm>
            <a:off x="222885" y="3406775"/>
            <a:ext cx="8202930" cy="1291590"/>
          </a:xfrm>
          <a:prstGeom prst="rect">
            <a:avLst/>
          </a:prstGeom>
        </p:spPr>
      </p:pic>
      <p:sp>
        <p:nvSpPr>
          <p:cNvPr id="9" name="文本框 8"/>
          <p:cNvSpPr txBox="1"/>
          <p:nvPr/>
        </p:nvSpPr>
        <p:spPr>
          <a:xfrm>
            <a:off x="379730" y="4784725"/>
            <a:ext cx="8081010" cy="368300"/>
          </a:xfrm>
          <a:prstGeom prst="rect">
            <a:avLst/>
          </a:prstGeom>
          <a:noFill/>
        </p:spPr>
        <p:txBody>
          <a:bodyPr wrap="square" rtlCol="0">
            <a:spAutoFit/>
          </a:bodyPr>
          <a:lstStyle/>
          <a:p>
            <a:r>
              <a:rPr lang="en-US" altLang="zh-CN"/>
              <a:t>redis</a:t>
            </a:r>
            <a:r>
              <a:rPr lang="zh-CN" altLang="en-US">
                <a:ea typeface="宋体" panose="02010600030101010101" pitchFamily="2" charset="-122"/>
              </a:rPr>
              <a:t>服务闲时几乎不占用内存和</a:t>
            </a:r>
            <a:r>
              <a:rPr lang="en-US" altLang="zh-CN">
                <a:ea typeface="宋体" panose="02010600030101010101" pitchFamily="2" charset="-122"/>
              </a:rPr>
              <a:t>cpu</a:t>
            </a:r>
            <a:r>
              <a:rPr lang="zh-CN" altLang="en-US">
                <a:ea typeface="宋体" panose="02010600030101010101" pitchFamily="2" charset="-122"/>
              </a:rPr>
              <a:t>，后期内存占用与逻辑有关。</a:t>
            </a:r>
          </a:p>
        </p:txBody>
      </p:sp>
      <p:pic>
        <p:nvPicPr>
          <p:cNvPr id="11" name="图片 10" descr="MTD7E]Y8W8N[8H@PC9WZQCT"/>
          <p:cNvPicPr>
            <a:picLocks noChangeAspect="1"/>
          </p:cNvPicPr>
          <p:nvPr/>
        </p:nvPicPr>
        <p:blipFill>
          <a:blip r:embed="rId4" cstate="print"/>
          <a:stretch>
            <a:fillRect/>
          </a:stretch>
        </p:blipFill>
        <p:spPr>
          <a:xfrm>
            <a:off x="222885" y="5153025"/>
            <a:ext cx="8253730" cy="756920"/>
          </a:xfrm>
          <a:prstGeom prst="rect">
            <a:avLst/>
          </a:prstGeom>
        </p:spPr>
      </p:pic>
      <p:sp>
        <p:nvSpPr>
          <p:cNvPr id="12" name="文本框 11"/>
          <p:cNvSpPr txBox="1"/>
          <p:nvPr/>
        </p:nvSpPr>
        <p:spPr>
          <a:xfrm>
            <a:off x="387985" y="6025515"/>
            <a:ext cx="7352665" cy="368300"/>
          </a:xfrm>
          <a:prstGeom prst="rect">
            <a:avLst/>
          </a:prstGeom>
          <a:noFill/>
        </p:spPr>
        <p:txBody>
          <a:bodyPr wrap="square" rtlCol="0">
            <a:spAutoFit/>
          </a:bodyPr>
          <a:lstStyle/>
          <a:p>
            <a:r>
              <a:rPr lang="en-US" altLang="zh-CN"/>
              <a:t>mysql</a:t>
            </a:r>
            <a:r>
              <a:rPr lang="zh-CN" altLang="en-US">
                <a:ea typeface="宋体" panose="02010600030101010101" pitchFamily="2" charset="-122"/>
              </a:rPr>
              <a:t>服务闲时也占用较少内存和</a:t>
            </a:r>
            <a:r>
              <a:rPr lang="en-US" altLang="zh-CN">
                <a:ea typeface="宋体" panose="02010600030101010101" pitchFamily="2" charset="-122"/>
              </a:rPr>
              <a:t>cpu.</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页脚占位符 4"/>
          <p:cNvSpPr>
            <a:spLocks noGrp="1"/>
          </p:cNvSpPr>
          <p:nvPr>
            <p:ph type="ftr" sz="quarter" idx="11"/>
          </p:nvPr>
        </p:nvSpPr>
        <p:spPr/>
        <p:txBody>
          <a:bodyPr/>
          <a:lstStyle/>
          <a:p>
            <a:pPr>
              <a:defRPr/>
            </a:pPr>
            <a:r>
              <a:rPr lang="en-US" altLang="zh-CN"/>
              <a:t>Company Logo</a:t>
            </a:r>
          </a:p>
        </p:txBody>
      </p:sp>
      <p:sp>
        <p:nvSpPr>
          <p:cNvPr id="19459" name="Rectangle 2"/>
          <p:cNvSpPr>
            <a:spLocks noGrp="1" noChangeArrowheads="1"/>
          </p:cNvSpPr>
          <p:nvPr>
            <p:ph type="title"/>
          </p:nvPr>
        </p:nvSpPr>
        <p:spPr/>
        <p:txBody>
          <a:bodyPr/>
          <a:lstStyle/>
          <a:p>
            <a:pPr eaLnBrk="1" hangingPunct="1"/>
            <a:r>
              <a:rPr lang="zh-CN" altLang="en-US">
                <a:solidFill>
                  <a:srgbClr val="000000"/>
                </a:solidFill>
                <a:ea typeface="宋体" panose="02010600030101010101" pitchFamily="2" charset="-122"/>
                <a:sym typeface="+mn-ea"/>
              </a:rPr>
              <a:t>后台框架设计</a:t>
            </a:r>
            <a:r>
              <a:rPr lang="en-US" altLang="zh-CN">
                <a:solidFill>
                  <a:srgbClr val="000000"/>
                </a:solidFill>
                <a:ea typeface="宋体" panose="02010600030101010101" pitchFamily="2" charset="-122"/>
                <a:sym typeface="+mn-ea"/>
              </a:rPr>
              <a:t>--</a:t>
            </a:r>
            <a:r>
              <a:rPr lang="zh-CN" altLang="en-US">
                <a:solidFill>
                  <a:srgbClr val="000000"/>
                </a:solidFill>
                <a:ea typeface="宋体" panose="02010600030101010101" pitchFamily="2" charset="-122"/>
                <a:sym typeface="+mn-ea"/>
              </a:rPr>
              <a:t>开发代码量</a:t>
            </a:r>
            <a:endParaRPr lang="zh-CN" altLang="en-US" smtClean="0">
              <a:solidFill>
                <a:srgbClr val="000000"/>
              </a:solidFill>
              <a:ea typeface="宋体" panose="02010600030101010101" pitchFamily="2" charset="-122"/>
              <a:sym typeface="+mn-ea"/>
            </a:endParaRPr>
          </a:p>
        </p:txBody>
      </p:sp>
      <p:sp>
        <p:nvSpPr>
          <p:cNvPr id="4" name="文本框 3"/>
          <p:cNvSpPr txBox="1"/>
          <p:nvPr/>
        </p:nvSpPr>
        <p:spPr>
          <a:xfrm>
            <a:off x="489585" y="1221105"/>
            <a:ext cx="4162425" cy="5355312"/>
          </a:xfrm>
          <a:prstGeom prst="rect">
            <a:avLst/>
          </a:prstGeom>
          <a:noFill/>
        </p:spPr>
        <p:txBody>
          <a:bodyPr wrap="square" rtlCol="0">
            <a:spAutoFit/>
          </a:bodyPr>
          <a:lstStyle/>
          <a:p>
            <a:r>
              <a:rPr lang="zh-CN" altLang="en-US" dirty="0" smtClean="0"/>
              <a:t>统计</a:t>
            </a:r>
            <a:r>
              <a:rPr lang="en-US" altLang="zh-CN" dirty="0" smtClean="0"/>
              <a:t>c++</a:t>
            </a:r>
            <a:r>
              <a:rPr lang="zh-CN" altLang="en-US" dirty="0" smtClean="0">
                <a:ea typeface="宋体" panose="02010600030101010101" pitchFamily="2" charset="-122"/>
              </a:rPr>
              <a:t>后台服务</a:t>
            </a:r>
          </a:p>
          <a:p>
            <a:r>
              <a:rPr lang="zh-CN" altLang="en-US" dirty="0" smtClean="0"/>
              <a:t>模块</a:t>
            </a:r>
            <a:r>
              <a:rPr lang="zh-CN" altLang="en-US" dirty="0"/>
              <a:t>代码行数：</a:t>
            </a:r>
          </a:p>
          <a:p>
            <a:r>
              <a:rPr lang="zh-CN" altLang="en-US" dirty="0"/>
              <a:t>ESAgent : 3928  </a:t>
            </a:r>
            <a:r>
              <a:rPr lang="en-US" altLang="zh-CN" dirty="0"/>
              <a:t>ES</a:t>
            </a:r>
            <a:r>
              <a:rPr lang="zh-CN" altLang="en-US" dirty="0">
                <a:ea typeface="宋体" panose="02010600030101010101" pitchFamily="2" charset="-122"/>
              </a:rPr>
              <a:t>代理</a:t>
            </a:r>
          </a:p>
          <a:p>
            <a:r>
              <a:rPr lang="zh-CN" altLang="en-US" dirty="0"/>
              <a:t>loss : 14561 自定义库</a:t>
            </a:r>
          </a:p>
          <a:p>
            <a:r>
              <a:rPr lang="zh-CN" altLang="en-US" dirty="0"/>
              <a:t>Starship : 46160 网络框架</a:t>
            </a:r>
          </a:p>
          <a:p>
            <a:r>
              <a:rPr lang="zh-CN" altLang="en-US" dirty="0"/>
              <a:t>LogicServer : 52152 逻辑服务</a:t>
            </a:r>
          </a:p>
          <a:p>
            <a:r>
              <a:rPr lang="zh-CN" altLang="en-US" dirty="0"/>
              <a:t>proto : 111418 协议</a:t>
            </a:r>
          </a:p>
          <a:p>
            <a:r>
              <a:rPr lang="zh-CN" altLang="en-US" dirty="0"/>
              <a:t>RobotServer : 6063 机器人问题搜索</a:t>
            </a:r>
          </a:p>
          <a:p>
            <a:r>
              <a:rPr lang="zh-CN" altLang="en-US" dirty="0"/>
              <a:t>FileServer : 12549 文件代理</a:t>
            </a:r>
          </a:p>
          <a:p>
            <a:r>
              <a:rPr lang="zh-CN" altLang="en-US" dirty="0"/>
              <a:t>CrmServer : </a:t>
            </a:r>
            <a:r>
              <a:rPr lang="zh-CN" altLang="en-US" dirty="0" smtClean="0"/>
              <a:t>1366 外接</a:t>
            </a:r>
            <a:r>
              <a:rPr lang="en-US" altLang="zh-CN" dirty="0" smtClean="0"/>
              <a:t>app</a:t>
            </a:r>
            <a:r>
              <a:rPr lang="zh-CN" altLang="en-US" dirty="0" smtClean="0"/>
              <a:t>用户信息</a:t>
            </a:r>
            <a:endParaRPr lang="zh-CN" altLang="en-US" dirty="0"/>
          </a:p>
          <a:p>
            <a:r>
              <a:rPr lang="zh-CN" altLang="en-US" dirty="0"/>
              <a:t>LoginServer : 2760 登录</a:t>
            </a:r>
          </a:p>
          <a:p>
            <a:r>
              <a:rPr lang="zh-CN" altLang="en-US" dirty="0"/>
              <a:t>GateServer : 2315 网关</a:t>
            </a:r>
          </a:p>
          <a:p>
            <a:r>
              <a:rPr lang="zh-CN" altLang="en-US" dirty="0"/>
              <a:t>CenterServer : 7393 中心</a:t>
            </a:r>
          </a:p>
          <a:p>
            <a:r>
              <a:rPr lang="zh-CN" altLang="en-US" dirty="0"/>
              <a:t>DataProxyServer : 6054 存储</a:t>
            </a:r>
            <a:r>
              <a:rPr lang="zh-CN" altLang="en-US" dirty="0" smtClean="0"/>
              <a:t>代理</a:t>
            </a:r>
            <a:endParaRPr lang="zh-CN" altLang="en-US" dirty="0"/>
          </a:p>
          <a:p>
            <a:r>
              <a:rPr lang="zh-CN" altLang="en-US" dirty="0"/>
              <a:t>WebServer : 3017 性能测试</a:t>
            </a:r>
            <a:r>
              <a:rPr lang="en-US" altLang="zh-CN" dirty="0"/>
              <a:t>http</a:t>
            </a:r>
            <a:r>
              <a:rPr lang="zh-CN" altLang="en-US" dirty="0">
                <a:ea typeface="宋体" panose="02010600030101010101" pitchFamily="2" charset="-122"/>
              </a:rPr>
              <a:t>服务</a:t>
            </a:r>
          </a:p>
          <a:p>
            <a:r>
              <a:rPr lang="zh-CN" altLang="en-US" dirty="0"/>
              <a:t>DbAgentServer : 1708 </a:t>
            </a:r>
            <a:r>
              <a:rPr lang="en-US" altLang="zh-CN" dirty="0" err="1"/>
              <a:t>mysql</a:t>
            </a:r>
            <a:r>
              <a:rPr lang="zh-CN" altLang="en-US" dirty="0" smtClean="0">
                <a:ea typeface="宋体" panose="02010600030101010101" pitchFamily="2" charset="-122"/>
              </a:rPr>
              <a:t>代理</a:t>
            </a:r>
            <a:endParaRPr lang="en-US" altLang="zh-CN" dirty="0" smtClean="0">
              <a:ea typeface="宋体" panose="02010600030101010101" pitchFamily="2" charset="-122"/>
            </a:endParaRPr>
          </a:p>
          <a:p>
            <a:endParaRPr lang="zh-CN" altLang="en-US" dirty="0">
              <a:ea typeface="宋体" panose="02010600030101010101" pitchFamily="2" charset="-122"/>
            </a:endParaRPr>
          </a:p>
          <a:p>
            <a:r>
              <a:rPr lang="zh-CN" altLang="en-US" dirty="0"/>
              <a:t>all line: </a:t>
            </a:r>
            <a:r>
              <a:rPr lang="en-US" altLang="zh-CN" dirty="0" smtClean="0"/>
              <a:t>271444</a:t>
            </a:r>
            <a:r>
              <a:rPr lang="zh-CN" altLang="en-US" dirty="0" smtClean="0"/>
              <a:t>所有代码（除第三方库外）</a:t>
            </a:r>
            <a:endParaRPr lang="zh-CN" altLang="en-US" dirty="0"/>
          </a:p>
        </p:txBody>
      </p:sp>
      <p:sp>
        <p:nvSpPr>
          <p:cNvPr id="6" name="文本框 5"/>
          <p:cNvSpPr txBox="1"/>
          <p:nvPr/>
        </p:nvSpPr>
        <p:spPr>
          <a:xfrm>
            <a:off x="4490720" y="1097280"/>
            <a:ext cx="3451860" cy="645160"/>
          </a:xfrm>
          <a:prstGeom prst="rect">
            <a:avLst/>
          </a:prstGeom>
          <a:noFill/>
        </p:spPr>
        <p:txBody>
          <a:bodyPr wrap="square" rtlCol="0">
            <a:spAutoFit/>
          </a:bodyPr>
          <a:lstStyle/>
          <a:p>
            <a:r>
              <a:rPr lang="zh-CN" altLang="en-US"/>
              <a:t>逻辑和框架代码行数：</a:t>
            </a:r>
          </a:p>
          <a:p>
            <a:r>
              <a:rPr lang="zh-CN" altLang="en-US"/>
              <a:t>158318</a:t>
            </a:r>
          </a:p>
        </p:txBody>
      </p:sp>
      <p:sp>
        <p:nvSpPr>
          <p:cNvPr id="7" name="文本框 6"/>
          <p:cNvSpPr txBox="1"/>
          <p:nvPr/>
        </p:nvSpPr>
        <p:spPr>
          <a:xfrm>
            <a:off x="4490720" y="1788795"/>
            <a:ext cx="3707130" cy="1476375"/>
          </a:xfrm>
          <a:prstGeom prst="rect">
            <a:avLst/>
          </a:prstGeom>
          <a:noFill/>
        </p:spPr>
        <p:txBody>
          <a:bodyPr wrap="square" rtlCol="0">
            <a:spAutoFit/>
          </a:bodyPr>
          <a:lstStyle/>
          <a:p>
            <a:r>
              <a:rPr lang="zh-CN" altLang="en-US"/>
              <a:t>逻辑代码行数：</a:t>
            </a:r>
          </a:p>
          <a:p>
            <a:r>
              <a:rPr lang="zh-CN" altLang="en-US"/>
              <a:t>97597</a:t>
            </a:r>
          </a:p>
          <a:p>
            <a:endParaRPr lang="zh-CN" altLang="en-US"/>
          </a:p>
          <a:p>
            <a:r>
              <a:rPr lang="zh-CN" altLang="en-US"/>
              <a:t>框架代码行数（</a:t>
            </a:r>
            <a:r>
              <a:rPr lang="zh-CN" altLang="en-US">
                <a:sym typeface="+mn-ea"/>
              </a:rPr>
              <a:t>loss </a:t>
            </a:r>
            <a:r>
              <a:rPr lang="en-US" altLang="zh-CN">
                <a:sym typeface="+mn-ea"/>
              </a:rPr>
              <a:t>+</a:t>
            </a:r>
            <a:r>
              <a:rPr lang="zh-CN" altLang="en-US">
                <a:sym typeface="+mn-ea"/>
              </a:rPr>
              <a:t>Starship </a:t>
            </a:r>
            <a:r>
              <a:rPr lang="zh-CN" altLang="en-US"/>
              <a:t>）：</a:t>
            </a:r>
          </a:p>
          <a:p>
            <a:r>
              <a:rPr lang="zh-CN" altLang="en-US"/>
              <a:t>60721</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页脚占位符 3"/>
          <p:cNvSpPr>
            <a:spLocks noGrp="1"/>
          </p:cNvSpPr>
          <p:nvPr>
            <p:ph type="ftr" sz="quarter" idx="11"/>
          </p:nvPr>
        </p:nvSpPr>
        <p:spPr/>
        <p:txBody>
          <a:bodyPr/>
          <a:lstStyle/>
          <a:p>
            <a:pPr>
              <a:defRPr/>
            </a:pPr>
            <a:r>
              <a:rPr lang="en-US" altLang="zh-CN" dirty="0" smtClean="0"/>
              <a:t> </a:t>
            </a:r>
            <a:endParaRPr lang="en-US" altLang="zh-CN" dirty="0"/>
          </a:p>
        </p:txBody>
      </p:sp>
      <p:sp>
        <p:nvSpPr>
          <p:cNvPr id="20484" name="Rectangle 23"/>
          <p:cNvSpPr>
            <a:spLocks noGrp="1" noChangeArrowheads="1"/>
          </p:cNvSpPr>
          <p:nvPr>
            <p:ph type="title"/>
          </p:nvPr>
        </p:nvSpPr>
        <p:spPr/>
        <p:txBody>
          <a:bodyPr/>
          <a:lstStyle/>
          <a:p>
            <a:pPr eaLnBrk="1" hangingPunct="1"/>
            <a:r>
              <a:rPr lang="zh-CN" altLang="en-US" sz="2800" dirty="0">
                <a:solidFill>
                  <a:srgbClr val="000000"/>
                </a:solidFill>
                <a:ea typeface="宋体" panose="02010600030101010101" pitchFamily="2" charset="-122"/>
                <a:sym typeface="+mn-ea"/>
              </a:rPr>
              <a:t>后台框架设计</a:t>
            </a:r>
            <a:r>
              <a:rPr lang="en-US" altLang="zh-CN" sz="2800" dirty="0">
                <a:solidFill>
                  <a:srgbClr val="000000"/>
                </a:solidFill>
                <a:ea typeface="宋体" panose="02010600030101010101" pitchFamily="2" charset="-122"/>
                <a:sym typeface="+mn-ea"/>
              </a:rPr>
              <a:t>--</a:t>
            </a:r>
            <a:r>
              <a:rPr lang="zh-CN" altLang="en-US" sz="2800" dirty="0">
                <a:solidFill>
                  <a:srgbClr val="000000"/>
                </a:solidFill>
                <a:ea typeface="宋体" panose="02010600030101010101" pitchFamily="2" charset="-122"/>
                <a:sym typeface="+mn-ea"/>
              </a:rPr>
              <a:t>登录流程</a:t>
            </a:r>
            <a:endParaRPr lang="zh-CN" altLang="en-US" sz="2800" dirty="0" smtClean="0">
              <a:solidFill>
                <a:srgbClr val="000000"/>
              </a:solidFill>
              <a:ea typeface="宋体" panose="02010600030101010101" pitchFamily="2" charset="-122"/>
              <a:sym typeface="+mn-ea"/>
            </a:endParaRPr>
          </a:p>
        </p:txBody>
      </p:sp>
      <p:sp>
        <p:nvSpPr>
          <p:cNvPr id="3" name="文本框 2"/>
          <p:cNvSpPr txBox="1"/>
          <p:nvPr/>
        </p:nvSpPr>
        <p:spPr>
          <a:xfrm>
            <a:off x="332740" y="3233420"/>
            <a:ext cx="8582660" cy="3415030"/>
          </a:xfrm>
          <a:prstGeom prst="rect">
            <a:avLst/>
          </a:prstGeom>
          <a:noFill/>
        </p:spPr>
        <p:txBody>
          <a:bodyPr wrap="square" rtlCol="0">
            <a:spAutoFit/>
          </a:bodyPr>
          <a:lstStyle/>
          <a:p>
            <a:r>
              <a:rPr lang="zh-CN" altLang="en-US" dirty="0"/>
              <a:t>流程如下：</a:t>
            </a:r>
          </a:p>
          <a:p>
            <a:r>
              <a:rPr lang="zh-CN" altLang="en-US" dirty="0"/>
              <a:t>（1）AppClient（或</a:t>
            </a:r>
            <a:r>
              <a:rPr lang="en-US" altLang="zh-CN" dirty="0"/>
              <a:t>WebClient</a:t>
            </a:r>
            <a:r>
              <a:rPr lang="zh-CN" altLang="en-US" dirty="0"/>
              <a:t>）请求预登陆登录服务器LoginServer,LoginServer检查用户账号信息并返回允许登录的网关节点GateServer信息(ip和端口)和用户信息。</a:t>
            </a:r>
          </a:p>
          <a:p>
            <a:r>
              <a:rPr lang="zh-CN" altLang="en-US" dirty="0"/>
              <a:t>（2）请求预登陆时，需要发送账号和密码，LoginServer访问DataProxy后验证其用户名密码。若是游客、企业用户类型，如果没有该账号则创建新用户，如果有账号和密码则直接登录。</a:t>
            </a:r>
          </a:p>
          <a:p>
            <a:r>
              <a:rPr lang="zh-CN" altLang="en-US" dirty="0"/>
              <a:t>（3）登录GateServer时，AppClient发送到GateServer的握手协议含用户id和登录</a:t>
            </a:r>
            <a:r>
              <a:rPr lang="en-US" altLang="zh-CN" dirty="0"/>
              <a:t>token</a:t>
            </a:r>
            <a:r>
              <a:rPr lang="zh-CN" altLang="en-US" dirty="0"/>
              <a:t>。GateServer转发登录消息到LogicServer，LogicServer会检查</a:t>
            </a:r>
            <a:r>
              <a:rPr lang="zh-CN" altLang="en-US" dirty="0">
                <a:sym typeface="+mn-ea"/>
              </a:rPr>
              <a:t>用户id和登录</a:t>
            </a:r>
            <a:r>
              <a:rPr lang="en-US" altLang="zh-CN" dirty="0">
                <a:sym typeface="+mn-ea"/>
              </a:rPr>
              <a:t>token</a:t>
            </a:r>
            <a:r>
              <a:rPr lang="zh-CN" altLang="en-US" dirty="0"/>
              <a:t>。</a:t>
            </a:r>
          </a:p>
          <a:p>
            <a:r>
              <a:rPr lang="zh-CN" altLang="en-US" dirty="0"/>
              <a:t>（</a:t>
            </a:r>
            <a:r>
              <a:rPr lang="en-US" altLang="zh-CN" dirty="0"/>
              <a:t>4</a:t>
            </a:r>
            <a:r>
              <a:rPr lang="zh-CN" altLang="en-US" dirty="0"/>
              <a:t>）支持不同</a:t>
            </a:r>
            <a:r>
              <a:rPr lang="en-US" altLang="zh-CN" dirty="0"/>
              <a:t>APP</a:t>
            </a:r>
            <a:r>
              <a:rPr lang="zh-CN" altLang="en-US" dirty="0">
                <a:ea typeface="宋体" panose="02010600030101010101" pitchFamily="2" charset="-122"/>
              </a:rPr>
              <a:t>接入，每个</a:t>
            </a:r>
            <a:r>
              <a:rPr lang="en-US" altLang="zh-CN" dirty="0">
                <a:ea typeface="宋体" panose="02010600030101010101" pitchFamily="2" charset="-122"/>
              </a:rPr>
              <a:t>app</a:t>
            </a:r>
            <a:r>
              <a:rPr lang="zh-CN" altLang="en-US" dirty="0">
                <a:ea typeface="宋体" panose="02010600030101010101" pitchFamily="2" charset="-122"/>
              </a:rPr>
              <a:t>的客服应用对应一个网址和一个</a:t>
            </a:r>
            <a:r>
              <a:rPr lang="en-US" altLang="zh-CN" dirty="0">
                <a:ea typeface="宋体" panose="02010600030101010101" pitchFamily="2" charset="-122"/>
              </a:rPr>
              <a:t>appid</a:t>
            </a:r>
            <a:r>
              <a:rPr lang="zh-CN" altLang="en-US" dirty="0">
                <a:ea typeface="宋体" panose="02010600030101010101" pitchFamily="2" charset="-122"/>
              </a:rPr>
              <a:t>，预登陆请求时附带网址字段，如http://niwojinrong.niwokf.com。</a:t>
            </a:r>
          </a:p>
          <a:p>
            <a:endParaRPr lang="zh-CN" altLang="en-US" dirty="0"/>
          </a:p>
        </p:txBody>
      </p:sp>
      <p:graphicFrame>
        <p:nvGraphicFramePr>
          <p:cNvPr id="4" name="对象 3"/>
          <p:cNvGraphicFramePr>
            <a:graphicFrameLocks/>
          </p:cNvGraphicFramePr>
          <p:nvPr/>
        </p:nvGraphicFramePr>
        <p:xfrm>
          <a:off x="4183380" y="688975"/>
          <a:ext cx="4641850" cy="2868930"/>
        </p:xfrm>
        <a:graphic>
          <a:graphicData uri="http://schemas.openxmlformats.org/presentationml/2006/ole">
            <p:oleObj spid="_x0000_s41985" r:id="rId3" imgW="6097981" imgH="4013280" progId="">
              <p:embed/>
            </p:oleObj>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页脚占位符 3"/>
          <p:cNvSpPr>
            <a:spLocks noGrp="1"/>
          </p:cNvSpPr>
          <p:nvPr>
            <p:ph type="ftr" sz="quarter" idx="11"/>
          </p:nvPr>
        </p:nvSpPr>
        <p:spPr/>
        <p:txBody>
          <a:bodyPr/>
          <a:lstStyle/>
          <a:p>
            <a:pPr>
              <a:defRPr/>
            </a:pPr>
            <a:r>
              <a:rPr lang="en-US" altLang="zh-CN"/>
              <a:t>Company Logo</a:t>
            </a:r>
          </a:p>
        </p:txBody>
      </p:sp>
      <p:sp>
        <p:nvSpPr>
          <p:cNvPr id="20484" name="Rectangle 23"/>
          <p:cNvSpPr>
            <a:spLocks noGrp="1" noChangeArrowheads="1"/>
          </p:cNvSpPr>
          <p:nvPr>
            <p:ph type="title"/>
          </p:nvPr>
        </p:nvSpPr>
        <p:spPr/>
        <p:txBody>
          <a:bodyPr/>
          <a:lstStyle/>
          <a:p>
            <a:pPr eaLnBrk="1" hangingPunct="1"/>
            <a:r>
              <a:rPr lang="zh-CN" altLang="en-US" sz="2800">
                <a:solidFill>
                  <a:srgbClr val="000000"/>
                </a:solidFill>
                <a:ea typeface="宋体" panose="02010600030101010101" pitchFamily="2" charset="-122"/>
                <a:sym typeface="+mn-ea"/>
              </a:rPr>
              <a:t>后台框架设计</a:t>
            </a:r>
            <a:r>
              <a:rPr lang="en-US" altLang="zh-CN" sz="2800">
                <a:solidFill>
                  <a:srgbClr val="000000"/>
                </a:solidFill>
                <a:ea typeface="宋体" panose="02010600030101010101" pitchFamily="2" charset="-122"/>
                <a:sym typeface="+mn-ea"/>
              </a:rPr>
              <a:t>--</a:t>
            </a:r>
            <a:r>
              <a:rPr lang="zh-CN" altLang="zh-CN" sz="2800">
                <a:solidFill>
                  <a:srgbClr val="000000"/>
                </a:solidFill>
                <a:ea typeface="宋体" panose="02010600030101010101" pitchFamily="2" charset="-122"/>
                <a:sym typeface="+mn-ea"/>
              </a:rPr>
              <a:t>网关防外挂</a:t>
            </a:r>
            <a:endParaRPr lang="zh-CN" altLang="zh-CN" sz="2800" smtClean="0">
              <a:solidFill>
                <a:srgbClr val="000000"/>
              </a:solidFill>
              <a:ea typeface="宋体" panose="02010600030101010101" pitchFamily="2" charset="-122"/>
              <a:sym typeface="+mn-ea"/>
            </a:endParaRPr>
          </a:p>
        </p:txBody>
      </p:sp>
      <p:sp>
        <p:nvSpPr>
          <p:cNvPr id="3" name="文本框 2"/>
          <p:cNvSpPr txBox="1"/>
          <p:nvPr/>
        </p:nvSpPr>
        <p:spPr>
          <a:xfrm>
            <a:off x="457200" y="1305560"/>
            <a:ext cx="8582660" cy="5077460"/>
          </a:xfrm>
          <a:prstGeom prst="rect">
            <a:avLst/>
          </a:prstGeom>
          <a:noFill/>
        </p:spPr>
        <p:txBody>
          <a:bodyPr wrap="square" rtlCol="0">
            <a:spAutoFit/>
          </a:bodyPr>
          <a:lstStyle/>
          <a:p>
            <a:r>
              <a:rPr lang="zh-CN" altLang="en-US">
                <a:ea typeface="宋体" panose="02010600030101010101" pitchFamily="2" charset="-122"/>
              </a:rPr>
              <a:t>网关可提供冗余校验功能：</a:t>
            </a:r>
          </a:p>
          <a:p>
            <a:r>
              <a:rPr lang="zh-CN" altLang="en-US">
                <a:ea typeface="宋体" panose="02010600030101010101" pitchFamily="2" charset="-122"/>
              </a:rPr>
              <a:t>const oss::uint8*pBuffer=(const oss::uint8*)msgBody.c_str();//从消息体开始验证</a:t>
            </a:r>
          </a:p>
          <a:p>
            <a:r>
              <a:rPr lang="zh-CN" altLang="en-US">
                <a:ea typeface="宋体" panose="02010600030101010101" pitchFamily="2" charset="-122"/>
              </a:rPr>
              <a:t>oss::uint32 dwMsgBodySize= msgBody.length();//消息体长度</a:t>
            </a:r>
          </a:p>
          <a:p>
            <a:r>
              <a:rPr lang="zh-CN" altLang="en-US">
                <a:ea typeface="宋体" panose="02010600030101010101" pitchFamily="2" charset="-122"/>
              </a:rPr>
              <a:t>oss::uint32 ret = 0xBC;//特殊的key</a:t>
            </a:r>
          </a:p>
          <a:p>
            <a:r>
              <a:rPr lang="zh-CN" altLang="en-US">
                <a:ea typeface="宋体" panose="02010600030101010101" pitchFamily="2" charset="-122"/>
              </a:rPr>
              <a:t>const oss::uint8 *pb = (const oss::uint8*)pBuffer;</a:t>
            </a:r>
          </a:p>
          <a:p>
            <a:r>
              <a:rPr lang="zh-CN" altLang="en-US">
                <a:ea typeface="宋体" panose="02010600030101010101" pitchFamily="2" charset="-122"/>
              </a:rPr>
              <a:t>while (dwMsgBodySize &gt; 0)</a:t>
            </a:r>
          </a:p>
          <a:p>
            <a:r>
              <a:rPr lang="zh-CN" altLang="en-US">
                <a:ea typeface="宋体" panose="02010600030101010101" pitchFamily="2" charset="-122"/>
              </a:rPr>
              <a:t>{</a:t>
            </a:r>
          </a:p>
          <a:p>
            <a:r>
              <a:rPr lang="zh-CN" altLang="en-US">
                <a:ea typeface="宋体" panose="02010600030101010101" pitchFamily="2" charset="-122"/>
              </a:rPr>
              <a:t>	ret ^= *pb;</a:t>
            </a:r>
          </a:p>
          <a:p>
            <a:r>
              <a:rPr lang="zh-CN" altLang="en-US">
                <a:ea typeface="宋体" panose="02010600030101010101" pitchFamily="2" charset="-122"/>
              </a:rPr>
              <a:t>	dwMsgBodySize--;</a:t>
            </a:r>
          </a:p>
          <a:p>
            <a:r>
              <a:rPr lang="zh-CN" altLang="en-US">
                <a:ea typeface="宋体" panose="02010600030101010101" pitchFamily="2" charset="-122"/>
              </a:rPr>
              <a:t>	pb++;</a:t>
            </a:r>
          </a:p>
          <a:p>
            <a:r>
              <a:rPr lang="zh-CN" altLang="en-US">
                <a:ea typeface="宋体" panose="02010600030101010101" pitchFamily="2" charset="-122"/>
              </a:rPr>
              <a:t>}</a:t>
            </a:r>
          </a:p>
          <a:p>
            <a:r>
              <a:rPr lang="zh-CN" altLang="en-US">
                <a:ea typeface="宋体" panose="02010600030101010101" pitchFamily="2" charset="-122"/>
              </a:rPr>
              <a:t>uint64 loginToken = basicinfo.login_token();//用户在线状态的登录token，动态</a:t>
            </a:r>
            <a:r>
              <a:rPr lang="en-US" altLang="zh-CN">
                <a:ea typeface="宋体" panose="02010600030101010101" pitchFamily="2" charset="-122"/>
              </a:rPr>
              <a:t>key</a:t>
            </a:r>
          </a:p>
          <a:p>
            <a:r>
              <a:rPr lang="zh-CN" altLang="en-US">
                <a:ea typeface="宋体" panose="02010600030101010101" pitchFamily="2" charset="-122"/>
              </a:rPr>
              <a:t>//计算校验码</a:t>
            </a:r>
          </a:p>
          <a:p>
            <a:r>
              <a:rPr lang="zh-CN" altLang="en-US">
                <a:ea typeface="宋体" panose="02010600030101010101" pitchFamily="2" charset="-122"/>
              </a:rPr>
              <a:t>ret^=(oss::uint32)(loginToken &amp; 0xFFFFFFFF);//登录时分配的登录token作为校验的key</a:t>
            </a:r>
          </a:p>
          <a:p>
            <a:r>
              <a:rPr lang="zh-CN" altLang="en-US">
                <a:ea typeface="宋体" panose="02010600030101010101" pitchFamily="2" charset="-122"/>
              </a:rPr>
              <a:t>计算出来</a:t>
            </a:r>
            <a:r>
              <a:rPr lang="zh-CN" altLang="en-US">
                <a:ea typeface="宋体" panose="02010600030101010101" pitchFamily="2" charset="-122"/>
                <a:sym typeface="+mn-ea"/>
              </a:rPr>
              <a:t>ret与消息头的冗余字段checksum需相同。</a:t>
            </a:r>
          </a:p>
          <a:p>
            <a:r>
              <a:rPr lang="zh-CN" altLang="en-US">
                <a:ea typeface="宋体" panose="02010600030101010101" pitchFamily="2" charset="-122"/>
                <a:sym typeface="+mn-ea"/>
              </a:rPr>
              <a:t>以后可外加消息头的序列哈seq递增校验。</a:t>
            </a:r>
          </a:p>
          <a:p>
            <a:r>
              <a:rPr lang="zh-CN" altLang="en-US">
                <a:ea typeface="宋体" panose="02010600030101010101" pitchFamily="2" charset="-122"/>
                <a:sym typeface="+mn-ea"/>
              </a:rPr>
              <a:t>本功能需要客户端支持，目前没有开放校验。</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页脚占位符 3"/>
          <p:cNvSpPr>
            <a:spLocks noGrp="1"/>
          </p:cNvSpPr>
          <p:nvPr>
            <p:ph type="ftr" sz="quarter" idx="11"/>
          </p:nvPr>
        </p:nvSpPr>
        <p:spPr/>
        <p:txBody>
          <a:bodyPr/>
          <a:lstStyle/>
          <a:p>
            <a:pPr>
              <a:defRPr/>
            </a:pPr>
            <a:r>
              <a:rPr lang="en-US" altLang="zh-CN"/>
              <a:t>Company Logo</a:t>
            </a:r>
          </a:p>
        </p:txBody>
      </p:sp>
      <p:sp>
        <p:nvSpPr>
          <p:cNvPr id="21507" name="Rectangle 2"/>
          <p:cNvSpPr>
            <a:spLocks noGrp="1" noChangeArrowheads="1"/>
          </p:cNvSpPr>
          <p:nvPr>
            <p:ph type="title"/>
          </p:nvPr>
        </p:nvSpPr>
        <p:spPr/>
        <p:txBody>
          <a:bodyPr/>
          <a:lstStyle/>
          <a:p>
            <a:pPr eaLnBrk="1" hangingPunct="1"/>
            <a:r>
              <a:rPr lang="zh-CN" altLang="en-US">
                <a:solidFill>
                  <a:srgbClr val="000000"/>
                </a:solidFill>
                <a:ea typeface="宋体" panose="02010600030101010101" pitchFamily="2" charset="-122"/>
                <a:sym typeface="+mn-ea"/>
              </a:rPr>
              <a:t>技术关键点</a:t>
            </a:r>
            <a:r>
              <a:rPr lang="en-US" altLang="zh-CN">
                <a:solidFill>
                  <a:srgbClr val="000000"/>
                </a:solidFill>
                <a:ea typeface="宋体" panose="02010600030101010101" pitchFamily="2" charset="-122"/>
                <a:sym typeface="+mn-ea"/>
              </a:rPr>
              <a:t>--</a:t>
            </a:r>
            <a:r>
              <a:rPr lang="zh-CN" altLang="en-US">
                <a:solidFill>
                  <a:srgbClr val="000000"/>
                </a:solidFill>
                <a:ea typeface="宋体" panose="02010600030101010101" pitchFamily="2" charset="-122"/>
                <a:sym typeface="+mn-ea"/>
              </a:rPr>
              <a:t>中文搜索</a:t>
            </a:r>
            <a:endParaRPr lang="zh-CN" altLang="en-US" smtClean="0">
              <a:solidFill>
                <a:srgbClr val="000000"/>
              </a:solidFill>
              <a:ea typeface="宋体" panose="02010600030101010101" pitchFamily="2" charset="-122"/>
              <a:sym typeface="+mn-ea"/>
            </a:endParaRPr>
          </a:p>
        </p:txBody>
      </p:sp>
      <p:sp>
        <p:nvSpPr>
          <p:cNvPr id="2" name="文本框 1"/>
          <p:cNvSpPr txBox="1"/>
          <p:nvPr/>
        </p:nvSpPr>
        <p:spPr>
          <a:xfrm>
            <a:off x="76835" y="1240790"/>
            <a:ext cx="8838565" cy="5908040"/>
          </a:xfrm>
          <a:prstGeom prst="rect">
            <a:avLst/>
          </a:prstGeom>
          <a:noFill/>
        </p:spPr>
        <p:txBody>
          <a:bodyPr wrap="square" rtlCol="0">
            <a:spAutoFit/>
          </a:bodyPr>
          <a:lstStyle/>
          <a:p>
            <a:r>
              <a:rPr lang="zh-CN" altLang="en-US"/>
              <a:t>分词算法</a:t>
            </a:r>
          </a:p>
          <a:p>
            <a:r>
              <a:rPr lang="zh-CN" altLang="en-US"/>
              <a:t>基于TRIE索引树（字典树）的逐字匹配算法,是建立在树型词典机制上，</a:t>
            </a:r>
          </a:p>
          <a:p>
            <a:r>
              <a:rPr lang="zh-CN" altLang="en-US"/>
              <a:t>匹配的过程是从索引树的根结点依次同步匹配待查词中的每个字，可以看成是对树 某一分枝的遍历。查询复杂度只跟请求问题长度有关，查找字符串的时间复杂度为O(1)。</a:t>
            </a:r>
            <a:r>
              <a:rPr lang="zh-CN" altLang="en-US">
                <a:sym typeface="+mn-ea"/>
              </a:rPr>
              <a:t>为简化处理和优化性能，每查询出关键字后，从关键字的最后字节之后开始查询下一个关键字。</a:t>
            </a:r>
          </a:p>
          <a:p>
            <a:endParaRPr lang="zh-CN" altLang="en-US"/>
          </a:p>
          <a:p>
            <a:r>
              <a:rPr lang="zh-CN" altLang="en-US"/>
              <a:t>索引问题（分词</a:t>
            </a:r>
            <a:r>
              <a:rPr lang="en-US" altLang="zh-CN">
                <a:sym typeface="+mn-ea"/>
              </a:rPr>
              <a:t>:</a:t>
            </a:r>
            <a:r>
              <a:rPr lang="zh-CN" altLang="zh-CN">
                <a:ea typeface="宋体" panose="02010600030101010101" pitchFamily="2" charset="-122"/>
              </a:rPr>
              <a:t>问题    </a:t>
            </a:r>
            <a:r>
              <a:rPr lang="en-US" altLang="zh-CN">
                <a:sym typeface="+mn-ea"/>
              </a:rPr>
              <a:t>1 : </a:t>
            </a:r>
            <a:r>
              <a:rPr lang="en-US" altLang="zh-CN">
                <a:ea typeface="宋体" panose="02010600030101010101" pitchFamily="2" charset="-122"/>
              </a:rPr>
              <a:t>n</a:t>
            </a:r>
            <a:r>
              <a:rPr lang="zh-CN" altLang="en-US"/>
              <a:t>）</a:t>
            </a:r>
          </a:p>
          <a:p>
            <a:r>
              <a:rPr lang="zh-CN" altLang="en-US"/>
              <a:t>每个问题搜索出所有的分词，把所有的分词进行哈希并保存到map表，map表的键为分词的哈希值，哈希表的值为文档的内容，每个分词对应多个文档。</a:t>
            </a:r>
          </a:p>
          <a:p>
            <a:endParaRPr lang="zh-CN" altLang="en-US"/>
          </a:p>
          <a:p>
            <a:r>
              <a:rPr lang="zh-CN" altLang="en-US"/>
              <a:t>内存加载</a:t>
            </a:r>
          </a:p>
          <a:p>
            <a:r>
              <a:rPr lang="zh-CN" altLang="en-US"/>
              <a:t>在程序启动加载所有的分词和引擎问题的文档内容（包括问题和答案</a:t>
            </a:r>
            <a:r>
              <a:rPr lang="en-US" altLang="zh-CN"/>
              <a:t>,</a:t>
            </a:r>
            <a:r>
              <a:rPr lang="zh-CN" altLang="en-US"/>
              <a:t>问题和其内容保存在redis和mysql）。</a:t>
            </a:r>
          </a:p>
          <a:p>
            <a:endParaRPr lang="zh-CN" altLang="en-US"/>
          </a:p>
          <a:p>
            <a:r>
              <a:rPr lang="zh-CN" altLang="en-US">
                <a:sym typeface="+mn-ea"/>
              </a:rPr>
              <a:t>增量问题</a:t>
            </a:r>
            <a:endParaRPr lang="zh-CN" altLang="en-US"/>
          </a:p>
          <a:p>
            <a:r>
              <a:rPr lang="zh-CN" altLang="en-US">
                <a:sym typeface="+mn-ea"/>
              </a:rPr>
              <a:t>修改知识库问题时，会增量发送到搜索引擎，并在下一个定时器触发时重建索引。每隔较长一段时间也会重新全量获取引擎问题的文档内容，并重建索引。</a:t>
            </a:r>
            <a:endParaRPr lang="zh-CN" altLang="en-US"/>
          </a:p>
          <a:p>
            <a:endParaRPr lang="zh-CN" altLang="en-US"/>
          </a:p>
          <a:p>
            <a:endParaRPr lang="zh-CN" altLang="en-US"/>
          </a:p>
          <a:p>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页脚占位符 3"/>
          <p:cNvSpPr>
            <a:spLocks noGrp="1"/>
          </p:cNvSpPr>
          <p:nvPr>
            <p:ph type="ftr" sz="quarter" idx="11"/>
          </p:nvPr>
        </p:nvSpPr>
        <p:spPr/>
        <p:txBody>
          <a:bodyPr/>
          <a:lstStyle/>
          <a:p>
            <a:pPr>
              <a:defRPr/>
            </a:pPr>
            <a:r>
              <a:rPr lang="en-US" altLang="zh-CN"/>
              <a:t>Company Logo</a:t>
            </a:r>
          </a:p>
        </p:txBody>
      </p:sp>
      <p:sp>
        <p:nvSpPr>
          <p:cNvPr id="21507" name="Rectangle 2"/>
          <p:cNvSpPr>
            <a:spLocks noGrp="1" noChangeArrowheads="1"/>
          </p:cNvSpPr>
          <p:nvPr>
            <p:ph type="title"/>
          </p:nvPr>
        </p:nvSpPr>
        <p:spPr/>
        <p:txBody>
          <a:bodyPr/>
          <a:lstStyle/>
          <a:p>
            <a:pPr eaLnBrk="1" hangingPunct="1"/>
            <a:r>
              <a:rPr lang="zh-CN" altLang="en-US">
                <a:solidFill>
                  <a:srgbClr val="000000"/>
                </a:solidFill>
                <a:ea typeface="宋体" panose="02010600030101010101" pitchFamily="2" charset="-122"/>
                <a:sym typeface="+mn-ea"/>
              </a:rPr>
              <a:t>技术关键点</a:t>
            </a:r>
            <a:r>
              <a:rPr lang="en-US" altLang="zh-CN">
                <a:solidFill>
                  <a:srgbClr val="000000"/>
                </a:solidFill>
                <a:ea typeface="宋体" panose="02010600030101010101" pitchFamily="2" charset="-122"/>
                <a:sym typeface="+mn-ea"/>
              </a:rPr>
              <a:t>--</a:t>
            </a:r>
            <a:r>
              <a:rPr lang="zh-CN" altLang="en-US">
                <a:solidFill>
                  <a:srgbClr val="000000"/>
                </a:solidFill>
                <a:ea typeface="宋体" panose="02010600030101010101" pitchFamily="2" charset="-122"/>
                <a:sym typeface="+mn-ea"/>
              </a:rPr>
              <a:t>中文搜索</a:t>
            </a:r>
            <a:endParaRPr lang="zh-CN" altLang="en-US" smtClean="0">
              <a:solidFill>
                <a:srgbClr val="000000"/>
              </a:solidFill>
              <a:ea typeface="宋体" panose="02010600030101010101" pitchFamily="2" charset="-122"/>
              <a:sym typeface="+mn-ea"/>
            </a:endParaRPr>
          </a:p>
        </p:txBody>
      </p:sp>
      <p:sp>
        <p:nvSpPr>
          <p:cNvPr id="5" name="文本框 4"/>
          <p:cNvSpPr txBox="1"/>
          <p:nvPr/>
        </p:nvSpPr>
        <p:spPr>
          <a:xfrm>
            <a:off x="306705" y="2787650"/>
            <a:ext cx="8329295" cy="1198880"/>
          </a:xfrm>
          <a:prstGeom prst="rect">
            <a:avLst/>
          </a:prstGeom>
          <a:noFill/>
        </p:spPr>
        <p:txBody>
          <a:bodyPr wrap="square" rtlCol="0" anchor="t">
            <a:spAutoFit/>
          </a:bodyPr>
          <a:lstStyle/>
          <a:p>
            <a:r>
              <a:rPr lang="zh-CN" altLang="en-US"/>
              <a:t>问题检索 最大匹配方案</a:t>
            </a:r>
          </a:p>
          <a:p>
            <a:r>
              <a:rPr lang="zh-CN" altLang="en-US"/>
              <a:t>每个请求的问题搜索出所有的分词，每个分词获取其对应的一个或者多个问题的文档，并把所有的结果进行合并，被匹配文档id最多的则选择为相关度最大的文档，并返回其对应的文档内容。</a:t>
            </a:r>
          </a:p>
        </p:txBody>
      </p:sp>
      <p:sp>
        <p:nvSpPr>
          <p:cNvPr id="6" name="文本框 5"/>
          <p:cNvSpPr txBox="1"/>
          <p:nvPr/>
        </p:nvSpPr>
        <p:spPr>
          <a:xfrm>
            <a:off x="397510" y="4094480"/>
            <a:ext cx="8321040" cy="1476375"/>
          </a:xfrm>
          <a:prstGeom prst="rect">
            <a:avLst/>
          </a:prstGeom>
          <a:noFill/>
        </p:spPr>
        <p:txBody>
          <a:bodyPr wrap="square" rtlCol="0" anchor="t">
            <a:spAutoFit/>
          </a:bodyPr>
          <a:lstStyle/>
          <a:p>
            <a:r>
              <a:rPr lang="zh-CN" altLang="en-US"/>
              <a:t>问题检索 编辑距离方案</a:t>
            </a:r>
          </a:p>
          <a:p>
            <a:r>
              <a:rPr lang="zh-CN" altLang="en-US">
                <a:sym typeface="+mn-ea"/>
              </a:rPr>
              <a:t>对于被匹配分词个数相同的文档，比较其引擎问题与请求问题的编辑距离，距离较近的优先级越高。</a:t>
            </a:r>
          </a:p>
          <a:p>
            <a:r>
              <a:rPr lang="zh-CN" altLang="en-US">
                <a:sym typeface="+mn-ea"/>
              </a:rPr>
              <a:t>编辑距离，指两个字串之间，由一个转成另一个所需的最少编辑操作次数，使用动态规划公式实现。</a:t>
            </a:r>
            <a:endParaRPr lang="zh-CN" altLang="en-US"/>
          </a:p>
        </p:txBody>
      </p:sp>
      <p:sp>
        <p:nvSpPr>
          <p:cNvPr id="7" name="文本框 6"/>
          <p:cNvSpPr txBox="1"/>
          <p:nvPr/>
        </p:nvSpPr>
        <p:spPr>
          <a:xfrm>
            <a:off x="245110" y="1244600"/>
            <a:ext cx="8395335" cy="1476375"/>
          </a:xfrm>
          <a:prstGeom prst="rect">
            <a:avLst/>
          </a:prstGeom>
          <a:noFill/>
        </p:spPr>
        <p:txBody>
          <a:bodyPr wrap="square" rtlCol="0" anchor="t">
            <a:spAutoFit/>
          </a:bodyPr>
          <a:lstStyle/>
          <a:p>
            <a:r>
              <a:rPr lang="zh-CN" altLang="en-US" dirty="0">
                <a:sym typeface="+mn-ea"/>
              </a:rPr>
              <a:t>全量问题</a:t>
            </a:r>
            <a:endParaRPr lang="zh-CN" altLang="en-US" dirty="0"/>
          </a:p>
          <a:p>
            <a:r>
              <a:rPr lang="zh-CN" altLang="en-US" dirty="0">
                <a:sym typeface="+mn-ea"/>
              </a:rPr>
              <a:t>定期检查文档是否需要重建，记录最近重建分词map表时间。</a:t>
            </a:r>
            <a:endParaRPr lang="zh-CN" altLang="en-US" dirty="0"/>
          </a:p>
          <a:p>
            <a:endParaRPr lang="zh-CN" altLang="en-US" dirty="0"/>
          </a:p>
          <a:p>
            <a:r>
              <a:rPr lang="zh-CN" altLang="en-US" dirty="0"/>
              <a:t>词库停用词</a:t>
            </a:r>
          </a:p>
          <a:p>
            <a:r>
              <a:rPr lang="zh-CN" altLang="en-US" dirty="0"/>
              <a:t>属于停用词的单词，不会被加载到单词索引树。</a:t>
            </a:r>
          </a:p>
        </p:txBody>
      </p:sp>
      <p:sp>
        <p:nvSpPr>
          <p:cNvPr id="8" name="文本框 7"/>
          <p:cNvSpPr txBox="1"/>
          <p:nvPr/>
        </p:nvSpPr>
        <p:spPr>
          <a:xfrm>
            <a:off x="397510" y="5606415"/>
            <a:ext cx="8253095" cy="645160"/>
          </a:xfrm>
          <a:prstGeom prst="rect">
            <a:avLst/>
          </a:prstGeom>
          <a:noFill/>
        </p:spPr>
        <p:txBody>
          <a:bodyPr wrap="square" rtlCol="0" anchor="t">
            <a:spAutoFit/>
          </a:bodyPr>
          <a:lstStyle/>
          <a:p>
            <a:r>
              <a:rPr lang="zh-CN" altLang="en-US"/>
              <a:t>词频计数</a:t>
            </a:r>
          </a:p>
          <a:p>
            <a:r>
              <a:rPr lang="zh-CN" altLang="en-US"/>
              <a:t>问题若被匹配到相同的关键词也作为不同分词计算。</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页脚占位符 3"/>
          <p:cNvSpPr>
            <a:spLocks noGrp="1"/>
          </p:cNvSpPr>
          <p:nvPr>
            <p:ph type="ftr" sz="quarter" idx="11"/>
          </p:nvPr>
        </p:nvSpPr>
        <p:spPr/>
        <p:txBody>
          <a:bodyPr/>
          <a:lstStyle/>
          <a:p>
            <a:pPr>
              <a:defRPr/>
            </a:pPr>
            <a:r>
              <a:rPr lang="en-US" altLang="zh-CN"/>
              <a:t>Company Logo</a:t>
            </a:r>
          </a:p>
        </p:txBody>
      </p:sp>
      <p:sp>
        <p:nvSpPr>
          <p:cNvPr id="21507" name="Rectangle 2"/>
          <p:cNvSpPr>
            <a:spLocks noGrp="1" noChangeArrowheads="1"/>
          </p:cNvSpPr>
          <p:nvPr>
            <p:ph type="title"/>
          </p:nvPr>
        </p:nvSpPr>
        <p:spPr/>
        <p:txBody>
          <a:bodyPr/>
          <a:lstStyle/>
          <a:p>
            <a:pPr eaLnBrk="1" hangingPunct="1"/>
            <a:r>
              <a:rPr lang="zh-CN" altLang="en-US">
                <a:solidFill>
                  <a:srgbClr val="000000"/>
                </a:solidFill>
                <a:ea typeface="宋体" panose="02010600030101010101" pitchFamily="2" charset="-122"/>
                <a:sym typeface="+mn-ea"/>
              </a:rPr>
              <a:t>技术关键点</a:t>
            </a:r>
            <a:r>
              <a:rPr lang="en-US" altLang="zh-CN">
                <a:solidFill>
                  <a:srgbClr val="000000"/>
                </a:solidFill>
                <a:ea typeface="宋体" panose="02010600030101010101" pitchFamily="2" charset="-122"/>
                <a:sym typeface="+mn-ea"/>
              </a:rPr>
              <a:t>--</a:t>
            </a:r>
            <a:r>
              <a:rPr lang="zh-CN" altLang="en-US">
                <a:solidFill>
                  <a:srgbClr val="000000"/>
                </a:solidFill>
                <a:ea typeface="宋体" panose="02010600030101010101" pitchFamily="2" charset="-122"/>
                <a:sym typeface="+mn-ea"/>
              </a:rPr>
              <a:t>中文搜索</a:t>
            </a:r>
            <a:endParaRPr lang="zh-CN" altLang="en-US" smtClean="0">
              <a:solidFill>
                <a:srgbClr val="000000"/>
              </a:solidFill>
              <a:ea typeface="宋体" panose="02010600030101010101" pitchFamily="2" charset="-122"/>
              <a:sym typeface="+mn-ea"/>
            </a:endParaRPr>
          </a:p>
        </p:txBody>
      </p:sp>
      <p:sp>
        <p:nvSpPr>
          <p:cNvPr id="4" name="文本框 3"/>
          <p:cNvSpPr txBox="1"/>
          <p:nvPr/>
        </p:nvSpPr>
        <p:spPr>
          <a:xfrm>
            <a:off x="457200" y="1414145"/>
            <a:ext cx="7310755" cy="922020"/>
          </a:xfrm>
          <a:prstGeom prst="rect">
            <a:avLst/>
          </a:prstGeom>
          <a:noFill/>
        </p:spPr>
        <p:txBody>
          <a:bodyPr wrap="square" rtlCol="0">
            <a:spAutoFit/>
          </a:bodyPr>
          <a:lstStyle/>
          <a:p>
            <a:r>
              <a:rPr lang="zh-CN" altLang="en-US"/>
              <a:t>词库来源于搜狗词库</a:t>
            </a:r>
          </a:p>
          <a:p>
            <a:r>
              <a:rPr lang="zh-CN" altLang="en-US"/>
              <a:t>在程序启动时，加载所有的词库到单词索引树，会消耗一定的内存建立常驻内存的单词索引树。</a:t>
            </a:r>
          </a:p>
        </p:txBody>
      </p:sp>
      <p:sp>
        <p:nvSpPr>
          <p:cNvPr id="5" name="文本框 4"/>
          <p:cNvSpPr txBox="1"/>
          <p:nvPr/>
        </p:nvSpPr>
        <p:spPr>
          <a:xfrm>
            <a:off x="511810" y="2765425"/>
            <a:ext cx="7372985" cy="2030095"/>
          </a:xfrm>
          <a:prstGeom prst="rect">
            <a:avLst/>
          </a:prstGeom>
          <a:noFill/>
        </p:spPr>
        <p:txBody>
          <a:bodyPr wrap="square" rtlCol="0">
            <a:spAutoFit/>
          </a:bodyPr>
          <a:lstStyle/>
          <a:p>
            <a:r>
              <a:rPr lang="zh-CN" altLang="en-US"/>
              <a:t>加载</a:t>
            </a:r>
            <a:r>
              <a:rPr lang="en-US" altLang="zh-CN"/>
              <a:t>62w</a:t>
            </a:r>
            <a:r>
              <a:rPr lang="zh-CN" altLang="en-US">
                <a:ea typeface="宋体" panose="02010600030101010101" pitchFamily="2" charset="-122"/>
              </a:rPr>
              <a:t>中文词、</a:t>
            </a:r>
            <a:r>
              <a:rPr lang="en-US" altLang="zh-CN">
                <a:ea typeface="宋体" panose="02010600030101010101" pitchFamily="2" charset="-122"/>
              </a:rPr>
              <a:t>50</a:t>
            </a:r>
            <a:r>
              <a:rPr lang="zh-CN" altLang="en-US">
                <a:ea typeface="宋体" panose="02010600030101010101" pitchFamily="2" charset="-122"/>
              </a:rPr>
              <a:t>机器人问题，使用内存</a:t>
            </a:r>
            <a:r>
              <a:rPr lang="en-US" altLang="zh-CN">
                <a:ea typeface="宋体" panose="02010600030101010101" pitchFamily="2" charset="-122"/>
              </a:rPr>
              <a:t>6g</a:t>
            </a:r>
            <a:r>
              <a:rPr lang="zh-CN" altLang="en-US">
                <a:ea typeface="宋体" panose="02010600030101010101" pitchFamily="2" charset="-122"/>
              </a:rPr>
              <a:t>。</a:t>
            </a:r>
          </a:p>
          <a:p>
            <a:r>
              <a:rPr lang="zh-CN" altLang="en-US">
                <a:ea typeface="宋体" panose="02010600030101010101" pitchFamily="2" charset="-122"/>
                <a:sym typeface="+mn-ea"/>
              </a:rPr>
              <a:t>单节点单进程测试计算能力（不计算网络处理）：</a:t>
            </a:r>
            <a:endParaRPr lang="zh-CN" altLang="en-US">
              <a:ea typeface="宋体" panose="02010600030101010101" pitchFamily="2" charset="-122"/>
            </a:endParaRPr>
          </a:p>
          <a:p>
            <a:r>
              <a:rPr lang="zh-CN" altLang="en-US">
                <a:ea typeface="宋体" panose="02010600030101010101" pitchFamily="2" charset="-122"/>
              </a:rPr>
              <a:t>请求问题长度约</a:t>
            </a:r>
            <a:r>
              <a:rPr lang="en-US" altLang="zh-CN">
                <a:ea typeface="宋体" panose="02010600030101010101" pitchFamily="2" charset="-122"/>
              </a:rPr>
              <a:t>20</a:t>
            </a:r>
            <a:r>
              <a:rPr lang="zh-CN" altLang="en-US">
                <a:ea typeface="宋体" panose="02010600030101010101" pitchFamily="2" charset="-122"/>
              </a:rPr>
              <a:t>字节，循环次数10000，使用时间320</a:t>
            </a:r>
            <a:r>
              <a:rPr lang="en-US" altLang="zh-CN">
                <a:ea typeface="宋体" panose="02010600030101010101" pitchFamily="2" charset="-122"/>
              </a:rPr>
              <a:t>ms</a:t>
            </a:r>
            <a:r>
              <a:rPr lang="zh-CN" altLang="en-US">
                <a:ea typeface="宋体" panose="02010600030101010101" pitchFamily="2" charset="-122"/>
              </a:rPr>
              <a:t>，约为</a:t>
            </a:r>
            <a:r>
              <a:rPr lang="en-US" altLang="zh-CN">
                <a:ea typeface="宋体" panose="02010600030101010101" pitchFamily="2" charset="-122"/>
              </a:rPr>
              <a:t>31250qps</a:t>
            </a:r>
            <a:r>
              <a:rPr lang="zh-CN" altLang="en-US">
                <a:ea typeface="宋体" panose="02010600030101010101" pitchFamily="2" charset="-122"/>
              </a:rPr>
              <a:t>。</a:t>
            </a:r>
          </a:p>
          <a:p>
            <a:r>
              <a:rPr lang="zh-CN" altLang="en-US">
                <a:ea typeface="宋体" panose="02010600030101010101" pitchFamily="2" charset="-122"/>
                <a:sym typeface="+mn-ea"/>
              </a:rPr>
              <a:t>请求问题长度约</a:t>
            </a:r>
            <a:r>
              <a:rPr lang="en-US" altLang="zh-CN">
                <a:ea typeface="宋体" panose="02010600030101010101" pitchFamily="2" charset="-122"/>
                <a:sym typeface="+mn-ea"/>
              </a:rPr>
              <a:t>300</a:t>
            </a:r>
            <a:r>
              <a:rPr lang="zh-CN" altLang="en-US">
                <a:ea typeface="宋体" panose="02010600030101010101" pitchFamily="2" charset="-122"/>
                <a:sym typeface="+mn-ea"/>
              </a:rPr>
              <a:t>字节，循环次数1000，使用时间630</a:t>
            </a:r>
            <a:r>
              <a:rPr lang="en-US" altLang="zh-CN">
                <a:ea typeface="宋体" panose="02010600030101010101" pitchFamily="2" charset="-122"/>
                <a:sym typeface="+mn-ea"/>
              </a:rPr>
              <a:t>ms</a:t>
            </a:r>
            <a:r>
              <a:rPr lang="zh-CN" altLang="en-US">
                <a:ea typeface="宋体" panose="02010600030101010101" pitchFamily="2" charset="-122"/>
                <a:sym typeface="+mn-ea"/>
              </a:rPr>
              <a:t>，约为</a:t>
            </a:r>
            <a:r>
              <a:rPr lang="en-US" altLang="zh-CN">
                <a:ea typeface="宋体" panose="02010600030101010101" pitchFamily="2" charset="-122"/>
                <a:sym typeface="+mn-ea"/>
              </a:rPr>
              <a:t>1587qps</a:t>
            </a:r>
            <a:r>
              <a:rPr lang="zh-CN" altLang="en-US">
                <a:ea typeface="宋体" panose="02010600030101010101" pitchFamily="2" charset="-122"/>
                <a:sym typeface="+mn-ea"/>
              </a:rPr>
              <a:t>。</a:t>
            </a:r>
            <a:endParaRPr lang="zh-CN" altLang="en-US">
              <a:ea typeface="宋体" panose="02010600030101010101" pitchFamily="2" charset="-122"/>
            </a:endParaRPr>
          </a:p>
          <a:p>
            <a:endParaRPr lang="zh-CN" altLang="en-US">
              <a:ea typeface="宋体"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页脚占位符 3"/>
          <p:cNvSpPr>
            <a:spLocks noGrp="1"/>
          </p:cNvSpPr>
          <p:nvPr>
            <p:ph type="ftr" sz="quarter" idx="11"/>
          </p:nvPr>
        </p:nvSpPr>
        <p:spPr/>
        <p:txBody>
          <a:bodyPr/>
          <a:lstStyle/>
          <a:p>
            <a:pPr>
              <a:defRPr/>
            </a:pPr>
            <a:r>
              <a:rPr lang="en-US" altLang="zh-CN"/>
              <a:t>Company Logo</a:t>
            </a:r>
          </a:p>
        </p:txBody>
      </p:sp>
      <p:sp>
        <p:nvSpPr>
          <p:cNvPr id="21507" name="Rectangle 2"/>
          <p:cNvSpPr>
            <a:spLocks noGrp="1" noChangeArrowheads="1"/>
          </p:cNvSpPr>
          <p:nvPr>
            <p:ph type="title"/>
          </p:nvPr>
        </p:nvSpPr>
        <p:spPr/>
        <p:txBody>
          <a:bodyPr/>
          <a:lstStyle/>
          <a:p>
            <a:pPr eaLnBrk="1" hangingPunct="1"/>
            <a:r>
              <a:rPr lang="zh-CN" altLang="en-US" dirty="0">
                <a:solidFill>
                  <a:srgbClr val="000000"/>
                </a:solidFill>
                <a:ea typeface="宋体" panose="02010600030101010101" pitchFamily="2" charset="-122"/>
                <a:sym typeface="+mn-ea"/>
              </a:rPr>
              <a:t>技术关键点</a:t>
            </a:r>
            <a:r>
              <a:rPr lang="en-US" altLang="zh-CN" dirty="0">
                <a:solidFill>
                  <a:srgbClr val="000000"/>
                </a:solidFill>
                <a:ea typeface="宋体" panose="02010600030101010101" pitchFamily="2" charset="-122"/>
                <a:sym typeface="+mn-ea"/>
              </a:rPr>
              <a:t>--Elasticsearch</a:t>
            </a:r>
            <a:r>
              <a:rPr lang="zh-CN" altLang="en-US" dirty="0">
                <a:solidFill>
                  <a:srgbClr val="000000"/>
                </a:solidFill>
                <a:ea typeface="宋体" panose="02010600030101010101" pitchFamily="2" charset="-122"/>
                <a:sym typeface="+mn-ea"/>
              </a:rPr>
              <a:t>日志</a:t>
            </a:r>
            <a:endParaRPr lang="zh-CN" altLang="en-US" dirty="0" smtClean="0">
              <a:solidFill>
                <a:srgbClr val="000000"/>
              </a:solidFill>
              <a:ea typeface="宋体" panose="02010600030101010101" pitchFamily="2" charset="-122"/>
              <a:sym typeface="+mn-ea"/>
            </a:endParaRPr>
          </a:p>
        </p:txBody>
      </p:sp>
      <p:graphicFrame>
        <p:nvGraphicFramePr>
          <p:cNvPr id="2" name="对象 1"/>
          <p:cNvGraphicFramePr>
            <a:graphicFrameLocks/>
          </p:cNvGraphicFramePr>
          <p:nvPr/>
        </p:nvGraphicFramePr>
        <p:xfrm>
          <a:off x="1929765" y="1631315"/>
          <a:ext cx="3925570" cy="3060700"/>
        </p:xfrm>
        <a:graphic>
          <a:graphicData uri="http://schemas.openxmlformats.org/presentationml/2006/ole">
            <p:oleObj spid="_x0000_s50177" r:id="rId3" imgW="5309193" imgH="5678100" progId="">
              <p:embed/>
            </p:oleObj>
          </a:graphicData>
        </a:graphic>
      </p:graphicFrame>
      <p:sp>
        <p:nvSpPr>
          <p:cNvPr id="5" name="文本框 4"/>
          <p:cNvSpPr txBox="1"/>
          <p:nvPr/>
        </p:nvSpPr>
        <p:spPr>
          <a:xfrm>
            <a:off x="1466850" y="5120005"/>
            <a:ext cx="6129655" cy="645160"/>
          </a:xfrm>
          <a:prstGeom prst="rect">
            <a:avLst/>
          </a:prstGeom>
          <a:noFill/>
        </p:spPr>
        <p:txBody>
          <a:bodyPr wrap="square" rtlCol="0">
            <a:spAutoFit/>
          </a:bodyPr>
          <a:lstStyle/>
          <a:p>
            <a:r>
              <a:rPr lang="en-US" altLang="zh-CN" dirty="0">
                <a:solidFill>
                  <a:srgbClr val="000000"/>
                </a:solidFill>
                <a:ea typeface="宋体" panose="02010600030101010101" pitchFamily="2" charset="-122"/>
                <a:sym typeface="+mn-ea"/>
              </a:rPr>
              <a:t>Elasticsearch代理分为读节点ESAgentR、写节点ESAgentW和统计节点ESAgentS。</a:t>
            </a:r>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页脚占位符 3"/>
          <p:cNvSpPr>
            <a:spLocks noGrp="1"/>
          </p:cNvSpPr>
          <p:nvPr>
            <p:ph type="ftr" sz="quarter" idx="11"/>
          </p:nvPr>
        </p:nvSpPr>
        <p:spPr/>
        <p:txBody>
          <a:bodyPr/>
          <a:lstStyle/>
          <a:p>
            <a:pPr>
              <a:defRPr/>
            </a:pPr>
            <a:r>
              <a:rPr lang="en-US" altLang="zh-CN"/>
              <a:t>Company Logo</a:t>
            </a:r>
          </a:p>
        </p:txBody>
      </p:sp>
      <p:sp>
        <p:nvSpPr>
          <p:cNvPr id="21507" name="Rectangle 2"/>
          <p:cNvSpPr>
            <a:spLocks noGrp="1" noChangeArrowheads="1"/>
          </p:cNvSpPr>
          <p:nvPr>
            <p:ph type="title"/>
          </p:nvPr>
        </p:nvSpPr>
        <p:spPr/>
        <p:txBody>
          <a:bodyPr/>
          <a:lstStyle/>
          <a:p>
            <a:pPr eaLnBrk="1" hangingPunct="1"/>
            <a:r>
              <a:rPr lang="zh-CN" altLang="en-US">
                <a:solidFill>
                  <a:srgbClr val="000000"/>
                </a:solidFill>
                <a:ea typeface="宋体" panose="02010600030101010101" pitchFamily="2" charset="-122"/>
                <a:sym typeface="+mn-ea"/>
              </a:rPr>
              <a:t>技术关键点</a:t>
            </a:r>
            <a:r>
              <a:rPr lang="en-US" altLang="zh-CN">
                <a:solidFill>
                  <a:srgbClr val="000000"/>
                </a:solidFill>
                <a:ea typeface="宋体" panose="02010600030101010101" pitchFamily="2" charset="-122"/>
                <a:sym typeface="+mn-ea"/>
              </a:rPr>
              <a:t>--Elasticsearch</a:t>
            </a:r>
            <a:r>
              <a:rPr lang="zh-CN" altLang="en-US">
                <a:solidFill>
                  <a:srgbClr val="000000"/>
                </a:solidFill>
                <a:ea typeface="宋体" panose="02010600030101010101" pitchFamily="2" charset="-122"/>
                <a:sym typeface="+mn-ea"/>
              </a:rPr>
              <a:t>日志</a:t>
            </a:r>
            <a:endParaRPr lang="zh-CN" altLang="en-US" smtClean="0">
              <a:solidFill>
                <a:srgbClr val="000000"/>
              </a:solidFill>
              <a:ea typeface="宋体" panose="02010600030101010101" pitchFamily="2" charset="-122"/>
              <a:sym typeface="+mn-ea"/>
            </a:endParaRPr>
          </a:p>
        </p:txBody>
      </p:sp>
      <p:sp>
        <p:nvSpPr>
          <p:cNvPr id="6" name="文本框 5"/>
          <p:cNvSpPr txBox="1"/>
          <p:nvPr/>
        </p:nvSpPr>
        <p:spPr>
          <a:xfrm>
            <a:off x="659765" y="1629410"/>
            <a:ext cx="6768465" cy="3415030"/>
          </a:xfrm>
          <a:prstGeom prst="rect">
            <a:avLst/>
          </a:prstGeom>
          <a:noFill/>
        </p:spPr>
        <p:txBody>
          <a:bodyPr wrap="square" rtlCol="0">
            <a:spAutoFit/>
          </a:bodyPr>
          <a:lstStyle/>
          <a:p>
            <a:pPr algn="l"/>
            <a:endParaRPr lang="en-US" altLang="zh-CN">
              <a:solidFill>
                <a:srgbClr val="000000"/>
              </a:solidFill>
              <a:ea typeface="宋体" panose="02010600030101010101" pitchFamily="2" charset="-122"/>
              <a:sym typeface="+mn-ea"/>
            </a:endParaRPr>
          </a:p>
          <a:p>
            <a:pPr algn="l"/>
            <a:r>
              <a:rPr lang="en-US" altLang="zh-CN">
                <a:solidFill>
                  <a:srgbClr val="000000"/>
                </a:solidFill>
                <a:ea typeface="宋体" panose="02010600030101010101" pitchFamily="2" charset="-122"/>
                <a:sym typeface="+mn-ea"/>
              </a:rPr>
              <a:t>读节点ESAgentR接收前端发送的请求，检查其权限和查询语句，转发到Elasticsearch节点获取查询数据并返回。</a:t>
            </a:r>
          </a:p>
          <a:p>
            <a:pPr algn="l"/>
            <a:endParaRPr lang="en-US" altLang="zh-CN">
              <a:solidFill>
                <a:srgbClr val="000000"/>
              </a:solidFill>
              <a:ea typeface="宋体" panose="02010600030101010101" pitchFamily="2" charset="-122"/>
              <a:sym typeface="+mn-ea"/>
            </a:endParaRPr>
          </a:p>
          <a:p>
            <a:pPr algn="l"/>
            <a:r>
              <a:rPr lang="en-US" altLang="zh-CN">
                <a:solidFill>
                  <a:srgbClr val="000000"/>
                </a:solidFill>
                <a:ea typeface="宋体" panose="02010600030101010101" pitchFamily="2" charset="-122"/>
                <a:sym typeface="+mn-ea"/>
              </a:rPr>
              <a:t>写节点ESAgentW接收内部服务节点Logic发送的日志请求，并写到本地文件，由crontab程序定时执行脚本发送日志文件到Elasticsearch节点。</a:t>
            </a:r>
          </a:p>
          <a:p>
            <a:pPr algn="l"/>
            <a:endParaRPr lang="en-US" altLang="zh-CN">
              <a:solidFill>
                <a:srgbClr val="000000"/>
              </a:solidFill>
              <a:ea typeface="宋体" panose="02010600030101010101" pitchFamily="2" charset="-122"/>
              <a:sym typeface="+mn-ea"/>
            </a:endParaRPr>
          </a:p>
          <a:p>
            <a:pPr algn="l"/>
            <a:r>
              <a:rPr lang="en-US" altLang="zh-CN">
                <a:solidFill>
                  <a:srgbClr val="000000"/>
                </a:solidFill>
                <a:ea typeface="宋体" panose="02010600030101010101" pitchFamily="2" charset="-122"/>
                <a:sym typeface="+mn-ea"/>
              </a:rPr>
              <a:t>统计节点ESAgentS定时统计人工会话消息，基于用户会话协同过滤和机器人引擎问题协同过滤，发送到Robot节点，进行文本分类和进一步排序问题优先级，分析出有价值的用户消息，保存到存储，作为机器人问题推荐的数据基础（需要进一步优化准确度）。</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页脚占位符 3"/>
          <p:cNvSpPr>
            <a:spLocks noGrp="1"/>
          </p:cNvSpPr>
          <p:nvPr>
            <p:ph type="ftr" sz="quarter" idx="11"/>
          </p:nvPr>
        </p:nvSpPr>
        <p:spPr/>
        <p:txBody>
          <a:bodyPr/>
          <a:lstStyle/>
          <a:p>
            <a:pPr>
              <a:defRPr/>
            </a:pPr>
            <a:r>
              <a:rPr lang="en-US" altLang="zh-CN"/>
              <a:t>Company Logo</a:t>
            </a:r>
          </a:p>
        </p:txBody>
      </p:sp>
      <p:sp>
        <p:nvSpPr>
          <p:cNvPr id="21507" name="Rectangle 2"/>
          <p:cNvSpPr>
            <a:spLocks noGrp="1" noChangeArrowheads="1"/>
          </p:cNvSpPr>
          <p:nvPr>
            <p:ph type="title"/>
          </p:nvPr>
        </p:nvSpPr>
        <p:spPr/>
        <p:txBody>
          <a:bodyPr/>
          <a:lstStyle/>
          <a:p>
            <a:pPr eaLnBrk="1" hangingPunct="1"/>
            <a:r>
              <a:rPr lang="zh-CN" altLang="en-US">
                <a:solidFill>
                  <a:srgbClr val="000000"/>
                </a:solidFill>
                <a:ea typeface="宋体" panose="02010600030101010101" pitchFamily="2" charset="-122"/>
                <a:sym typeface="+mn-ea"/>
              </a:rPr>
              <a:t>技术关键点</a:t>
            </a:r>
            <a:r>
              <a:rPr lang="en-US" altLang="zh-CN">
                <a:solidFill>
                  <a:srgbClr val="000000"/>
                </a:solidFill>
                <a:ea typeface="宋体" panose="02010600030101010101" pitchFamily="2" charset="-122"/>
                <a:sym typeface="+mn-ea"/>
              </a:rPr>
              <a:t>--</a:t>
            </a:r>
            <a:r>
              <a:rPr lang="zh-CN" altLang="en-US">
                <a:solidFill>
                  <a:srgbClr val="000000"/>
                </a:solidFill>
                <a:ea typeface="宋体" panose="02010600030101010101" pitchFamily="2" charset="-122"/>
                <a:sym typeface="+mn-ea"/>
              </a:rPr>
              <a:t>文件服务</a:t>
            </a:r>
            <a:endParaRPr lang="zh-CN" altLang="en-US" smtClean="0">
              <a:solidFill>
                <a:srgbClr val="000000"/>
              </a:solidFill>
              <a:ea typeface="宋体" panose="02010600030101010101" pitchFamily="2" charset="-122"/>
              <a:sym typeface="+mn-ea"/>
            </a:endParaRPr>
          </a:p>
        </p:txBody>
      </p:sp>
      <p:graphicFrame>
        <p:nvGraphicFramePr>
          <p:cNvPr id="6" name="对象 5"/>
          <p:cNvGraphicFramePr>
            <a:graphicFrameLocks/>
          </p:cNvGraphicFramePr>
          <p:nvPr/>
        </p:nvGraphicFramePr>
        <p:xfrm>
          <a:off x="1403648" y="1174750"/>
          <a:ext cx="5305425" cy="2938780"/>
        </p:xfrm>
        <a:graphic>
          <a:graphicData uri="http://schemas.openxmlformats.org/presentationml/2006/ole">
            <p:oleObj spid="_x0000_s55297" name="Visio" r:id="rId3" imgW="6248299" imgH="4457700" progId="">
              <p:embed/>
            </p:oleObj>
          </a:graphicData>
        </a:graphic>
      </p:graphicFrame>
      <p:sp>
        <p:nvSpPr>
          <p:cNvPr id="2" name="文本框 1"/>
          <p:cNvSpPr txBox="1"/>
          <p:nvPr/>
        </p:nvSpPr>
        <p:spPr>
          <a:xfrm>
            <a:off x="964565" y="4128770"/>
            <a:ext cx="6892925" cy="2584450"/>
          </a:xfrm>
          <a:prstGeom prst="rect">
            <a:avLst/>
          </a:prstGeom>
          <a:noFill/>
        </p:spPr>
        <p:txBody>
          <a:bodyPr wrap="square" rtlCol="0">
            <a:spAutoFit/>
          </a:bodyPr>
          <a:lstStyle/>
          <a:p>
            <a:r>
              <a:rPr lang="zh-CN" altLang="en-US" dirty="0"/>
              <a:t>在客服系统中，文件服务用于上传图片。</a:t>
            </a:r>
          </a:p>
          <a:p>
            <a:r>
              <a:rPr lang="zh-CN" altLang="en-US" dirty="0"/>
              <a:t>客户端上传图片到文件代理服务</a:t>
            </a:r>
            <a:r>
              <a:rPr lang="en-US" altLang="zh-CN" dirty="0"/>
              <a:t>FileServer</a:t>
            </a:r>
            <a:r>
              <a:rPr lang="zh-CN" altLang="en-US" dirty="0">
                <a:ea typeface="宋体" panose="02010600030101010101" pitchFamily="2" charset="-122"/>
              </a:rPr>
              <a:t>，</a:t>
            </a:r>
            <a:r>
              <a:rPr lang="en-US" altLang="zh-CN" dirty="0">
                <a:sym typeface="+mn-ea"/>
              </a:rPr>
              <a:t>FileServer</a:t>
            </a:r>
            <a:r>
              <a:rPr lang="zh-CN" altLang="en-US" dirty="0">
                <a:ea typeface="宋体" panose="02010600030101010101" pitchFamily="2" charset="-122"/>
                <a:sym typeface="+mn-ea"/>
              </a:rPr>
              <a:t>检查该用户的</a:t>
            </a:r>
            <a:r>
              <a:rPr lang="en-US" altLang="zh-CN" dirty="0">
                <a:ea typeface="宋体" panose="02010600030101010101" pitchFamily="2" charset="-122"/>
                <a:sym typeface="+mn-ea"/>
              </a:rPr>
              <a:t>token</a:t>
            </a:r>
            <a:r>
              <a:rPr lang="zh-CN" altLang="en-US" dirty="0">
                <a:ea typeface="宋体" panose="02010600030101010101" pitchFamily="2" charset="-122"/>
                <a:sym typeface="+mn-ea"/>
              </a:rPr>
              <a:t>，由文件内容生成文件缩略图，并分别上传文件和文件缩略图到</a:t>
            </a:r>
            <a:r>
              <a:rPr lang="zh-CN" altLang="en-US" dirty="0">
                <a:sym typeface="+mn-ea"/>
              </a:rPr>
              <a:t>FastDFS存储服务，上传文件成功后把获取到的文件</a:t>
            </a:r>
            <a:r>
              <a:rPr lang="en-US" altLang="zh-CN" dirty="0">
                <a:sym typeface="+mn-ea"/>
              </a:rPr>
              <a:t>id</a:t>
            </a:r>
            <a:r>
              <a:rPr lang="zh-CN" altLang="en-US" dirty="0">
                <a:ea typeface="宋体" panose="02010600030101010101" pitchFamily="2" charset="-122"/>
                <a:sym typeface="+mn-ea"/>
              </a:rPr>
              <a:t>保存到</a:t>
            </a:r>
            <a:r>
              <a:rPr lang="en-US" altLang="zh-CN" dirty="0">
                <a:ea typeface="宋体" panose="02010600030101010101" pitchFamily="2" charset="-122"/>
                <a:sym typeface="+mn-ea"/>
              </a:rPr>
              <a:t>redis</a:t>
            </a:r>
            <a:r>
              <a:rPr lang="zh-CN" altLang="en-US" dirty="0">
                <a:ea typeface="宋体" panose="02010600030101010101" pitchFamily="2" charset="-122"/>
                <a:sym typeface="+mn-ea"/>
              </a:rPr>
              <a:t>存储作为文件唯一性依据。相同内容的文件只会上传一次。</a:t>
            </a:r>
          </a:p>
          <a:p>
            <a:endParaRPr lang="zh-CN" altLang="en-US" dirty="0">
              <a:ea typeface="宋体" panose="02010600030101010101" pitchFamily="2" charset="-122"/>
              <a:sym typeface="+mn-ea"/>
            </a:endParaRPr>
          </a:p>
          <a:p>
            <a:r>
              <a:rPr lang="zh-CN" altLang="en-US" dirty="0">
                <a:sym typeface="+mn-ea"/>
              </a:rPr>
              <a:t>FastDFS存储服务把文件保存到本地，并由</a:t>
            </a:r>
            <a:r>
              <a:rPr lang="en-US" altLang="zh-CN" dirty="0">
                <a:sym typeface="+mn-ea"/>
              </a:rPr>
              <a:t>nginx</a:t>
            </a:r>
            <a:r>
              <a:rPr lang="zh-CN" altLang="en-US" dirty="0">
                <a:ea typeface="宋体" panose="02010600030101010101" pitchFamily="2" charset="-122"/>
                <a:sym typeface="+mn-ea"/>
              </a:rPr>
              <a:t>的</a:t>
            </a:r>
            <a:r>
              <a:rPr lang="en-US" altLang="zh-CN" dirty="0">
                <a:ea typeface="宋体" panose="02010600030101010101" pitchFamily="2" charset="-122"/>
                <a:sym typeface="+mn-ea"/>
              </a:rPr>
              <a:t>http</a:t>
            </a:r>
            <a:r>
              <a:rPr lang="zh-CN" altLang="en-US" dirty="0">
                <a:ea typeface="宋体" panose="02010600030101010101" pitchFamily="2" charset="-122"/>
                <a:sym typeface="+mn-ea"/>
              </a:rPr>
              <a:t>服务提供访问图片服务。</a:t>
            </a:r>
          </a:p>
          <a:p>
            <a:endParaRPr lang="zh-CN" altLang="en-US" dirty="0">
              <a:ea typeface="宋体" panose="02010600030101010101" pitchFamily="2" charset="-122"/>
              <a:sym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页脚占位符 3"/>
          <p:cNvSpPr>
            <a:spLocks noGrp="1"/>
          </p:cNvSpPr>
          <p:nvPr>
            <p:ph type="ftr" sz="quarter" idx="11"/>
          </p:nvPr>
        </p:nvSpPr>
        <p:spPr/>
        <p:txBody>
          <a:bodyPr/>
          <a:lstStyle/>
          <a:p>
            <a:pPr>
              <a:defRPr/>
            </a:pPr>
            <a:r>
              <a:rPr lang="en-US" altLang="zh-CN"/>
              <a:t>Company Logo</a:t>
            </a:r>
          </a:p>
        </p:txBody>
      </p:sp>
      <p:sp>
        <p:nvSpPr>
          <p:cNvPr id="21507" name="Rectangle 2"/>
          <p:cNvSpPr>
            <a:spLocks noGrp="1" noChangeArrowheads="1"/>
          </p:cNvSpPr>
          <p:nvPr>
            <p:ph type="title"/>
          </p:nvPr>
        </p:nvSpPr>
        <p:spPr/>
        <p:txBody>
          <a:bodyPr/>
          <a:lstStyle/>
          <a:p>
            <a:pPr eaLnBrk="1" hangingPunct="1"/>
            <a:r>
              <a:rPr lang="zh-CN" altLang="en-US">
                <a:solidFill>
                  <a:srgbClr val="000000"/>
                </a:solidFill>
                <a:ea typeface="宋体" panose="02010600030101010101" pitchFamily="2" charset="-122"/>
                <a:sym typeface="+mn-ea"/>
              </a:rPr>
              <a:t>技术关键点</a:t>
            </a:r>
            <a:r>
              <a:rPr lang="en-US" altLang="zh-CN">
                <a:solidFill>
                  <a:srgbClr val="000000"/>
                </a:solidFill>
                <a:ea typeface="宋体" panose="02010600030101010101" pitchFamily="2" charset="-122"/>
                <a:sym typeface="+mn-ea"/>
              </a:rPr>
              <a:t>--</a:t>
            </a:r>
            <a:r>
              <a:rPr lang="zh-CN" altLang="en-US">
                <a:solidFill>
                  <a:srgbClr val="000000"/>
                </a:solidFill>
                <a:ea typeface="宋体" panose="02010600030101010101" pitchFamily="2" charset="-122"/>
                <a:sym typeface="+mn-ea"/>
              </a:rPr>
              <a:t>文件服务</a:t>
            </a:r>
            <a:endParaRPr lang="zh-CN" altLang="en-US" smtClean="0">
              <a:solidFill>
                <a:srgbClr val="000000"/>
              </a:solidFill>
              <a:ea typeface="宋体" panose="02010600030101010101" pitchFamily="2" charset="-122"/>
              <a:sym typeface="+mn-ea"/>
            </a:endParaRPr>
          </a:p>
        </p:txBody>
      </p:sp>
      <p:sp>
        <p:nvSpPr>
          <p:cNvPr id="5" name="文本框 4"/>
          <p:cNvSpPr txBox="1"/>
          <p:nvPr/>
        </p:nvSpPr>
        <p:spPr>
          <a:xfrm>
            <a:off x="457200" y="1439545"/>
            <a:ext cx="7508875" cy="2861310"/>
          </a:xfrm>
          <a:prstGeom prst="rect">
            <a:avLst/>
          </a:prstGeom>
          <a:noFill/>
        </p:spPr>
        <p:txBody>
          <a:bodyPr wrap="square" rtlCol="0">
            <a:spAutoFit/>
          </a:bodyPr>
          <a:lstStyle/>
          <a:p>
            <a:r>
              <a:rPr lang="zh-CN" altLang="en-US" dirty="0"/>
              <a:t>基于开源文件分布式存储服务</a:t>
            </a:r>
            <a:r>
              <a:rPr lang="zh-CN" altLang="en-US" dirty="0">
                <a:sym typeface="+mn-ea"/>
              </a:rPr>
              <a:t>FastDFS搭建文件服务集群。</a:t>
            </a:r>
          </a:p>
          <a:p>
            <a:endParaRPr lang="zh-CN" altLang="en-US" dirty="0"/>
          </a:p>
          <a:p>
            <a:r>
              <a:rPr lang="zh-CN" altLang="en-US" dirty="0"/>
              <a:t>FastDFS是一个开源的，高性能的的分布式文件系统，他主要的功能包括：文件存储，同步和访问，设计基于高可用和负载均衡，FastDFS非常适用于基于文件服务的站点，例如图片分享和视频分享网站</a:t>
            </a:r>
          </a:p>
          <a:p>
            <a:endParaRPr lang="zh-CN" altLang="en-US" dirty="0"/>
          </a:p>
          <a:p>
            <a:r>
              <a:rPr lang="zh-CN" altLang="en-US" dirty="0"/>
              <a:t>FastDFS有两个角色：跟踪服务(tracker)和存储服务(storage)。</a:t>
            </a:r>
          </a:p>
          <a:p>
            <a:r>
              <a:rPr lang="zh-CN" altLang="en-US" dirty="0"/>
              <a:t>跟踪服务：控制调度文件以负载均衡的方式访问；</a:t>
            </a:r>
          </a:p>
          <a:p>
            <a:r>
              <a:rPr lang="zh-CN" altLang="en-US" dirty="0"/>
              <a:t>存储服务：文件存储，文件同步，提供文件访问接口，同时以key value的方式管理文件的元数据。</a:t>
            </a:r>
          </a:p>
        </p:txBody>
      </p:sp>
      <p:pic>
        <p:nvPicPr>
          <p:cNvPr id="2" name="图片 2" descr="IMG_256"/>
          <p:cNvPicPr>
            <a:picLocks noChangeAspect="1"/>
          </p:cNvPicPr>
          <p:nvPr/>
        </p:nvPicPr>
        <p:blipFill>
          <a:blip r:embed="rId2" cstate="print"/>
          <a:stretch>
            <a:fillRect/>
          </a:stretch>
        </p:blipFill>
        <p:spPr>
          <a:xfrm>
            <a:off x="3575685" y="4229100"/>
            <a:ext cx="3526155" cy="2110105"/>
          </a:xfrm>
          <a:prstGeom prst="rect">
            <a:avLst/>
          </a:prstGeom>
          <a:noFill/>
          <a:ln w="9525">
            <a:noFill/>
          </a:ln>
        </p:spPr>
      </p:pic>
      <p:sp>
        <p:nvSpPr>
          <p:cNvPr id="4" name="文本框 3"/>
          <p:cNvSpPr txBox="1"/>
          <p:nvPr/>
        </p:nvSpPr>
        <p:spPr>
          <a:xfrm>
            <a:off x="1153160" y="4782185"/>
            <a:ext cx="2255520" cy="368300"/>
          </a:xfrm>
          <a:prstGeom prst="rect">
            <a:avLst/>
          </a:prstGeom>
          <a:noFill/>
        </p:spPr>
        <p:txBody>
          <a:bodyPr wrap="square" rtlCol="0">
            <a:spAutoFit/>
          </a:bodyPr>
          <a:lstStyle/>
          <a:p>
            <a:r>
              <a:rPr lang="zh-CN" altLang="en-US" dirty="0"/>
              <a:t>上传过程如下：</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页脚占位符 3"/>
          <p:cNvSpPr>
            <a:spLocks noGrp="1"/>
          </p:cNvSpPr>
          <p:nvPr>
            <p:ph type="ftr" sz="quarter" idx="11"/>
          </p:nvPr>
        </p:nvSpPr>
        <p:spPr/>
        <p:txBody>
          <a:bodyPr/>
          <a:lstStyle/>
          <a:p>
            <a:pPr>
              <a:defRPr/>
            </a:pPr>
            <a:r>
              <a:rPr lang="en-US" altLang="zh-CN"/>
              <a:t>Company Logo</a:t>
            </a:r>
          </a:p>
        </p:txBody>
      </p:sp>
      <p:sp>
        <p:nvSpPr>
          <p:cNvPr id="21507" name="Rectangle 2"/>
          <p:cNvSpPr>
            <a:spLocks noGrp="1" noChangeArrowheads="1"/>
          </p:cNvSpPr>
          <p:nvPr>
            <p:ph type="title"/>
          </p:nvPr>
        </p:nvSpPr>
        <p:spPr/>
        <p:txBody>
          <a:bodyPr/>
          <a:lstStyle/>
          <a:p>
            <a:pPr eaLnBrk="1" hangingPunct="1"/>
            <a:r>
              <a:rPr lang="zh-CN" altLang="en-US">
                <a:solidFill>
                  <a:srgbClr val="000000"/>
                </a:solidFill>
                <a:ea typeface="宋体" panose="02010600030101010101" pitchFamily="2" charset="-122"/>
                <a:sym typeface="+mn-ea"/>
              </a:rPr>
              <a:t>技术关键点</a:t>
            </a:r>
            <a:r>
              <a:rPr lang="en-US" altLang="zh-CN">
                <a:solidFill>
                  <a:srgbClr val="000000"/>
                </a:solidFill>
                <a:ea typeface="宋体" panose="02010600030101010101" pitchFamily="2" charset="-122"/>
                <a:sym typeface="+mn-ea"/>
              </a:rPr>
              <a:t>--</a:t>
            </a:r>
            <a:r>
              <a:rPr lang="zh-CN" altLang="en-US">
                <a:solidFill>
                  <a:srgbClr val="000000"/>
                </a:solidFill>
                <a:ea typeface="宋体" panose="02010600030101010101" pitchFamily="2" charset="-122"/>
                <a:sym typeface="+mn-ea"/>
              </a:rPr>
              <a:t>推荐机器人问题</a:t>
            </a:r>
            <a:endParaRPr lang="zh-CN" altLang="en-US" smtClean="0">
              <a:solidFill>
                <a:srgbClr val="000000"/>
              </a:solidFill>
              <a:ea typeface="宋体" panose="02010600030101010101" pitchFamily="2" charset="-122"/>
              <a:sym typeface="+mn-ea"/>
            </a:endParaRPr>
          </a:p>
        </p:txBody>
      </p:sp>
      <p:sp>
        <p:nvSpPr>
          <p:cNvPr id="5" name="文本框 4"/>
          <p:cNvSpPr txBox="1"/>
          <p:nvPr/>
        </p:nvSpPr>
        <p:spPr>
          <a:xfrm>
            <a:off x="297815" y="1177925"/>
            <a:ext cx="8717280" cy="2584450"/>
          </a:xfrm>
          <a:prstGeom prst="rect">
            <a:avLst/>
          </a:prstGeom>
          <a:noFill/>
        </p:spPr>
        <p:txBody>
          <a:bodyPr wrap="square" rtlCol="0">
            <a:spAutoFit/>
          </a:bodyPr>
          <a:lstStyle/>
          <a:p>
            <a:r>
              <a:rPr lang="zh-CN" altLang="en-US"/>
              <a:t>基本上本着基于用户消息过滤和基于机器人问题过滤原则。</a:t>
            </a:r>
          </a:p>
          <a:p>
            <a:r>
              <a:rPr lang="zh-CN" altLang="en-US"/>
              <a:t>具体参数可在配置中修改。</a:t>
            </a:r>
          </a:p>
          <a:p>
            <a:endParaRPr lang="zh-CN" altLang="en-US"/>
          </a:p>
          <a:p>
            <a:r>
              <a:rPr lang="zh-CN" altLang="en-US"/>
              <a:t>基于用户消息：</a:t>
            </a:r>
          </a:p>
          <a:p>
            <a:r>
              <a:rPr lang="zh-CN" altLang="en-US"/>
              <a:t>访客是客服关心的用户。消息来源于会话，需要过滤优质会话。</a:t>
            </a:r>
          </a:p>
          <a:p>
            <a:endParaRPr lang="zh-CN" altLang="en-US"/>
          </a:p>
          <a:p>
            <a:r>
              <a:rPr lang="zh-CN" altLang="en-US"/>
              <a:t>基于机器人问题：</a:t>
            </a:r>
          </a:p>
          <a:p>
            <a:r>
              <a:rPr lang="zh-CN" altLang="en-US"/>
              <a:t>机器人问题属于核心的常问的问题。与机器人问题相关度高的访客问题则是机器人需要学习的问题。</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页脚占位符 3"/>
          <p:cNvSpPr>
            <a:spLocks noGrp="1"/>
          </p:cNvSpPr>
          <p:nvPr>
            <p:ph type="ftr" sz="quarter" idx="11"/>
          </p:nvPr>
        </p:nvSpPr>
        <p:spPr/>
        <p:txBody>
          <a:bodyPr/>
          <a:lstStyle/>
          <a:p>
            <a:pPr>
              <a:defRPr/>
            </a:pPr>
            <a:r>
              <a:rPr lang="en-US" altLang="zh-CN"/>
              <a:t>Company Logo</a:t>
            </a:r>
          </a:p>
        </p:txBody>
      </p:sp>
      <p:sp>
        <p:nvSpPr>
          <p:cNvPr id="21507" name="Rectangle 2"/>
          <p:cNvSpPr>
            <a:spLocks noGrp="1" noChangeArrowheads="1"/>
          </p:cNvSpPr>
          <p:nvPr>
            <p:ph type="title"/>
          </p:nvPr>
        </p:nvSpPr>
        <p:spPr/>
        <p:txBody>
          <a:bodyPr/>
          <a:lstStyle/>
          <a:p>
            <a:pPr eaLnBrk="1" hangingPunct="1"/>
            <a:r>
              <a:rPr lang="zh-CN" altLang="en-US">
                <a:solidFill>
                  <a:srgbClr val="000000"/>
                </a:solidFill>
                <a:ea typeface="宋体" panose="02010600030101010101" pitchFamily="2" charset="-122"/>
                <a:sym typeface="+mn-ea"/>
              </a:rPr>
              <a:t>技术关键点</a:t>
            </a:r>
            <a:r>
              <a:rPr lang="en-US" altLang="zh-CN">
                <a:solidFill>
                  <a:srgbClr val="000000"/>
                </a:solidFill>
                <a:ea typeface="宋体" panose="02010600030101010101" pitchFamily="2" charset="-122"/>
                <a:sym typeface="+mn-ea"/>
              </a:rPr>
              <a:t>--</a:t>
            </a:r>
            <a:r>
              <a:rPr lang="zh-CN" altLang="en-US">
                <a:solidFill>
                  <a:srgbClr val="000000"/>
                </a:solidFill>
                <a:ea typeface="宋体" panose="02010600030101010101" pitchFamily="2" charset="-122"/>
                <a:sym typeface="+mn-ea"/>
              </a:rPr>
              <a:t>推荐机器人问题</a:t>
            </a:r>
            <a:endParaRPr lang="zh-CN" altLang="en-US" smtClean="0">
              <a:solidFill>
                <a:srgbClr val="000000"/>
              </a:solidFill>
              <a:ea typeface="宋体" panose="02010600030101010101" pitchFamily="2" charset="-122"/>
              <a:sym typeface="+mn-ea"/>
            </a:endParaRPr>
          </a:p>
        </p:txBody>
      </p:sp>
      <p:sp>
        <p:nvSpPr>
          <p:cNvPr id="2" name="文本框 1"/>
          <p:cNvSpPr txBox="1"/>
          <p:nvPr/>
        </p:nvSpPr>
        <p:spPr>
          <a:xfrm>
            <a:off x="75565" y="1306195"/>
            <a:ext cx="9042400" cy="1753235"/>
          </a:xfrm>
          <a:prstGeom prst="rect">
            <a:avLst/>
          </a:prstGeom>
          <a:noFill/>
        </p:spPr>
        <p:txBody>
          <a:bodyPr wrap="square" rtlCol="0">
            <a:spAutoFit/>
          </a:bodyPr>
          <a:lstStyle/>
          <a:p>
            <a:r>
              <a:rPr lang="zh-CN" altLang="en-US"/>
              <a:t>过滤会话：</a:t>
            </a:r>
          </a:p>
          <a:p>
            <a:r>
              <a:rPr lang="zh-CN" altLang="en-US"/>
              <a:t>（1）机器人会话能解决的则不需要人工会话。需要推荐的内容来源于用户类型会话。如会话类型为人工会话。</a:t>
            </a:r>
          </a:p>
          <a:p>
            <a:r>
              <a:rPr lang="zh-CN" altLang="en-US"/>
              <a:t>（2）评价为很满意的会话，表示客户有较强的咨询需求，并且该问题得到较好的解决，需要推荐的问题来源于该类会话的会话消息。</a:t>
            </a:r>
          </a:p>
          <a:p>
            <a:r>
              <a:rPr lang="zh-CN" altLang="en-US"/>
              <a:t>（3）推荐需要是最近的一些会话的消息，即创建时间为一天内。</a:t>
            </a:r>
          </a:p>
        </p:txBody>
      </p:sp>
      <p:sp>
        <p:nvSpPr>
          <p:cNvPr id="4" name="文本框 3"/>
          <p:cNvSpPr txBox="1"/>
          <p:nvPr/>
        </p:nvSpPr>
        <p:spPr>
          <a:xfrm>
            <a:off x="75565" y="3309620"/>
            <a:ext cx="9041765" cy="1753235"/>
          </a:xfrm>
          <a:prstGeom prst="rect">
            <a:avLst/>
          </a:prstGeom>
          <a:noFill/>
        </p:spPr>
        <p:txBody>
          <a:bodyPr wrap="square" rtlCol="0">
            <a:spAutoFit/>
          </a:bodyPr>
          <a:lstStyle/>
          <a:p>
            <a:pPr marL="0" indent="0"/>
            <a:r>
              <a:rPr lang="zh-CN" altLang="en-US">
                <a:latin typeface="宋体" panose="02010600030101010101" pitchFamily="2" charset="-122"/>
                <a:ea typeface="宋体" panose="02010600030101010101" pitchFamily="2" charset="-122"/>
                <a:cs typeface="宋体" panose="02010600030101010101" pitchFamily="2" charset="-122"/>
                <a:sym typeface="+mn-ea"/>
              </a:rPr>
              <a:t>过滤会话消息：</a:t>
            </a:r>
          </a:p>
          <a:p>
            <a:r>
              <a:rPr lang="zh-CN" altLang="en-US">
                <a:latin typeface="宋体" panose="02010600030101010101" pitchFamily="2" charset="-122"/>
                <a:ea typeface="宋体" panose="02010600030101010101" pitchFamily="2" charset="-122"/>
                <a:cs typeface="宋体" panose="02010600030101010101" pitchFamily="2" charset="-122"/>
                <a:sym typeface="+mn-ea"/>
              </a:rPr>
              <a:t>（</a:t>
            </a:r>
            <a:r>
              <a:rPr lang="en-US" altLang="zh-CN">
                <a:latin typeface="宋体" panose="02010600030101010101" pitchFamily="2" charset="-122"/>
                <a:ea typeface="宋体" panose="02010600030101010101" pitchFamily="2" charset="-122"/>
                <a:cs typeface="宋体" panose="02010600030101010101" pitchFamily="2" charset="-122"/>
                <a:sym typeface="+mn-ea"/>
              </a:rPr>
              <a:t>1</a:t>
            </a:r>
            <a:r>
              <a:rPr lang="zh-CN" altLang="en-US">
                <a:latin typeface="宋体" panose="02010600030101010101" pitchFamily="2" charset="-122"/>
                <a:ea typeface="宋体" panose="02010600030101010101" pitchFamily="2" charset="-122"/>
                <a:cs typeface="宋体" panose="02010600030101010101" pitchFamily="2" charset="-122"/>
                <a:sym typeface="+mn-ea"/>
              </a:rPr>
              <a:t>）只推荐的需要推荐的会话内的会话消息。即过滤会话信息，参考会话信息分析。</a:t>
            </a:r>
          </a:p>
          <a:p>
            <a:r>
              <a:rPr lang="zh-CN" altLang="en-US">
                <a:latin typeface="宋体" panose="02010600030101010101" pitchFamily="2" charset="-122"/>
                <a:ea typeface="宋体" panose="02010600030101010101" pitchFamily="2" charset="-122"/>
                <a:cs typeface="宋体" panose="02010600030101010101" pitchFamily="2" charset="-122"/>
                <a:sym typeface="+mn-ea"/>
              </a:rPr>
              <a:t>（</a:t>
            </a:r>
            <a:r>
              <a:rPr lang="en-US" altLang="zh-CN">
                <a:latin typeface="宋体" panose="02010600030101010101" pitchFamily="2" charset="-122"/>
                <a:ea typeface="宋体" panose="02010600030101010101" pitchFamily="2" charset="-122"/>
                <a:cs typeface="宋体" panose="02010600030101010101" pitchFamily="2" charset="-122"/>
                <a:sym typeface="+mn-ea"/>
              </a:rPr>
              <a:t>2</a:t>
            </a:r>
            <a:r>
              <a:rPr lang="zh-CN" altLang="en-US">
                <a:latin typeface="宋体" panose="02010600030101010101" pitchFamily="2" charset="-122"/>
                <a:ea typeface="宋体" panose="02010600030101010101" pitchFamily="2" charset="-122"/>
                <a:cs typeface="宋体" panose="02010600030101010101" pitchFamily="2" charset="-122"/>
                <a:sym typeface="+mn-ea"/>
              </a:rPr>
              <a:t>）只推荐来源于游客、企业用户的会话消息。</a:t>
            </a:r>
          </a:p>
          <a:p>
            <a:pPr marL="0" indent="0"/>
            <a:r>
              <a:rPr lang="zh-CN" altLang="en-US">
                <a:latin typeface="宋体" panose="02010600030101010101" pitchFamily="2" charset="-122"/>
                <a:ea typeface="宋体" panose="02010600030101010101" pitchFamily="2" charset="-122"/>
                <a:cs typeface="宋体" panose="02010600030101010101" pitchFamily="2" charset="-122"/>
                <a:sym typeface="+mn-ea"/>
              </a:rPr>
              <a:t>（</a:t>
            </a:r>
            <a:r>
              <a:rPr lang="en-US" altLang="zh-CN">
                <a:latin typeface="宋体" panose="02010600030101010101" pitchFamily="2" charset="-122"/>
                <a:ea typeface="宋体" panose="02010600030101010101" pitchFamily="2" charset="-122"/>
                <a:cs typeface="宋体" panose="02010600030101010101" pitchFamily="2" charset="-122"/>
                <a:sym typeface="+mn-ea"/>
              </a:rPr>
              <a:t>3</a:t>
            </a:r>
            <a:r>
              <a:rPr lang="zh-CN" altLang="en-US">
                <a:latin typeface="宋体" panose="02010600030101010101" pitchFamily="2" charset="-122"/>
                <a:ea typeface="宋体" panose="02010600030101010101" pitchFamily="2" charset="-122"/>
                <a:cs typeface="宋体" panose="02010600030101010101" pitchFamily="2" charset="-122"/>
                <a:sym typeface="+mn-ea"/>
              </a:rPr>
              <a:t>）与已编辑的机器人问题相关度较高的优先推荐，如与已有机器人问题最大匹配单词数较大与最小编辑距离在推荐范围内的，控制推荐数量。（参数可配置）</a:t>
            </a:r>
          </a:p>
          <a:p>
            <a:r>
              <a:rPr lang="zh-CN" altLang="en-US">
                <a:latin typeface="宋体" panose="02010600030101010101" pitchFamily="2" charset="-122"/>
                <a:ea typeface="宋体" panose="02010600030101010101" pitchFamily="2" charset="-122"/>
                <a:cs typeface="宋体" panose="02010600030101010101" pitchFamily="2" charset="-122"/>
                <a:sym typeface="+mn-ea"/>
              </a:rPr>
              <a:t>（</a:t>
            </a:r>
            <a:r>
              <a:rPr lang="en-US" altLang="zh-CN">
                <a:latin typeface="宋体" panose="02010600030101010101" pitchFamily="2" charset="-122"/>
                <a:ea typeface="宋体" panose="02010600030101010101" pitchFamily="2" charset="-122"/>
                <a:cs typeface="宋体" panose="02010600030101010101" pitchFamily="2" charset="-122"/>
                <a:sym typeface="+mn-ea"/>
              </a:rPr>
              <a:t>4</a:t>
            </a:r>
            <a:r>
              <a:rPr lang="zh-CN" altLang="en-US">
                <a:latin typeface="宋体" panose="02010600030101010101" pitchFamily="2" charset="-122"/>
                <a:ea typeface="宋体" panose="02010600030101010101" pitchFamily="2" charset="-122"/>
                <a:cs typeface="宋体" panose="02010600030101010101" pitchFamily="2" charset="-122"/>
                <a:sym typeface="+mn-ea"/>
              </a:rPr>
              <a:t>）对问题进行文本分类。（分类类别来自搜狗词库）</a:t>
            </a:r>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页脚占位符 3"/>
          <p:cNvSpPr>
            <a:spLocks noGrp="1"/>
          </p:cNvSpPr>
          <p:nvPr>
            <p:ph type="ftr" sz="quarter" idx="11"/>
          </p:nvPr>
        </p:nvSpPr>
        <p:spPr/>
        <p:txBody>
          <a:bodyPr/>
          <a:lstStyle/>
          <a:p>
            <a:pPr>
              <a:defRPr/>
            </a:pPr>
            <a:r>
              <a:rPr lang="en-US" altLang="zh-CN"/>
              <a:t>Company Logo</a:t>
            </a:r>
          </a:p>
        </p:txBody>
      </p:sp>
      <p:sp>
        <p:nvSpPr>
          <p:cNvPr id="21507" name="Rectangle 2"/>
          <p:cNvSpPr>
            <a:spLocks noGrp="1" noChangeArrowheads="1"/>
          </p:cNvSpPr>
          <p:nvPr>
            <p:ph type="title"/>
          </p:nvPr>
        </p:nvSpPr>
        <p:spPr/>
        <p:txBody>
          <a:bodyPr/>
          <a:lstStyle/>
          <a:p>
            <a:pPr eaLnBrk="1" hangingPunct="1"/>
            <a:r>
              <a:rPr lang="zh-CN" altLang="en-US" dirty="0">
                <a:solidFill>
                  <a:srgbClr val="000000"/>
                </a:solidFill>
                <a:ea typeface="宋体" panose="02010600030101010101" pitchFamily="2" charset="-122"/>
                <a:sym typeface="+mn-ea"/>
              </a:rPr>
              <a:t>技术关键点</a:t>
            </a:r>
            <a:r>
              <a:rPr lang="en-US" altLang="zh-CN" dirty="0">
                <a:solidFill>
                  <a:srgbClr val="000000"/>
                </a:solidFill>
                <a:ea typeface="宋体" panose="02010600030101010101" pitchFamily="2" charset="-122"/>
                <a:sym typeface="+mn-ea"/>
              </a:rPr>
              <a:t>--</a:t>
            </a:r>
            <a:r>
              <a:rPr lang="zh-CN" altLang="en-US" dirty="0">
                <a:solidFill>
                  <a:srgbClr val="000000"/>
                </a:solidFill>
                <a:ea typeface="宋体" panose="02010600030101010101" pitchFamily="2" charset="-122"/>
                <a:sym typeface="+mn-ea"/>
              </a:rPr>
              <a:t>功能测试工具</a:t>
            </a:r>
            <a:endParaRPr lang="zh-CN" altLang="en-US" dirty="0" smtClean="0">
              <a:solidFill>
                <a:srgbClr val="000000"/>
              </a:solidFill>
              <a:ea typeface="宋体" panose="02010600030101010101" pitchFamily="2" charset="-122"/>
              <a:sym typeface="+mn-ea"/>
            </a:endParaRPr>
          </a:p>
        </p:txBody>
      </p:sp>
      <p:sp>
        <p:nvSpPr>
          <p:cNvPr id="6" name="文本框 5"/>
          <p:cNvSpPr txBox="1"/>
          <p:nvPr/>
        </p:nvSpPr>
        <p:spPr>
          <a:xfrm>
            <a:off x="676275" y="5499100"/>
            <a:ext cx="7640320" cy="645160"/>
          </a:xfrm>
          <a:prstGeom prst="rect">
            <a:avLst/>
          </a:prstGeom>
          <a:noFill/>
        </p:spPr>
        <p:txBody>
          <a:bodyPr wrap="square" rtlCol="0">
            <a:spAutoFit/>
          </a:bodyPr>
          <a:lstStyle/>
          <a:p>
            <a:r>
              <a:rPr lang="en-US" altLang="zh-CN"/>
              <a:t>js web</a:t>
            </a:r>
            <a:r>
              <a:rPr lang="zh-CN" altLang="en-US">
                <a:ea typeface="宋体" panose="02010600030101010101" pitchFamily="2" charset="-122"/>
              </a:rPr>
              <a:t>版功能测试工具。后台开发人员可以自己开发并测试功能点，无需编译，可以提高开发效率和提高测试质量。</a:t>
            </a:r>
          </a:p>
        </p:txBody>
      </p:sp>
      <p:pic>
        <p:nvPicPr>
          <p:cNvPr id="7" name="图片 6" descr="CS6E[$H___~FJKG6E4C4[NN"/>
          <p:cNvPicPr>
            <a:picLocks noChangeAspect="1"/>
          </p:cNvPicPr>
          <p:nvPr/>
        </p:nvPicPr>
        <p:blipFill>
          <a:blip r:embed="rId2" cstate="print"/>
          <a:stretch>
            <a:fillRect/>
          </a:stretch>
        </p:blipFill>
        <p:spPr>
          <a:xfrm>
            <a:off x="763270" y="1333500"/>
            <a:ext cx="7042785" cy="384429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页脚占位符 3"/>
          <p:cNvSpPr>
            <a:spLocks noGrp="1"/>
          </p:cNvSpPr>
          <p:nvPr>
            <p:ph type="ftr" sz="quarter" idx="11"/>
          </p:nvPr>
        </p:nvSpPr>
        <p:spPr/>
        <p:txBody>
          <a:bodyPr/>
          <a:lstStyle/>
          <a:p>
            <a:pPr>
              <a:defRPr/>
            </a:pPr>
            <a:r>
              <a:rPr lang="en-US" altLang="zh-CN"/>
              <a:t>Company Logo</a:t>
            </a:r>
          </a:p>
        </p:txBody>
      </p:sp>
      <p:sp>
        <p:nvSpPr>
          <p:cNvPr id="21507" name="Rectangle 2"/>
          <p:cNvSpPr>
            <a:spLocks noGrp="1" noChangeArrowheads="1"/>
          </p:cNvSpPr>
          <p:nvPr>
            <p:ph type="title"/>
          </p:nvPr>
        </p:nvSpPr>
        <p:spPr/>
        <p:txBody>
          <a:bodyPr/>
          <a:lstStyle/>
          <a:p>
            <a:pPr eaLnBrk="1" hangingPunct="1"/>
            <a:r>
              <a:rPr lang="zh-CN" altLang="en-US" dirty="0">
                <a:solidFill>
                  <a:srgbClr val="000000"/>
                </a:solidFill>
                <a:ea typeface="宋体" panose="02010600030101010101" pitchFamily="2" charset="-122"/>
                <a:sym typeface="+mn-ea"/>
              </a:rPr>
              <a:t>未来规划</a:t>
            </a:r>
            <a:r>
              <a:rPr lang="en-US" altLang="zh-CN" dirty="0">
                <a:solidFill>
                  <a:srgbClr val="000000"/>
                </a:solidFill>
                <a:ea typeface="宋体" panose="02010600030101010101" pitchFamily="2" charset="-122"/>
                <a:sym typeface="+mn-ea"/>
              </a:rPr>
              <a:t>--</a:t>
            </a:r>
            <a:r>
              <a:rPr lang="zh-CN" altLang="zh-CN" dirty="0">
                <a:solidFill>
                  <a:srgbClr val="000000"/>
                </a:solidFill>
                <a:ea typeface="宋体" panose="02010600030101010101" pitchFamily="2" charset="-122"/>
                <a:sym typeface="+mn-ea"/>
              </a:rPr>
              <a:t>文件服务器分布式部署和代理处理</a:t>
            </a:r>
            <a:endParaRPr lang="zh-CN" altLang="zh-CN" dirty="0" smtClean="0">
              <a:solidFill>
                <a:srgbClr val="000000"/>
              </a:solidFill>
              <a:ea typeface="宋体" panose="02010600030101010101" pitchFamily="2" charset="-122"/>
              <a:sym typeface="+mn-ea"/>
            </a:endParaRPr>
          </a:p>
        </p:txBody>
      </p:sp>
      <p:graphicFrame>
        <p:nvGraphicFramePr>
          <p:cNvPr id="4" name="对象 3"/>
          <p:cNvGraphicFramePr>
            <a:graphicFrameLocks/>
          </p:cNvGraphicFramePr>
          <p:nvPr/>
        </p:nvGraphicFramePr>
        <p:xfrm>
          <a:off x="108585" y="1121410"/>
          <a:ext cx="5412105" cy="3289300"/>
        </p:xfrm>
        <a:graphic>
          <a:graphicData uri="http://schemas.openxmlformats.org/presentationml/2006/ole">
            <p:oleObj spid="_x0000_s57345" r:id="rId3" imgW="5363219" imgH="3923100" progId="">
              <p:embed/>
            </p:oleObj>
          </a:graphicData>
        </a:graphic>
      </p:graphicFrame>
      <p:sp>
        <p:nvSpPr>
          <p:cNvPr id="6" name="文本框 5"/>
          <p:cNvSpPr txBox="1"/>
          <p:nvPr/>
        </p:nvSpPr>
        <p:spPr>
          <a:xfrm>
            <a:off x="905510" y="5541010"/>
            <a:ext cx="7553960" cy="922020"/>
          </a:xfrm>
          <a:prstGeom prst="rect">
            <a:avLst/>
          </a:prstGeom>
          <a:noFill/>
        </p:spPr>
        <p:txBody>
          <a:bodyPr wrap="square" rtlCol="0">
            <a:spAutoFit/>
          </a:bodyPr>
          <a:lstStyle/>
          <a:p>
            <a:r>
              <a:rPr lang="zh-CN" altLang="en-US"/>
              <a:t>上传和下载由</a:t>
            </a:r>
            <a:r>
              <a:rPr lang="en-US" altLang="zh-CN"/>
              <a:t>tracker</a:t>
            </a:r>
            <a:r>
              <a:rPr lang="zh-CN" altLang="en-US">
                <a:ea typeface="宋体" panose="02010600030101010101" pitchFamily="2" charset="-122"/>
              </a:rPr>
              <a:t>获取访问存储</a:t>
            </a:r>
            <a:r>
              <a:rPr lang="zh-CN" altLang="en-US"/>
              <a:t>，</a:t>
            </a:r>
            <a:r>
              <a:rPr lang="en-US" altLang="zh-CN"/>
              <a:t>tracker</a:t>
            </a:r>
            <a:r>
              <a:rPr lang="zh-CN" altLang="en-US">
                <a:ea typeface="宋体" panose="02010600030101010101" pitchFamily="2" charset="-122"/>
              </a:rPr>
              <a:t>可根据文件</a:t>
            </a:r>
            <a:r>
              <a:rPr lang="en-US" altLang="zh-CN">
                <a:ea typeface="宋体" panose="02010600030101010101" pitchFamily="2" charset="-122"/>
              </a:rPr>
              <a:t>ID</a:t>
            </a:r>
            <a:r>
              <a:rPr lang="zh-CN" altLang="en-US">
                <a:ea typeface="宋体" panose="02010600030101010101" pitchFamily="2" charset="-122"/>
              </a:rPr>
              <a:t>分片处理，</a:t>
            </a:r>
            <a:r>
              <a:rPr lang="en-US" altLang="zh-CN">
                <a:ea typeface="宋体" panose="02010600030101010101" pitchFamily="2" charset="-122"/>
              </a:rPr>
              <a:t>storage</a:t>
            </a:r>
            <a:r>
              <a:rPr lang="zh-CN" altLang="en-US">
                <a:ea typeface="宋体" panose="02010600030101010101" pitchFamily="2" charset="-122"/>
              </a:rPr>
              <a:t>支持数据同步</a:t>
            </a:r>
            <a:r>
              <a:rPr lang="zh-CN" altLang="en-US"/>
              <a:t>。</a:t>
            </a:r>
          </a:p>
          <a:p>
            <a:r>
              <a:rPr lang="zh-CN" altLang="en-US"/>
              <a:t>一般需要部署双机热备份，可拓展多机。</a:t>
            </a:r>
          </a:p>
        </p:txBody>
      </p:sp>
      <p:pic>
        <p:nvPicPr>
          <p:cNvPr id="7" name="图片 6" descr="IMG_256"/>
          <p:cNvPicPr>
            <a:picLocks noChangeAspect="1"/>
          </p:cNvPicPr>
          <p:nvPr/>
        </p:nvPicPr>
        <p:blipFill>
          <a:blip r:embed="rId4" cstate="print"/>
          <a:stretch>
            <a:fillRect/>
          </a:stretch>
        </p:blipFill>
        <p:spPr>
          <a:xfrm>
            <a:off x="5932805" y="1406525"/>
            <a:ext cx="2982595" cy="2719070"/>
          </a:xfrm>
          <a:prstGeom prst="rect">
            <a:avLst/>
          </a:prstGeom>
          <a:noFill/>
          <a:ln w="9525">
            <a:noFill/>
          </a:ln>
        </p:spPr>
      </p:pic>
      <p:pic>
        <p:nvPicPr>
          <p:cNvPr id="8" name="图片 3" descr="IMG_257"/>
          <p:cNvPicPr>
            <a:picLocks noChangeAspect="1"/>
          </p:cNvPicPr>
          <p:nvPr/>
        </p:nvPicPr>
        <p:blipFill>
          <a:blip r:embed="rId5" cstate="print"/>
          <a:stretch>
            <a:fillRect/>
          </a:stretch>
        </p:blipFill>
        <p:spPr>
          <a:xfrm>
            <a:off x="2367280" y="4700270"/>
            <a:ext cx="4364990" cy="669290"/>
          </a:xfrm>
          <a:prstGeom prst="rect">
            <a:avLst/>
          </a:prstGeom>
          <a:noFill/>
          <a:ln w="9525">
            <a:noFill/>
          </a:ln>
        </p:spPr>
      </p:pic>
      <p:sp>
        <p:nvSpPr>
          <p:cNvPr id="2" name="文本框 1"/>
          <p:cNvSpPr txBox="1"/>
          <p:nvPr/>
        </p:nvSpPr>
        <p:spPr>
          <a:xfrm>
            <a:off x="438785" y="5002530"/>
            <a:ext cx="1540510" cy="368300"/>
          </a:xfrm>
          <a:prstGeom prst="rect">
            <a:avLst/>
          </a:prstGeom>
          <a:noFill/>
        </p:spPr>
        <p:txBody>
          <a:bodyPr wrap="square" rtlCol="0">
            <a:spAutoFit/>
          </a:bodyPr>
          <a:lstStyle/>
          <a:p>
            <a:r>
              <a:rPr lang="zh-CN" altLang="en-US"/>
              <a:t>生成文件</a:t>
            </a:r>
            <a:r>
              <a:rPr lang="en-US" altLang="zh-CN"/>
              <a:t>ID</a:t>
            </a:r>
          </a:p>
        </p:txBody>
      </p:sp>
      <p:sp>
        <p:nvSpPr>
          <p:cNvPr id="9" name="文本框 8"/>
          <p:cNvSpPr txBox="1"/>
          <p:nvPr/>
        </p:nvSpPr>
        <p:spPr>
          <a:xfrm>
            <a:off x="52070" y="4125595"/>
            <a:ext cx="1540510" cy="368300"/>
          </a:xfrm>
          <a:prstGeom prst="rect">
            <a:avLst/>
          </a:prstGeom>
          <a:noFill/>
        </p:spPr>
        <p:txBody>
          <a:bodyPr wrap="square" rtlCol="0">
            <a:spAutoFit/>
          </a:bodyPr>
          <a:lstStyle/>
          <a:p>
            <a:r>
              <a:rPr lang="zh-CN" altLang="zh-CN">
                <a:ea typeface="宋体" panose="02010600030101010101" pitchFamily="2" charset="-122"/>
              </a:rPr>
              <a:t>双机拓展</a:t>
            </a:r>
          </a:p>
        </p:txBody>
      </p:sp>
      <p:sp>
        <p:nvSpPr>
          <p:cNvPr id="10" name="文本框 9"/>
          <p:cNvSpPr txBox="1"/>
          <p:nvPr/>
        </p:nvSpPr>
        <p:spPr>
          <a:xfrm>
            <a:off x="6612890" y="4125595"/>
            <a:ext cx="1540510" cy="368300"/>
          </a:xfrm>
          <a:prstGeom prst="rect">
            <a:avLst/>
          </a:prstGeom>
          <a:noFill/>
        </p:spPr>
        <p:txBody>
          <a:bodyPr wrap="square" rtlCol="0">
            <a:spAutoFit/>
          </a:bodyPr>
          <a:lstStyle/>
          <a:p>
            <a:r>
              <a:rPr lang="zh-CN" altLang="zh-CN">
                <a:ea typeface="宋体" panose="02010600030101010101" pitchFamily="2" charset="-122"/>
              </a:rPr>
              <a:t>多机拓展</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页脚占位符 3"/>
          <p:cNvSpPr>
            <a:spLocks noGrp="1"/>
          </p:cNvSpPr>
          <p:nvPr>
            <p:ph type="ftr" sz="quarter" idx="11"/>
          </p:nvPr>
        </p:nvSpPr>
        <p:spPr/>
        <p:txBody>
          <a:bodyPr/>
          <a:lstStyle/>
          <a:p>
            <a:pPr>
              <a:defRPr/>
            </a:pPr>
            <a:r>
              <a:rPr lang="en-US" altLang="zh-CN"/>
              <a:t>Company Logo</a:t>
            </a:r>
          </a:p>
        </p:txBody>
      </p:sp>
      <p:sp>
        <p:nvSpPr>
          <p:cNvPr id="21507" name="Rectangle 2"/>
          <p:cNvSpPr>
            <a:spLocks noGrp="1" noChangeArrowheads="1"/>
          </p:cNvSpPr>
          <p:nvPr>
            <p:ph type="title"/>
          </p:nvPr>
        </p:nvSpPr>
        <p:spPr/>
        <p:txBody>
          <a:bodyPr/>
          <a:lstStyle/>
          <a:p>
            <a:pPr eaLnBrk="1" hangingPunct="1"/>
            <a:r>
              <a:rPr lang="zh-CN" altLang="en-US">
                <a:solidFill>
                  <a:srgbClr val="000000"/>
                </a:solidFill>
                <a:ea typeface="宋体" panose="02010600030101010101" pitchFamily="2" charset="-122"/>
                <a:sym typeface="+mn-ea"/>
              </a:rPr>
              <a:t>未来规划</a:t>
            </a:r>
            <a:r>
              <a:rPr lang="en-US" altLang="zh-CN">
                <a:solidFill>
                  <a:srgbClr val="000000"/>
                </a:solidFill>
                <a:ea typeface="宋体" panose="02010600030101010101" pitchFamily="2" charset="-122"/>
                <a:sym typeface="+mn-ea"/>
              </a:rPr>
              <a:t>--ES</a:t>
            </a:r>
            <a:r>
              <a:rPr lang="zh-CN" altLang="en-US">
                <a:solidFill>
                  <a:srgbClr val="000000"/>
                </a:solidFill>
                <a:ea typeface="宋体" panose="02010600030101010101" pitchFamily="2" charset="-122"/>
                <a:sym typeface="+mn-ea"/>
              </a:rPr>
              <a:t>分布式分片</a:t>
            </a:r>
            <a:r>
              <a:rPr lang="zh-CN" altLang="zh-CN">
                <a:solidFill>
                  <a:srgbClr val="000000"/>
                </a:solidFill>
                <a:ea typeface="宋体" panose="02010600030101010101" pitchFamily="2" charset="-122"/>
                <a:sym typeface="+mn-ea"/>
              </a:rPr>
              <a:t>部署和代理处理</a:t>
            </a:r>
            <a:endParaRPr lang="zh-CN" altLang="zh-CN" smtClean="0">
              <a:solidFill>
                <a:srgbClr val="000000"/>
              </a:solidFill>
              <a:ea typeface="宋体" panose="02010600030101010101" pitchFamily="2" charset="-122"/>
              <a:sym typeface="+mn-ea"/>
            </a:endParaRPr>
          </a:p>
        </p:txBody>
      </p:sp>
      <p:graphicFrame>
        <p:nvGraphicFramePr>
          <p:cNvPr id="2" name="对象 1"/>
          <p:cNvGraphicFramePr>
            <a:graphicFrameLocks/>
          </p:cNvGraphicFramePr>
          <p:nvPr/>
        </p:nvGraphicFramePr>
        <p:xfrm>
          <a:off x="874395" y="1419225"/>
          <a:ext cx="4167505" cy="2907030"/>
        </p:xfrm>
        <a:graphic>
          <a:graphicData uri="http://schemas.openxmlformats.org/presentationml/2006/ole">
            <p:oleObj spid="_x0000_s62465" r:id="rId3" imgW="4193274" imgH="2933280" progId="">
              <p:embed/>
            </p:oleObj>
          </a:graphicData>
        </a:graphic>
      </p:graphicFrame>
      <p:sp>
        <p:nvSpPr>
          <p:cNvPr id="6" name="文本框 5"/>
          <p:cNvSpPr txBox="1"/>
          <p:nvPr/>
        </p:nvSpPr>
        <p:spPr>
          <a:xfrm>
            <a:off x="587375" y="4636770"/>
            <a:ext cx="7553960" cy="1753235"/>
          </a:xfrm>
          <a:prstGeom prst="rect">
            <a:avLst/>
          </a:prstGeom>
          <a:noFill/>
        </p:spPr>
        <p:txBody>
          <a:bodyPr wrap="square" rtlCol="0">
            <a:spAutoFit/>
          </a:bodyPr>
          <a:lstStyle/>
          <a:p>
            <a:r>
              <a:rPr lang="zh-CN" altLang="en-US" dirty="0"/>
              <a:t>主分片需要分布在不同物理机。每个主分片对应至少有一个副本分片，需要被分配到别的物理机。</a:t>
            </a:r>
          </a:p>
          <a:p>
            <a:endParaRPr lang="zh-CN" altLang="en-US" dirty="0"/>
          </a:p>
          <a:p>
            <a:r>
              <a:rPr lang="zh-CN" altLang="en-US" dirty="0"/>
              <a:t>代理需要增加分片选择功能。如可</a:t>
            </a:r>
            <a:r>
              <a:rPr lang="zh-CN" altLang="en-US" dirty="0">
                <a:sym typeface="+mn-ea"/>
              </a:rPr>
              <a:t>根据</a:t>
            </a:r>
            <a:r>
              <a:rPr lang="en-US" altLang="zh-CN" dirty="0">
                <a:sym typeface="+mn-ea"/>
              </a:rPr>
              <a:t>http</a:t>
            </a:r>
            <a:r>
              <a:rPr lang="zh-CN" altLang="en-US" dirty="0">
                <a:ea typeface="宋体" panose="02010600030101010101" pitchFamily="2" charset="-122"/>
                <a:sym typeface="+mn-ea"/>
              </a:rPr>
              <a:t>的</a:t>
            </a:r>
            <a:r>
              <a:rPr lang="en-US" altLang="zh-CN" dirty="0">
                <a:ea typeface="宋体" panose="02010600030101010101" pitchFamily="2" charset="-122"/>
                <a:sym typeface="+mn-ea"/>
              </a:rPr>
              <a:t>url</a:t>
            </a:r>
            <a:r>
              <a:rPr lang="zh-CN" altLang="en-US" dirty="0">
                <a:ea typeface="宋体" panose="02010600030101010101" pitchFamily="2" charset="-122"/>
                <a:sym typeface="+mn-ea"/>
              </a:rPr>
              <a:t>的</a:t>
            </a:r>
            <a:r>
              <a:rPr lang="en-US" altLang="zh-CN" dirty="0">
                <a:ea typeface="宋体" panose="02010600030101010101" pitchFamily="2" charset="-122"/>
                <a:sym typeface="+mn-ea"/>
              </a:rPr>
              <a:t>routing</a:t>
            </a:r>
            <a:r>
              <a:rPr lang="zh-CN" altLang="en-US" dirty="0">
                <a:ea typeface="宋体" panose="02010600030101010101" pitchFamily="2" charset="-122"/>
                <a:sym typeface="+mn-ea"/>
              </a:rPr>
              <a:t>字段选择分片</a:t>
            </a:r>
            <a:r>
              <a:rPr lang="zh-CN" altLang="en-US" dirty="0">
                <a:sym typeface="+mn-ea"/>
              </a:rPr>
              <a:t>。</a:t>
            </a:r>
            <a:endParaRPr lang="zh-CN" altLang="en-US" dirty="0"/>
          </a:p>
          <a:p>
            <a:endParaRPr lang="zh-CN" altLang="en-US" dirty="0"/>
          </a:p>
          <a:p>
            <a:endParaRPr lang="zh-CN" altLang="en-US" dirty="0"/>
          </a:p>
        </p:txBody>
      </p:sp>
      <p:sp>
        <p:nvSpPr>
          <p:cNvPr id="5" name="文本框 4"/>
          <p:cNvSpPr txBox="1"/>
          <p:nvPr/>
        </p:nvSpPr>
        <p:spPr>
          <a:xfrm>
            <a:off x="5326380" y="2983230"/>
            <a:ext cx="1836420" cy="645160"/>
          </a:xfrm>
          <a:prstGeom prst="rect">
            <a:avLst/>
          </a:prstGeom>
          <a:noFill/>
        </p:spPr>
        <p:txBody>
          <a:bodyPr wrap="square" rtlCol="0">
            <a:spAutoFit/>
          </a:bodyPr>
          <a:lstStyle/>
          <a:p>
            <a:r>
              <a:rPr lang="zh-CN" altLang="en-US"/>
              <a:t>双机拓展</a:t>
            </a:r>
          </a:p>
          <a:p>
            <a:r>
              <a:rPr lang="zh-CN" altLang="en-US"/>
              <a:t>可拓展多机</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页脚占位符 3"/>
          <p:cNvSpPr>
            <a:spLocks noGrp="1"/>
          </p:cNvSpPr>
          <p:nvPr>
            <p:ph type="ftr" sz="quarter" idx="11"/>
          </p:nvPr>
        </p:nvSpPr>
        <p:spPr/>
        <p:txBody>
          <a:bodyPr/>
          <a:lstStyle/>
          <a:p>
            <a:pPr>
              <a:defRPr/>
            </a:pPr>
            <a:r>
              <a:rPr lang="en-US" altLang="zh-CN"/>
              <a:t>Company Logo</a:t>
            </a:r>
          </a:p>
        </p:txBody>
      </p:sp>
      <p:sp>
        <p:nvSpPr>
          <p:cNvPr id="21507" name="Rectangle 2"/>
          <p:cNvSpPr>
            <a:spLocks noGrp="1" noChangeArrowheads="1"/>
          </p:cNvSpPr>
          <p:nvPr>
            <p:ph type="title"/>
          </p:nvPr>
        </p:nvSpPr>
        <p:spPr/>
        <p:txBody>
          <a:bodyPr/>
          <a:lstStyle/>
          <a:p>
            <a:pPr eaLnBrk="1" hangingPunct="1"/>
            <a:r>
              <a:rPr lang="zh-CN" altLang="en-US">
                <a:solidFill>
                  <a:srgbClr val="000000"/>
                </a:solidFill>
                <a:ea typeface="宋体" panose="02010600030101010101" pitchFamily="2" charset="-122"/>
                <a:sym typeface="+mn-ea"/>
              </a:rPr>
              <a:t>未来规划</a:t>
            </a:r>
            <a:r>
              <a:rPr lang="en-US" altLang="zh-CN">
                <a:solidFill>
                  <a:srgbClr val="000000"/>
                </a:solidFill>
                <a:ea typeface="宋体" panose="02010600030101010101" pitchFamily="2" charset="-122"/>
                <a:sym typeface="+mn-ea"/>
              </a:rPr>
              <a:t>--</a:t>
            </a:r>
            <a:r>
              <a:rPr lang="zh-CN" altLang="en-US">
                <a:solidFill>
                  <a:srgbClr val="000000"/>
                </a:solidFill>
                <a:ea typeface="宋体" panose="02010600030101010101" pitchFamily="2" charset="-122"/>
                <a:sym typeface="+mn-ea"/>
              </a:rPr>
              <a:t>中文搜索引擎优化</a:t>
            </a:r>
            <a:endParaRPr lang="zh-CN" altLang="en-US" smtClean="0">
              <a:solidFill>
                <a:srgbClr val="000000"/>
              </a:solidFill>
              <a:ea typeface="宋体" panose="02010600030101010101" pitchFamily="2" charset="-122"/>
              <a:sym typeface="+mn-ea"/>
            </a:endParaRPr>
          </a:p>
        </p:txBody>
      </p:sp>
      <p:sp>
        <p:nvSpPr>
          <p:cNvPr id="2" name="文本框 1"/>
          <p:cNvSpPr txBox="1"/>
          <p:nvPr/>
        </p:nvSpPr>
        <p:spPr>
          <a:xfrm>
            <a:off x="658495" y="1201420"/>
            <a:ext cx="7780655" cy="645160"/>
          </a:xfrm>
          <a:prstGeom prst="rect">
            <a:avLst/>
          </a:prstGeom>
          <a:noFill/>
        </p:spPr>
        <p:txBody>
          <a:bodyPr wrap="square" rtlCol="0">
            <a:spAutoFit/>
          </a:bodyPr>
          <a:lstStyle/>
          <a:p>
            <a:r>
              <a:rPr lang="zh-CN" altLang="en-US" dirty="0">
                <a:solidFill>
                  <a:srgbClr val="000000"/>
                </a:solidFill>
                <a:ea typeface="宋体" panose="02010600030101010101" pitchFamily="2" charset="-122"/>
                <a:sym typeface="+mn-ea"/>
              </a:rPr>
              <a:t>准确率优化：</a:t>
            </a:r>
            <a:endParaRPr lang="zh-CN" altLang="en-US" dirty="0"/>
          </a:p>
          <a:p>
            <a:r>
              <a:rPr lang="zh-CN" altLang="en-US" dirty="0"/>
              <a:t>（</a:t>
            </a:r>
            <a:r>
              <a:rPr lang="en-US" altLang="zh-CN" dirty="0"/>
              <a:t>1</a:t>
            </a:r>
            <a:r>
              <a:rPr lang="zh-CN" altLang="en-US" dirty="0"/>
              <a:t>）词频匹配方案，增加词权重，如TF-IDF算法等。</a:t>
            </a:r>
            <a:r>
              <a:rPr lang="zh-CN" altLang="en-US" dirty="0">
                <a:sym typeface="+mn-ea"/>
              </a:rPr>
              <a:t>TF-IDF如下：</a:t>
            </a:r>
            <a:endParaRPr lang="zh-CN" altLang="en-US" dirty="0"/>
          </a:p>
        </p:txBody>
      </p:sp>
      <p:pic>
        <p:nvPicPr>
          <p:cNvPr id="7" name="图片 6" descr="IMG_262"/>
          <p:cNvPicPr>
            <a:picLocks noChangeAspect="1"/>
          </p:cNvPicPr>
          <p:nvPr/>
        </p:nvPicPr>
        <p:blipFill>
          <a:blip r:embed="rId2" cstate="print"/>
          <a:stretch>
            <a:fillRect/>
          </a:stretch>
        </p:blipFill>
        <p:spPr>
          <a:xfrm>
            <a:off x="771525" y="1932623"/>
            <a:ext cx="3877310" cy="479425"/>
          </a:xfrm>
          <a:prstGeom prst="rect">
            <a:avLst/>
          </a:prstGeom>
          <a:noFill/>
          <a:ln w="9525">
            <a:noFill/>
          </a:ln>
        </p:spPr>
      </p:pic>
      <p:pic>
        <p:nvPicPr>
          <p:cNvPr id="4" name="图片 3" descr="IMG_259"/>
          <p:cNvPicPr>
            <a:picLocks noChangeAspect="1"/>
          </p:cNvPicPr>
          <p:nvPr/>
        </p:nvPicPr>
        <p:blipFill>
          <a:blip r:embed="rId3" cstate="print"/>
          <a:stretch>
            <a:fillRect/>
          </a:stretch>
        </p:blipFill>
        <p:spPr>
          <a:xfrm>
            <a:off x="4785678" y="1846580"/>
            <a:ext cx="3239135" cy="913130"/>
          </a:xfrm>
          <a:prstGeom prst="rect">
            <a:avLst/>
          </a:prstGeom>
          <a:noFill/>
          <a:ln w="9525">
            <a:noFill/>
          </a:ln>
        </p:spPr>
      </p:pic>
      <p:pic>
        <p:nvPicPr>
          <p:cNvPr id="6" name="图片 5" descr="IMG_261"/>
          <p:cNvPicPr>
            <a:picLocks noChangeAspect="1"/>
          </p:cNvPicPr>
          <p:nvPr/>
        </p:nvPicPr>
        <p:blipFill>
          <a:blip r:embed="rId4" cstate="print"/>
          <a:stretch>
            <a:fillRect/>
          </a:stretch>
        </p:blipFill>
        <p:spPr>
          <a:xfrm>
            <a:off x="771525" y="2620645"/>
            <a:ext cx="3825240" cy="834390"/>
          </a:xfrm>
          <a:prstGeom prst="rect">
            <a:avLst/>
          </a:prstGeom>
          <a:noFill/>
          <a:ln w="9525">
            <a:noFill/>
          </a:ln>
        </p:spPr>
      </p:pic>
      <p:sp>
        <p:nvSpPr>
          <p:cNvPr id="5" name="文本框 4"/>
          <p:cNvSpPr txBox="1"/>
          <p:nvPr/>
        </p:nvSpPr>
        <p:spPr>
          <a:xfrm>
            <a:off x="658495" y="3455035"/>
            <a:ext cx="7071995" cy="369332"/>
          </a:xfrm>
          <a:prstGeom prst="rect">
            <a:avLst/>
          </a:prstGeom>
          <a:noFill/>
        </p:spPr>
        <p:txBody>
          <a:bodyPr wrap="square" rtlCol="0">
            <a:spAutoFit/>
          </a:bodyPr>
          <a:lstStyle/>
          <a:p>
            <a:r>
              <a:rPr lang="zh-CN" altLang="en-US" dirty="0"/>
              <a:t>目前已实现最大中文分词</a:t>
            </a:r>
            <a:r>
              <a:rPr lang="zh-CN" altLang="en-US" dirty="0" smtClean="0"/>
              <a:t>匹配（词组评分）和逆</a:t>
            </a:r>
            <a:r>
              <a:rPr lang="zh-CN" altLang="en-US" dirty="0"/>
              <a:t>文档</a:t>
            </a:r>
            <a:r>
              <a:rPr lang="zh-CN" altLang="en-US" dirty="0" smtClean="0"/>
              <a:t>率评分。</a:t>
            </a:r>
            <a:endParaRPr lang="zh-CN" altLang="en-US" dirty="0"/>
          </a:p>
        </p:txBody>
      </p:sp>
      <p:sp>
        <p:nvSpPr>
          <p:cNvPr id="8" name="文本框 7"/>
          <p:cNvSpPr txBox="1"/>
          <p:nvPr/>
        </p:nvSpPr>
        <p:spPr>
          <a:xfrm>
            <a:off x="699770" y="5233035"/>
            <a:ext cx="4862830" cy="645160"/>
          </a:xfrm>
          <a:prstGeom prst="rect">
            <a:avLst/>
          </a:prstGeom>
          <a:noFill/>
        </p:spPr>
        <p:txBody>
          <a:bodyPr wrap="square" rtlCol="0">
            <a:spAutoFit/>
          </a:bodyPr>
          <a:lstStyle/>
          <a:p>
            <a:r>
              <a:rPr lang="zh-CN" altLang="en-US">
                <a:solidFill>
                  <a:srgbClr val="000000"/>
                </a:solidFill>
                <a:ea typeface="宋体" panose="02010600030101010101" pitchFamily="2" charset="-122"/>
                <a:sym typeface="+mn-ea"/>
              </a:rPr>
              <a:t>知识库拓展：</a:t>
            </a:r>
            <a:endParaRPr lang="zh-CN" altLang="en-US">
              <a:sym typeface="+mn-ea"/>
            </a:endParaRPr>
          </a:p>
          <a:p>
            <a:r>
              <a:rPr lang="zh-CN" altLang="en-US">
                <a:sym typeface="+mn-ea"/>
              </a:rPr>
              <a:t>（</a:t>
            </a:r>
            <a:r>
              <a:rPr lang="en-US" altLang="zh-CN">
                <a:sym typeface="+mn-ea"/>
              </a:rPr>
              <a:t>1</a:t>
            </a:r>
            <a:r>
              <a:rPr lang="zh-CN" altLang="en-US">
                <a:sym typeface="+mn-ea"/>
              </a:rPr>
              <a:t>）</a:t>
            </a:r>
            <a:r>
              <a:rPr lang="zh-CN" altLang="en-US"/>
              <a:t>机器人知识库拓展，增加闲聊库。</a:t>
            </a:r>
          </a:p>
        </p:txBody>
      </p:sp>
      <p:sp>
        <p:nvSpPr>
          <p:cNvPr id="9" name="文本框 8"/>
          <p:cNvSpPr txBox="1"/>
          <p:nvPr/>
        </p:nvSpPr>
        <p:spPr>
          <a:xfrm>
            <a:off x="771525" y="4281805"/>
            <a:ext cx="7778115" cy="368300"/>
          </a:xfrm>
          <a:prstGeom prst="rect">
            <a:avLst/>
          </a:prstGeom>
          <a:noFill/>
        </p:spPr>
        <p:txBody>
          <a:bodyPr wrap="square" rtlCol="0">
            <a:spAutoFit/>
          </a:bodyPr>
          <a:lstStyle/>
          <a:p>
            <a:r>
              <a:rPr lang="zh-CN" altLang="en-US"/>
              <a:t>（</a:t>
            </a:r>
            <a:r>
              <a:rPr lang="en-US" altLang="zh-CN"/>
              <a:t>2</a:t>
            </a:r>
            <a:r>
              <a:rPr lang="zh-CN" altLang="en-US"/>
              <a:t>）测试自然语言处理的语法分析，如中文依存句法分析等方案的准确率。</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页脚占位符 3"/>
          <p:cNvSpPr>
            <a:spLocks noGrp="1"/>
          </p:cNvSpPr>
          <p:nvPr>
            <p:ph type="ftr" sz="quarter" idx="11"/>
          </p:nvPr>
        </p:nvSpPr>
        <p:spPr/>
        <p:txBody>
          <a:bodyPr/>
          <a:lstStyle/>
          <a:p>
            <a:pPr>
              <a:defRPr/>
            </a:pPr>
            <a:r>
              <a:rPr lang="en-US" altLang="zh-CN"/>
              <a:t>Company Logo</a:t>
            </a:r>
          </a:p>
        </p:txBody>
      </p:sp>
      <p:sp>
        <p:nvSpPr>
          <p:cNvPr id="21507" name="Rectangle 2"/>
          <p:cNvSpPr>
            <a:spLocks noGrp="1" noChangeArrowheads="1"/>
          </p:cNvSpPr>
          <p:nvPr>
            <p:ph type="title"/>
          </p:nvPr>
        </p:nvSpPr>
        <p:spPr/>
        <p:txBody>
          <a:bodyPr/>
          <a:lstStyle/>
          <a:p>
            <a:pPr eaLnBrk="1" hangingPunct="1"/>
            <a:r>
              <a:rPr lang="zh-CN" altLang="en-US" dirty="0">
                <a:solidFill>
                  <a:srgbClr val="000000"/>
                </a:solidFill>
                <a:ea typeface="宋体" panose="02010600030101010101" pitchFamily="2" charset="-122"/>
                <a:sym typeface="+mn-ea"/>
              </a:rPr>
              <a:t>未来规划</a:t>
            </a:r>
            <a:r>
              <a:rPr lang="en-US" altLang="zh-CN" dirty="0">
                <a:solidFill>
                  <a:srgbClr val="000000"/>
                </a:solidFill>
                <a:ea typeface="宋体" panose="02010600030101010101" pitchFamily="2" charset="-122"/>
                <a:sym typeface="+mn-ea"/>
              </a:rPr>
              <a:t>--</a:t>
            </a:r>
            <a:r>
              <a:rPr lang="zh-CN" altLang="zh-CN" dirty="0">
                <a:solidFill>
                  <a:srgbClr val="000000"/>
                </a:solidFill>
                <a:ea typeface="宋体" panose="02010600030101010101" pitchFamily="2" charset="-122"/>
                <a:sym typeface="+mn-ea"/>
              </a:rPr>
              <a:t>智能问题推荐引擎准确率优化</a:t>
            </a:r>
            <a:endParaRPr lang="zh-CN" altLang="zh-CN" dirty="0" smtClean="0">
              <a:solidFill>
                <a:srgbClr val="000000"/>
              </a:solidFill>
              <a:ea typeface="宋体" panose="02010600030101010101" pitchFamily="2" charset="-122"/>
              <a:sym typeface="+mn-ea"/>
            </a:endParaRPr>
          </a:p>
        </p:txBody>
      </p:sp>
      <p:sp>
        <p:nvSpPr>
          <p:cNvPr id="2" name="文本框 1"/>
          <p:cNvSpPr txBox="1"/>
          <p:nvPr/>
        </p:nvSpPr>
        <p:spPr>
          <a:xfrm>
            <a:off x="456565" y="1563370"/>
            <a:ext cx="7542530" cy="4246245"/>
          </a:xfrm>
          <a:prstGeom prst="rect">
            <a:avLst/>
          </a:prstGeom>
          <a:noFill/>
        </p:spPr>
        <p:txBody>
          <a:bodyPr wrap="square" rtlCol="0">
            <a:spAutoFit/>
          </a:bodyPr>
          <a:lstStyle/>
          <a:p>
            <a:r>
              <a:rPr lang="zh-CN" altLang="en-US" dirty="0"/>
              <a:t>优化过滤规则：</a:t>
            </a:r>
          </a:p>
          <a:p>
            <a:r>
              <a:rPr lang="zh-CN" altLang="en-US" dirty="0"/>
              <a:t>基于访客消息与机器人问题协同过滤的条件，如控制需要匹配的关键词数，需求会话的类型等。</a:t>
            </a:r>
          </a:p>
          <a:p>
            <a:endParaRPr lang="zh-CN" altLang="en-US" dirty="0"/>
          </a:p>
          <a:p>
            <a:r>
              <a:rPr lang="zh-CN" altLang="en-US" dirty="0"/>
              <a:t>优化推荐排序优先级：</a:t>
            </a:r>
          </a:p>
          <a:p>
            <a:r>
              <a:rPr lang="zh-CN" altLang="en-US" dirty="0">
                <a:sym typeface="+mn-ea"/>
              </a:rPr>
              <a:t>TF-IDF算法</a:t>
            </a:r>
          </a:p>
          <a:p>
            <a:endParaRPr lang="zh-CN" altLang="en-US" dirty="0"/>
          </a:p>
          <a:p>
            <a:r>
              <a:rPr lang="zh-CN" altLang="en-US" dirty="0">
                <a:sym typeface="+mn-ea"/>
              </a:rPr>
              <a:t>优化提取消息内容：</a:t>
            </a:r>
          </a:p>
          <a:p>
            <a:r>
              <a:rPr lang="zh-CN" altLang="en-US" dirty="0">
                <a:sym typeface="+mn-ea"/>
              </a:rPr>
              <a:t>基于词频统计的自动摘要算法</a:t>
            </a:r>
          </a:p>
          <a:p>
            <a:r>
              <a:rPr lang="zh-CN" altLang="en-US" dirty="0">
                <a:sym typeface="+mn-ea"/>
              </a:rPr>
              <a:t>句子的信息量用"关键词"来衡量。如果包含的关键词越多，就说明这个句子越重要。对消息划分句子。句子的重要性 </a:t>
            </a:r>
            <a:r>
              <a:rPr lang="en-US" altLang="zh-CN" dirty="0">
                <a:sym typeface="+mn-ea"/>
              </a:rPr>
              <a:t>= </a:t>
            </a:r>
            <a:r>
              <a:rPr lang="zh-CN" altLang="en-US" dirty="0">
                <a:ea typeface="宋体" panose="02010600030101010101" pitchFamily="2" charset="-122"/>
                <a:sym typeface="+mn-ea"/>
              </a:rPr>
              <a:t>（包含关键词数量）的平方</a:t>
            </a:r>
            <a:r>
              <a:rPr lang="en-US" altLang="zh-CN" dirty="0">
                <a:ea typeface="宋体" panose="02010600030101010101" pitchFamily="2" charset="-122"/>
                <a:sym typeface="+mn-ea"/>
              </a:rPr>
              <a:t>/</a:t>
            </a:r>
            <a:r>
              <a:rPr lang="zh-CN" altLang="en-US" dirty="0">
                <a:ea typeface="宋体" panose="02010600030101010101" pitchFamily="2" charset="-122"/>
                <a:sym typeface="+mn-ea"/>
              </a:rPr>
              <a:t>句子的长度。</a:t>
            </a:r>
            <a:r>
              <a:rPr lang="zh-CN" altLang="en-US" dirty="0">
                <a:sym typeface="+mn-ea"/>
              </a:rPr>
              <a:t>只有重要性达到配置值的句子才作为推荐的内容。</a:t>
            </a:r>
          </a:p>
          <a:p>
            <a:endParaRPr lang="zh-CN" altLang="en-US" dirty="0">
              <a:sym typeface="+mn-ea"/>
            </a:endParaRPr>
          </a:p>
          <a:p>
            <a:r>
              <a:rPr lang="zh-CN" altLang="en-US" dirty="0">
                <a:sym typeface="+mn-ea"/>
              </a:rPr>
              <a:t>提供推荐理由说明：</a:t>
            </a:r>
          </a:p>
          <a:p>
            <a:r>
              <a:rPr lang="zh-CN" altLang="en-US" dirty="0">
                <a:sym typeface="+mn-ea"/>
              </a:rPr>
              <a:t>推荐理由来自于过滤的规则等。</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页脚占位符 3"/>
          <p:cNvSpPr>
            <a:spLocks noGrp="1"/>
          </p:cNvSpPr>
          <p:nvPr>
            <p:ph type="ftr" sz="quarter" idx="11"/>
          </p:nvPr>
        </p:nvSpPr>
        <p:spPr/>
        <p:txBody>
          <a:bodyPr/>
          <a:lstStyle/>
          <a:p>
            <a:pPr>
              <a:defRPr/>
            </a:pPr>
            <a:r>
              <a:rPr lang="en-US" altLang="zh-CN"/>
              <a:t>Company Logo</a:t>
            </a:r>
          </a:p>
        </p:txBody>
      </p:sp>
      <p:sp>
        <p:nvSpPr>
          <p:cNvPr id="21507" name="Rectangle 2"/>
          <p:cNvSpPr>
            <a:spLocks noGrp="1" noChangeArrowheads="1"/>
          </p:cNvSpPr>
          <p:nvPr>
            <p:ph type="title"/>
          </p:nvPr>
        </p:nvSpPr>
        <p:spPr/>
        <p:txBody>
          <a:bodyPr/>
          <a:lstStyle/>
          <a:p>
            <a:pPr eaLnBrk="1" hangingPunct="1"/>
            <a:r>
              <a:rPr lang="zh-CN" altLang="en-US">
                <a:solidFill>
                  <a:srgbClr val="000000"/>
                </a:solidFill>
                <a:ea typeface="宋体" panose="02010600030101010101" pitchFamily="2" charset="-122"/>
                <a:sym typeface="+mn-ea"/>
              </a:rPr>
              <a:t>未来规划</a:t>
            </a:r>
            <a:r>
              <a:rPr lang="en-US" altLang="zh-CN">
                <a:solidFill>
                  <a:srgbClr val="000000"/>
                </a:solidFill>
                <a:ea typeface="宋体" panose="02010600030101010101" pitchFamily="2" charset="-122"/>
                <a:sym typeface="+mn-ea"/>
              </a:rPr>
              <a:t>--</a:t>
            </a:r>
            <a:r>
              <a:rPr lang="zh-CN" altLang="en-US">
                <a:solidFill>
                  <a:srgbClr val="000000"/>
                </a:solidFill>
                <a:ea typeface="宋体" panose="02010600030101010101" pitchFamily="2" charset="-122"/>
                <a:sym typeface="+mn-ea"/>
              </a:rPr>
              <a:t>管理后端接入日志分析图</a:t>
            </a:r>
            <a:endParaRPr lang="zh-CN" altLang="en-US" smtClean="0">
              <a:solidFill>
                <a:srgbClr val="000000"/>
              </a:solidFill>
              <a:ea typeface="宋体" panose="02010600030101010101" pitchFamily="2" charset="-122"/>
              <a:sym typeface="+mn-ea"/>
            </a:endParaRPr>
          </a:p>
        </p:txBody>
      </p:sp>
      <p:pic>
        <p:nvPicPr>
          <p:cNvPr id="4" name="图片 3" descr="U{Q_4][EMCS7D8R}[@V53YV"/>
          <p:cNvPicPr>
            <a:picLocks noChangeAspect="1"/>
          </p:cNvPicPr>
          <p:nvPr/>
        </p:nvPicPr>
        <p:blipFill>
          <a:blip r:embed="rId2" cstate="print"/>
          <a:stretch>
            <a:fillRect/>
          </a:stretch>
        </p:blipFill>
        <p:spPr>
          <a:xfrm>
            <a:off x="810895" y="1385570"/>
            <a:ext cx="7152005" cy="3903980"/>
          </a:xfrm>
          <a:prstGeom prst="rect">
            <a:avLst/>
          </a:prstGeom>
        </p:spPr>
      </p:pic>
      <p:sp>
        <p:nvSpPr>
          <p:cNvPr id="5" name="文本框 4"/>
          <p:cNvSpPr txBox="1"/>
          <p:nvPr/>
        </p:nvSpPr>
        <p:spPr>
          <a:xfrm>
            <a:off x="824865" y="5563870"/>
            <a:ext cx="6699885" cy="922020"/>
          </a:xfrm>
          <a:prstGeom prst="rect">
            <a:avLst/>
          </a:prstGeom>
          <a:noFill/>
        </p:spPr>
        <p:txBody>
          <a:bodyPr wrap="square" rtlCol="0">
            <a:spAutoFit/>
          </a:bodyPr>
          <a:lstStyle/>
          <a:p>
            <a:r>
              <a:rPr lang="zh-CN" altLang="en-US"/>
              <a:t>目前展示的为模拟数据，后台已提供日志查询接口，需要前端接入处理。前端发送请求到</a:t>
            </a:r>
            <a:r>
              <a:rPr lang="en-US" altLang="zh-CN"/>
              <a:t>ESAgentR</a:t>
            </a:r>
            <a:r>
              <a:rPr lang="zh-CN" altLang="en-US">
                <a:ea typeface="宋体" panose="02010600030101010101" pitchFamily="2" charset="-122"/>
              </a:rPr>
              <a:t>代理，由其检查用户权限，然后转发</a:t>
            </a:r>
            <a:r>
              <a:rPr lang="en-US" altLang="zh-CN">
                <a:ea typeface="宋体" panose="02010600030101010101" pitchFamily="2" charset="-122"/>
              </a:rPr>
              <a:t>ElasticSearch</a:t>
            </a:r>
            <a:r>
              <a:rPr lang="zh-CN" altLang="en-US">
                <a:ea typeface="宋体" panose="02010600030101010101" pitchFamily="2" charset="-122"/>
              </a:rPr>
              <a:t>集群。</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页脚占位符 3"/>
          <p:cNvSpPr>
            <a:spLocks noGrp="1"/>
          </p:cNvSpPr>
          <p:nvPr>
            <p:ph type="ftr" sz="quarter" idx="11"/>
          </p:nvPr>
        </p:nvSpPr>
        <p:spPr/>
        <p:txBody>
          <a:bodyPr/>
          <a:lstStyle/>
          <a:p>
            <a:pPr>
              <a:defRPr/>
            </a:pPr>
            <a:r>
              <a:rPr lang="en-US" altLang="zh-CN"/>
              <a:t>Company Logo</a:t>
            </a:r>
          </a:p>
        </p:txBody>
      </p:sp>
      <p:sp>
        <p:nvSpPr>
          <p:cNvPr id="21507" name="Rectangle 2"/>
          <p:cNvSpPr>
            <a:spLocks noGrp="1" noChangeArrowheads="1"/>
          </p:cNvSpPr>
          <p:nvPr>
            <p:ph type="title"/>
          </p:nvPr>
        </p:nvSpPr>
        <p:spPr/>
        <p:txBody>
          <a:bodyPr/>
          <a:lstStyle/>
          <a:p>
            <a:pPr eaLnBrk="1" hangingPunct="1"/>
            <a:r>
              <a:rPr lang="zh-CN" altLang="en-US">
                <a:solidFill>
                  <a:srgbClr val="000000"/>
                </a:solidFill>
                <a:ea typeface="宋体" panose="02010600030101010101" pitchFamily="2" charset="-122"/>
                <a:sym typeface="+mn-ea"/>
              </a:rPr>
              <a:t>未来规划</a:t>
            </a:r>
            <a:r>
              <a:rPr lang="en-US" altLang="zh-CN">
                <a:solidFill>
                  <a:srgbClr val="000000"/>
                </a:solidFill>
                <a:ea typeface="宋体" panose="02010600030101010101" pitchFamily="2" charset="-122"/>
                <a:sym typeface="+mn-ea"/>
              </a:rPr>
              <a:t>--h5</a:t>
            </a:r>
            <a:r>
              <a:rPr lang="zh-CN" altLang="en-US">
                <a:solidFill>
                  <a:srgbClr val="000000"/>
                </a:solidFill>
                <a:ea typeface="宋体" panose="02010600030101010101" pitchFamily="2" charset="-122"/>
                <a:sym typeface="+mn-ea"/>
              </a:rPr>
              <a:t>端开发与优化</a:t>
            </a:r>
            <a:endParaRPr lang="zh-CN" altLang="en-US" smtClean="0">
              <a:solidFill>
                <a:srgbClr val="000000"/>
              </a:solidFill>
              <a:ea typeface="宋体" panose="02010600030101010101" pitchFamily="2" charset="-122"/>
              <a:sym typeface="+mn-ea"/>
            </a:endParaRPr>
          </a:p>
        </p:txBody>
      </p:sp>
      <p:sp>
        <p:nvSpPr>
          <p:cNvPr id="5" name="文本框 4"/>
          <p:cNvSpPr txBox="1"/>
          <p:nvPr/>
        </p:nvSpPr>
        <p:spPr>
          <a:xfrm>
            <a:off x="824865" y="5635625"/>
            <a:ext cx="6699885" cy="645160"/>
          </a:xfrm>
          <a:prstGeom prst="rect">
            <a:avLst/>
          </a:prstGeom>
          <a:noFill/>
        </p:spPr>
        <p:txBody>
          <a:bodyPr wrap="square" rtlCol="0">
            <a:spAutoFit/>
          </a:bodyPr>
          <a:lstStyle/>
          <a:p>
            <a:r>
              <a:rPr lang="zh-CN" altLang="en-US"/>
              <a:t>目前提供展示版的</a:t>
            </a:r>
            <a:r>
              <a:rPr lang="en-US" altLang="zh-CN"/>
              <a:t>h5</a:t>
            </a:r>
            <a:r>
              <a:rPr lang="zh-CN" altLang="en-US">
                <a:ea typeface="宋体" panose="02010600030101010101" pitchFamily="2" charset="-122"/>
              </a:rPr>
              <a:t>端，之后可增加其他访客端协议，优化相关界面功能。</a:t>
            </a:r>
          </a:p>
        </p:txBody>
      </p:sp>
      <p:pic>
        <p:nvPicPr>
          <p:cNvPr id="2" name="图片 1" descr="8BYHI_HRL`}{`2M96GX~7AH"/>
          <p:cNvPicPr>
            <a:picLocks noChangeAspect="1"/>
          </p:cNvPicPr>
          <p:nvPr/>
        </p:nvPicPr>
        <p:blipFill>
          <a:blip r:embed="rId2" cstate="print"/>
          <a:stretch>
            <a:fillRect/>
          </a:stretch>
        </p:blipFill>
        <p:spPr>
          <a:xfrm>
            <a:off x="975360" y="1523365"/>
            <a:ext cx="7178040" cy="391795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1" name="WordArt 5"/>
          <p:cNvSpPr>
            <a:spLocks noChangeArrowheads="1" noChangeShapeType="1" noTextEdit="1"/>
          </p:cNvSpPr>
          <p:nvPr/>
        </p:nvSpPr>
        <p:spPr bwMode="invGray">
          <a:xfrm>
            <a:off x="2895600" y="3505200"/>
            <a:ext cx="4343400" cy="533400"/>
          </a:xfrm>
          <a:prstGeom prst="rect">
            <a:avLst/>
          </a:prstGeom>
        </p:spPr>
        <p:txBody>
          <a:bodyPr wrap="none" fromWordArt="1">
            <a:prstTxWarp prst="textDeflate">
              <a:avLst>
                <a:gd name="adj" fmla="val 0"/>
              </a:avLst>
            </a:prstTxWarp>
          </a:bodyPr>
          <a:lstStyle/>
          <a:p>
            <a:pPr algn="ctr"/>
            <a:r>
              <a:rPr lang="en-US" altLang="zh-CN" sz="3600" b="1" kern="10">
                <a:ln w="19050">
                  <a:solidFill>
                    <a:srgbClr val="FFFFFF"/>
                  </a:solidFill>
                  <a:round/>
                </a:ln>
                <a:gradFill rotWithShape="1">
                  <a:gsLst>
                    <a:gs pos="0">
                      <a:schemeClr val="tx2"/>
                    </a:gs>
                    <a:gs pos="100000">
                      <a:schemeClr val="accent1"/>
                    </a:gs>
                  </a:gsLst>
                  <a:lin ang="0" scaled="1"/>
                </a:gradFill>
                <a:effectLst>
                  <a:outerShdw dist="53882" dir="2700000" algn="ctr" rotWithShape="0">
                    <a:schemeClr val="tx1">
                      <a:alpha val="50000"/>
                    </a:schemeClr>
                  </a:outerShdw>
                </a:effectLst>
                <a:latin typeface="Arial" panose="020B0604020202020204"/>
                <a:cs typeface="Arial" panose="020B0604020202020204"/>
              </a:rPr>
              <a:t>Thank You !</a:t>
            </a:r>
            <a:endParaRPr lang="zh-CN" altLang="en-US" sz="3600" b="1" kern="10">
              <a:ln w="19050">
                <a:solidFill>
                  <a:srgbClr val="FFFFFF"/>
                </a:solidFill>
                <a:round/>
              </a:ln>
              <a:gradFill rotWithShape="1">
                <a:gsLst>
                  <a:gs pos="0">
                    <a:schemeClr val="tx2"/>
                  </a:gs>
                  <a:gs pos="100000">
                    <a:schemeClr val="accent1"/>
                  </a:gs>
                </a:gsLst>
                <a:lin ang="0" scaled="1"/>
              </a:gradFill>
              <a:effectLst>
                <a:outerShdw dist="53882" dir="2700000" algn="ctr" rotWithShape="0">
                  <a:schemeClr val="tx1">
                    <a:alpha val="50000"/>
                  </a:schemeClr>
                </a:outerShdw>
              </a:effectLst>
              <a:latin typeface="Arial" panose="020B0604020202020204"/>
              <a:cs typeface="Arial" panose="020B0604020202020204"/>
            </a:endParaRPr>
          </a:p>
        </p:txBody>
      </p:sp>
      <p:sp>
        <p:nvSpPr>
          <p:cNvPr id="3076" name="Text Box 5"/>
          <p:cNvSpPr txBox="1">
            <a:spLocks noChangeArrowheads="1"/>
          </p:cNvSpPr>
          <p:nvPr/>
        </p:nvSpPr>
        <p:spPr bwMode="gray">
          <a:xfrm>
            <a:off x="3159125" y="4194810"/>
            <a:ext cx="3276600" cy="5835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sz="1600" b="1">
                <a:solidFill>
                  <a:srgbClr val="000000"/>
                </a:solidFill>
                <a:ea typeface="宋体" panose="02010600030101010101" pitchFamily="2" charset="-122"/>
              </a:rPr>
              <a:t>你我金融            </a:t>
            </a:r>
            <a:r>
              <a:rPr lang="en-US" altLang="zh-CN" sz="1600" b="1">
                <a:solidFill>
                  <a:srgbClr val="000000"/>
                </a:solidFill>
                <a:ea typeface="宋体" panose="02010600030101010101" pitchFamily="2" charset="-122"/>
              </a:rPr>
              <a:t>	</a:t>
            </a:r>
          </a:p>
          <a:p>
            <a:pPr eaLnBrk="1" hangingPunct="1"/>
            <a:r>
              <a:rPr lang="en-US" altLang="zh-CN" sz="1600" b="1">
                <a:solidFill>
                  <a:srgbClr val="000000"/>
                </a:solidFill>
                <a:ea typeface="宋体" panose="02010600030101010101" pitchFamily="2" charset="-122"/>
              </a:rPr>
              <a:t>	             </a:t>
            </a:r>
            <a:r>
              <a:rPr lang="zh-CN" altLang="en-US" sz="1600" b="1">
                <a:solidFill>
                  <a:srgbClr val="000000"/>
                </a:solidFill>
                <a:ea typeface="宋体" panose="02010600030101010101" pitchFamily="2" charset="-122"/>
              </a:rPr>
              <a:t>编写人：陈嘉怡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6021"/>
                                        </p:tgtEl>
                                        <p:attrNameLst>
                                          <p:attrName>style.visibility</p:attrName>
                                        </p:attrNameLst>
                                      </p:cBhvr>
                                      <p:to>
                                        <p:strVal val="visible"/>
                                      </p:to>
                                    </p:set>
                                    <p:anim calcmode="lin" valueType="num">
                                      <p:cBhvr>
                                        <p:cTn id="7" dur="500" fill="hold"/>
                                        <p:tgtEl>
                                          <p:spTgt spid="86021"/>
                                        </p:tgtEl>
                                        <p:attrNameLst>
                                          <p:attrName>ppt_w</p:attrName>
                                        </p:attrNameLst>
                                      </p:cBhvr>
                                      <p:tavLst>
                                        <p:tav tm="0">
                                          <p:val>
                                            <p:fltVal val="0"/>
                                          </p:val>
                                        </p:tav>
                                        <p:tav tm="100000">
                                          <p:val>
                                            <p:strVal val="#ppt_w"/>
                                          </p:val>
                                        </p:tav>
                                      </p:tavLst>
                                    </p:anim>
                                    <p:anim calcmode="lin" valueType="num">
                                      <p:cBhvr>
                                        <p:cTn id="8" dur="500" fill="hold"/>
                                        <p:tgtEl>
                                          <p:spTgt spid="86021"/>
                                        </p:tgtEl>
                                        <p:attrNameLst>
                                          <p:attrName>ppt_h</p:attrName>
                                        </p:attrNameLst>
                                      </p:cBhvr>
                                      <p:tavLst>
                                        <p:tav tm="0">
                                          <p:val>
                                            <p:fltVal val="0"/>
                                          </p:val>
                                        </p:tav>
                                        <p:tav tm="100000">
                                          <p:val>
                                            <p:strVal val="#ppt_h"/>
                                          </p:val>
                                        </p:tav>
                                      </p:tavLst>
                                    </p:anim>
                                    <p:animEffect transition="in" filter="fade">
                                      <p:cBhvr>
                                        <p:cTn id="9" dur="500"/>
                                        <p:tgtEl>
                                          <p:spTgt spid="860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1" grpId="0" animBg="1"/>
    </p:bldLst>
  </p:timing>
</p:sld>
</file>

<file path=ppt/theme/theme1.xml><?xml version="1.0" encoding="utf-8"?>
<a:theme xmlns:a="http://schemas.openxmlformats.org/drawingml/2006/main" name="24美金的ppt模板">
  <a:themeElements>
    <a:clrScheme name="01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01">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01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01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01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01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themeOverride>
</file>

<file path=docProps/app.xml><?xml version="1.0" encoding="utf-8"?>
<Properties xmlns="http://schemas.openxmlformats.org/officeDocument/2006/extended-properties" xmlns:vt="http://schemas.openxmlformats.org/officeDocument/2006/docPropsVTypes">
  <Template>24美金的ppt模板</Template>
  <TotalTime>61</TotalTime>
  <Words>4255</Words>
  <Application>Microsoft Office PowerPoint</Application>
  <PresentationFormat>全屏显示(4:3)</PresentationFormat>
  <Paragraphs>442</Paragraphs>
  <Slides>53</Slides>
  <Notes>0</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53</vt:i4>
      </vt:variant>
    </vt:vector>
  </HeadingPairs>
  <TitlesOfParts>
    <vt:vector size="55" baseType="lpstr">
      <vt:lpstr>24美金的ppt模板</vt:lpstr>
      <vt:lpstr>Visio</vt:lpstr>
      <vt:lpstr>智能客服</vt:lpstr>
      <vt:lpstr>目录</vt:lpstr>
      <vt:lpstr>智能客服需求</vt:lpstr>
      <vt:lpstr>智能客服系统分析</vt:lpstr>
      <vt:lpstr> 智能机器人--机器人单聊</vt:lpstr>
      <vt:lpstr>人工客服--人工单聊发送文字</vt:lpstr>
      <vt:lpstr>人工客服--人工单聊发送图片</vt:lpstr>
      <vt:lpstr>人工客服--用户设置</vt:lpstr>
      <vt:lpstr>人工客服--用户设置</vt:lpstr>
      <vt:lpstr>人工客服--客服转接</vt:lpstr>
      <vt:lpstr>人工客服--客服组转接</vt:lpstr>
      <vt:lpstr>客服管理--客服组成员管理</vt:lpstr>
      <vt:lpstr>客服管理--客服编辑</vt:lpstr>
      <vt:lpstr>访客用户信息和企业用户CRM信息</vt:lpstr>
      <vt:lpstr>历史会话</vt:lpstr>
      <vt:lpstr>机器人知识库和热门问题 </vt:lpstr>
      <vt:lpstr>会话质量管理--会话质检筛选</vt:lpstr>
      <vt:lpstr>会话质量管理--质检结果筛选</vt:lpstr>
      <vt:lpstr>会话质量管理--质检评分和禁忌项设置</vt:lpstr>
      <vt:lpstr>系统运维管理--服务器监控</vt:lpstr>
      <vt:lpstr>系统运维管理--服务器配置管理</vt:lpstr>
      <vt:lpstr>系统运维管理--服务器配置修改日志</vt:lpstr>
      <vt:lpstr>后台框架设计--框架总体设计图</vt:lpstr>
      <vt:lpstr>后台框架设计--节点类型说明</vt:lpstr>
      <vt:lpstr>后台框架设计--网络框架</vt:lpstr>
      <vt:lpstr>后台框架设计--事件驱动模型</vt:lpstr>
      <vt:lpstr>后台框架设计--握手协议</vt:lpstr>
      <vt:lpstr>后台框架设计—中心控制服务</vt:lpstr>
      <vt:lpstr>后台框架设计--解码器</vt:lpstr>
      <vt:lpstr>后台框架设计--框架性能</vt:lpstr>
      <vt:lpstr>后台框架设计—第三方服务性能</vt:lpstr>
      <vt:lpstr>后台框架设计--节点资源占用</vt:lpstr>
      <vt:lpstr>后台框架设计--第三方节点资源占用</vt:lpstr>
      <vt:lpstr>后台框架设计--开发代码量</vt:lpstr>
      <vt:lpstr>后台框架设计--登录流程</vt:lpstr>
      <vt:lpstr>后台框架设计--网关防外挂</vt:lpstr>
      <vt:lpstr>技术关键点--中文搜索</vt:lpstr>
      <vt:lpstr>技术关键点--中文搜索</vt:lpstr>
      <vt:lpstr>技术关键点--中文搜索</vt:lpstr>
      <vt:lpstr>技术关键点--Elasticsearch日志</vt:lpstr>
      <vt:lpstr>技术关键点--Elasticsearch日志</vt:lpstr>
      <vt:lpstr>技术关键点--文件服务</vt:lpstr>
      <vt:lpstr>技术关键点--文件服务</vt:lpstr>
      <vt:lpstr>技术关键点--推荐机器人问题</vt:lpstr>
      <vt:lpstr>技术关键点--推荐机器人问题</vt:lpstr>
      <vt:lpstr>技术关键点--功能测试工具</vt:lpstr>
      <vt:lpstr>未来规划--文件服务器分布式部署和代理处理</vt:lpstr>
      <vt:lpstr>未来规划--ES分布式分片部署和代理处理</vt:lpstr>
      <vt:lpstr>未来规划--中文搜索引擎优化</vt:lpstr>
      <vt:lpstr>未来规划--智能问题推荐引擎准确率优化</vt:lpstr>
      <vt:lpstr>未来规划--管理后端接入日志分析图</vt:lpstr>
      <vt:lpstr>未来规划--h5端开发与优化</vt:lpstr>
      <vt:lpstr>幻灯片 53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jccook</dc:creator>
  <cp:lastModifiedBy>xbany</cp:lastModifiedBy>
  <cp:revision>676</cp:revision>
  <dcterms:created xsi:type="dcterms:W3CDTF">2013-02-03T05:36:00Z</dcterms:created>
  <dcterms:modified xsi:type="dcterms:W3CDTF">2019-05-14T14:58:00Z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2052-11.1.0.8597</vt:lpwstr>
  </property>
</Properties>
</file>